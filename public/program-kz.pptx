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handoutMasterIdLst>
    <p:handoutMasterId r:id="rId8"/>
  </p:handoutMasterIdLst>
  <p:sldIdLst>
    <p:sldId id="261" r:id="rId5"/>
    <p:sldId id="263" r:id="rId6"/>
    <p:sldId id="264" r:id="rId7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868"/>
    <a:srgbClr val="587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77FC7-D685-9149-16DA-623F433466C3}" v="13" dt="2026-03-31T09:04:47.88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597" y="58"/>
      </p:cViewPr>
      <p:guideLst>
        <p:guide orient="horz" pos="2880"/>
        <p:guide pos="2160"/>
      </p:guideLst>
    </p:cSldViewPr>
  </p:slid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3087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D668943-4721-E03A-B651-2E7DD0966F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6317B1A-D43F-1984-BDBF-5385F5A45B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7838" y="0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91B6F-BBFA-438A-9286-1FC62C3499A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908F3B-113D-5130-7B64-3F90E07864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1932-5B8F-ADF6-5779-F6A7C5051C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7838" y="10163175"/>
            <a:ext cx="3279775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FE5BE-F78D-49D0-8BEC-05E37B800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371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125" y="9429673"/>
            <a:ext cx="1090929" cy="24695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2350" y="9413798"/>
            <a:ext cx="570229" cy="28511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5900" y="9434753"/>
            <a:ext cx="1082522" cy="23749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0810" y="9430943"/>
            <a:ext cx="922286" cy="2286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66425" y="9366226"/>
            <a:ext cx="1073606" cy="34543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5739256"/>
            <a:ext cx="7564120" cy="111125"/>
          </a:xfrm>
          <a:custGeom>
            <a:avLst/>
            <a:gdLst/>
            <a:ahLst/>
            <a:cxnLst/>
            <a:rect l="l" t="t" r="r" b="b"/>
            <a:pathLst>
              <a:path w="7564120" h="111125">
                <a:moveTo>
                  <a:pt x="0" y="110744"/>
                </a:moveTo>
                <a:lnTo>
                  <a:pt x="7563611" y="110744"/>
                </a:lnTo>
                <a:lnTo>
                  <a:pt x="7563611" y="0"/>
                </a:lnTo>
                <a:lnTo>
                  <a:pt x="0" y="0"/>
                </a:lnTo>
                <a:lnTo>
                  <a:pt x="0" y="110744"/>
                </a:lnTo>
                <a:close/>
              </a:path>
            </a:pathLst>
          </a:custGeom>
          <a:solidFill>
            <a:srgbClr val="DBDF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5850000"/>
            <a:ext cx="7564120" cy="3043555"/>
          </a:xfrm>
          <a:custGeom>
            <a:avLst/>
            <a:gdLst/>
            <a:ahLst/>
            <a:cxnLst/>
            <a:rect l="l" t="t" r="r" b="b"/>
            <a:pathLst>
              <a:path w="7564120" h="3043554">
                <a:moveTo>
                  <a:pt x="7563611" y="0"/>
                </a:moveTo>
                <a:lnTo>
                  <a:pt x="0" y="0"/>
                </a:lnTo>
                <a:lnTo>
                  <a:pt x="0" y="3043554"/>
                </a:lnTo>
                <a:lnTo>
                  <a:pt x="7563611" y="3043554"/>
                </a:lnTo>
                <a:lnTo>
                  <a:pt x="7563611" y="0"/>
                </a:lnTo>
                <a:close/>
              </a:path>
            </a:pathLst>
          </a:custGeom>
          <a:solidFill>
            <a:srgbClr val="39A0D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g object 23"/>
          <p:cNvSpPr/>
          <p:nvPr/>
        </p:nvSpPr>
        <p:spPr>
          <a:xfrm>
            <a:off x="0" y="8892158"/>
            <a:ext cx="7564120" cy="114935"/>
          </a:xfrm>
          <a:custGeom>
            <a:avLst/>
            <a:gdLst/>
            <a:ahLst/>
            <a:cxnLst/>
            <a:rect l="l" t="t" r="r" b="b"/>
            <a:pathLst>
              <a:path w="7564120" h="114934">
                <a:moveTo>
                  <a:pt x="7563611" y="0"/>
                </a:moveTo>
                <a:lnTo>
                  <a:pt x="0" y="0"/>
                </a:lnTo>
                <a:lnTo>
                  <a:pt x="0" y="114935"/>
                </a:lnTo>
                <a:lnTo>
                  <a:pt x="7563611" y="114935"/>
                </a:lnTo>
                <a:lnTo>
                  <a:pt x="7563611" y="0"/>
                </a:lnTo>
                <a:close/>
              </a:path>
            </a:pathLst>
          </a:custGeom>
          <a:solidFill>
            <a:srgbClr val="DB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4120" cy="136525"/>
          </a:xfrm>
          <a:custGeom>
            <a:avLst/>
            <a:gdLst/>
            <a:ahLst/>
            <a:cxnLst/>
            <a:rect l="l" t="t" r="r" b="b"/>
            <a:pathLst>
              <a:path w="7564120" h="136525">
                <a:moveTo>
                  <a:pt x="0" y="136525"/>
                </a:moveTo>
                <a:lnTo>
                  <a:pt x="7563611" y="136525"/>
                </a:lnTo>
                <a:lnTo>
                  <a:pt x="7563611" y="0"/>
                </a:lnTo>
                <a:lnTo>
                  <a:pt x="0" y="0"/>
                </a:lnTo>
                <a:lnTo>
                  <a:pt x="0" y="136525"/>
                </a:lnTo>
                <a:close/>
              </a:path>
            </a:pathLst>
          </a:custGeom>
          <a:solidFill>
            <a:srgbClr val="39A0D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8244" y="340600"/>
            <a:ext cx="3041904" cy="4570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6220" y="1177797"/>
            <a:ext cx="545274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682628"/>
            <a:ext cx="6584315" cy="320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mailto:s.bolatkyzy@satbayev.university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hyperlink" Target="mailto:z.tymbayeva@satbayev.university" TargetMode="External"/><Relationship Id="rId9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.bolatkyzy@satbayev.university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4024B51-8402-6004-5576-138B095F0DD3}"/>
              </a:ext>
            </a:extLst>
          </p:cNvPr>
          <p:cNvSpPr/>
          <p:nvPr/>
        </p:nvSpPr>
        <p:spPr>
          <a:xfrm>
            <a:off x="0" y="7442200"/>
            <a:ext cx="7569200" cy="3054350"/>
          </a:xfrm>
          <a:prstGeom prst="rect">
            <a:avLst/>
          </a:prstGeom>
          <a:solidFill>
            <a:srgbClr val="0228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pic>
        <p:nvPicPr>
          <p:cNvPr id="4" name="Picture 4" descr="Satbayev University">
            <a:extLst>
              <a:ext uri="{FF2B5EF4-FFF2-40B4-BE49-F238E27FC236}">
                <a16:creationId xmlns:a16="http://schemas.microsoft.com/office/drawing/2014/main" id="{4F8CC585-69D3-7F01-D1B1-DD078B7CE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414" y="115799"/>
            <a:ext cx="1570034" cy="85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32B8C001-D791-6783-EEA3-262B1420D6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23498" y="1293243"/>
            <a:ext cx="50532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rtl="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Ресми</a:t>
            </a:r>
            <a:r>
              <a:rPr sz="2400" b="1" spc="-114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шақыру</a:t>
            </a: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C3DDA2D5-5AC6-5A7F-E75E-E4CD1F5B1C8E}"/>
              </a:ext>
            </a:extLst>
          </p:cNvPr>
          <p:cNvSpPr txBox="1"/>
          <p:nvPr/>
        </p:nvSpPr>
        <p:spPr>
          <a:xfrm>
            <a:off x="396240" y="1674249"/>
            <a:ext cx="6989994" cy="3729226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96215" algn="ctr" rtl="0">
              <a:lnSpc>
                <a:spcPct val="100000"/>
              </a:lnSpc>
            </a:pP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Алғашқы қазақ-неміс</a:t>
            </a:r>
          </a:p>
          <a:p>
            <a:pPr marL="196215" algn="ctr" rtl="0">
              <a:lnSpc>
                <a:spcPct val="100000"/>
              </a:lnSpc>
            </a:pP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көлік және логистика форумы</a:t>
            </a:r>
          </a:p>
          <a:p>
            <a:pPr marL="196215" algn="ctr" rtl="0">
              <a:lnSpc>
                <a:spcPct val="100000"/>
              </a:lnSpc>
            </a:pPr>
            <a:endParaRPr lang="ru-RU" sz="2000" b="1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196215" algn="ctr" rtl="0">
              <a:lnSpc>
                <a:spcPct val="100000"/>
              </a:lnSpc>
            </a:pP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«Цифрландыру, </a:t>
            </a:r>
            <a:r>
              <a:rPr lang="ru-RU" sz="2000" b="1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адами</a:t>
            </a: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kk-KZ" sz="2000" b="1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капитад</a:t>
            </a:r>
            <a:r>
              <a:rPr lang="ru-RU" sz="2000" b="1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, транзиттік мүмкіндіктер»</a:t>
            </a:r>
            <a:endParaRPr sz="2000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193675" algn="ctr" rtl="0">
              <a:lnSpc>
                <a:spcPct val="100000"/>
              </a:lnSpc>
              <a:spcBef>
                <a:spcPts val="900"/>
              </a:spcBef>
            </a:pPr>
            <a:r>
              <a:rPr lang="ru-RU"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Бейсенбі</a:t>
            </a:r>
            <a:r>
              <a:rPr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,</a:t>
            </a:r>
            <a:r>
              <a:rPr sz="1400" spc="-35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1</a:t>
            </a:r>
            <a:r>
              <a:rPr lang="ru-RU"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2026 жылғы 4 мамыр</a:t>
            </a:r>
            <a:r>
              <a:rPr sz="1400" spc="-4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sz="1400" spc="-2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жылдар</a:t>
            </a:r>
            <a:endParaRPr sz="1400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193675" algn="ctr" rtl="0">
              <a:lnSpc>
                <a:spcPct val="100000"/>
              </a:lnSpc>
              <a:spcBef>
                <a:spcPts val="875"/>
              </a:spcBef>
            </a:pPr>
            <a:r>
              <a:rPr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1</a:t>
            </a:r>
            <a:r>
              <a:rPr lang="ru-RU"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1:00</a:t>
            </a:r>
            <a:r>
              <a:rPr sz="1400" spc="-4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-</a:t>
            </a:r>
            <a:r>
              <a:rPr sz="1400" spc="-3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1</a:t>
            </a:r>
            <a:r>
              <a:rPr lang="ru-RU"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7</a:t>
            </a:r>
            <a:r>
              <a:rPr sz="14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:00</a:t>
            </a:r>
            <a:r>
              <a:rPr sz="1400" spc="-35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endParaRPr lang="ru-RU" sz="1400" spc="-35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ctr" rtl="0">
              <a:lnSpc>
                <a:spcPct val="100000"/>
              </a:lnSpc>
            </a:pPr>
            <a:endParaRPr lang="ru-RU" sz="1200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ctr" rtl="0">
              <a:lnSpc>
                <a:spcPct val="100000"/>
              </a:lnSpc>
            </a:pPr>
            <a:r>
              <a:rPr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</a:t>
            </a:r>
            <a:r>
              <a:rPr lang="kk-KZ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</a:t>
            </a:r>
            <a:r>
              <a:rPr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еміс</a:t>
            </a:r>
            <a:r>
              <a:rPr lang="kk-KZ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de-DE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↔</a:t>
            </a:r>
            <a:r>
              <a:rPr sz="1200" spc="-5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Қазақша</a:t>
            </a:r>
            <a:r>
              <a:rPr lang="ru-RU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/</a:t>
            </a:r>
            <a:r>
              <a:rPr sz="12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орыс</a:t>
            </a:r>
            <a:r>
              <a:rPr lang="kk-KZ" sz="12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тілдеріне синхронды аудару</a:t>
            </a:r>
            <a:r>
              <a:rPr sz="1200" spc="-1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  <a:endParaRPr sz="1200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50"/>
              </a:spcBef>
            </a:pPr>
            <a:endParaRPr sz="1200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80645" algn="ctr" rtl="0">
              <a:lnSpc>
                <a:spcPct val="100000"/>
              </a:lnSpc>
            </a:pPr>
            <a:r>
              <a:rPr lang="kk-KZ" sz="1600" u="sng" spc="-1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Кешкі</a:t>
            </a:r>
            <a:r>
              <a:rPr sz="1600" u="sng" spc="-25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sz="1600" u="sng" spc="-1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қабылдау</a:t>
            </a:r>
            <a:endParaRPr sz="1600" u="sng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380"/>
              </a:spcBef>
            </a:pPr>
            <a:endParaRPr sz="1600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12700" algn="l" rtl="0">
              <a:lnSpc>
                <a:spcPct val="100000"/>
              </a:lnSpc>
            </a:pPr>
            <a:r>
              <a:rPr sz="1600" dirty="0" err="1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Форум</a:t>
            </a:r>
            <a:r>
              <a:rPr sz="1600" spc="-1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kk-KZ" sz="1600" spc="-1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қоса </a:t>
            </a:r>
            <a:r>
              <a:rPr lang="kk-KZ" sz="160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ұйымдастырылған</a:t>
            </a:r>
            <a:r>
              <a:rPr sz="1600" spc="-20" dirty="0">
                <a:solidFill>
                  <a:srgbClr val="00206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endParaRPr sz="1600" dirty="0">
              <a:solidFill>
                <a:srgbClr val="00206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C344BBE-2F68-19AA-01B2-777B70519181}"/>
              </a:ext>
            </a:extLst>
          </p:cNvPr>
          <p:cNvSpPr txBox="1"/>
          <p:nvPr/>
        </p:nvSpPr>
        <p:spPr>
          <a:xfrm>
            <a:off x="701979" y="9026680"/>
            <a:ext cx="1298271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lnSpc>
                <a:spcPct val="100000"/>
              </a:lnSpc>
              <a:spcBef>
                <a:spcPts val="105"/>
              </a:spcBef>
            </a:pPr>
            <a:r>
              <a:rPr sz="1200" b="1" spc="50" dirty="0">
                <a:solidFill>
                  <a:srgbClr val="FFFFFF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Байланыстар:</a:t>
            </a:r>
            <a:endParaRPr sz="1200" dirty="0"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EE2E2F0-CF6B-1035-336A-9D9B699D7578}"/>
              </a:ext>
            </a:extLst>
          </p:cNvPr>
          <p:cNvSpPr txBox="1"/>
          <p:nvPr/>
        </p:nvSpPr>
        <p:spPr>
          <a:xfrm>
            <a:off x="2385695" y="8988579"/>
            <a:ext cx="5067935" cy="226344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algn="l" rtl="0">
              <a:lnSpc>
                <a:spcPts val="1420"/>
              </a:lnSpc>
              <a:spcBef>
                <a:spcPts val="365"/>
              </a:spcBef>
            </a:pPr>
            <a:r>
              <a:rPr lang="de-DE" sz="1200" spc="-10" dirty="0" err="1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s.bolatkyzy</a:t>
            </a:r>
            <a:r>
              <a:rPr lang="de-DE" sz="1200" spc="-10" dirty="0" err="1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@satbayev.university</a:t>
            </a:r>
            <a:r>
              <a:rPr lang="en-US" sz="1200" spc="-10" dirty="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r>
              <a:rPr lang="ru-RU" sz="1200" b="0" i="0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+7-772-725-7718</a:t>
            </a:r>
            <a:endParaRPr sz="1200" dirty="0">
              <a:solidFill>
                <a:schemeClr val="bg1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194EBCC0-0A1A-4134-C703-BD858BD8B92A}"/>
              </a:ext>
            </a:extLst>
          </p:cNvPr>
          <p:cNvSpPr txBox="1"/>
          <p:nvPr/>
        </p:nvSpPr>
        <p:spPr>
          <a:xfrm>
            <a:off x="4089653" y="7565290"/>
            <a:ext cx="3108071" cy="11234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lnSpc>
                <a:spcPct val="100000"/>
              </a:lnSpc>
              <a:spcBef>
                <a:spcPts val="105"/>
              </a:spcBef>
            </a:pPr>
            <a:r>
              <a:rPr lang="kk-KZ" sz="1200" b="1" spc="-1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Іс-шара мекенжайы:</a:t>
            </a:r>
            <a:endParaRPr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12700" marR="461009" algn="l" rtl="0">
              <a:lnSpc>
                <a:spcPct val="101400"/>
              </a:lnSpc>
              <a:spcBef>
                <a:spcPts val="10"/>
              </a:spcBef>
            </a:pP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Сәтбаев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Университет</a:t>
            </a:r>
          </a:p>
          <a:p>
            <a:pPr marL="12700" marR="461009" algn="l" rtl="0">
              <a:lnSpc>
                <a:spcPct val="101400"/>
              </a:lnSpc>
              <a:spcBef>
                <a:spcPts val="10"/>
              </a:spcBef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343-аудитория, Қ. </a:t>
            </a: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Тұрысов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атындағы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акт залы</a:t>
            </a:r>
          </a:p>
          <a:p>
            <a:pPr marL="12700" marR="461009" algn="l" rtl="0">
              <a:lnSpc>
                <a:spcPct val="101400"/>
              </a:lnSpc>
              <a:spcBef>
                <a:spcPts val="10"/>
              </a:spcBef>
            </a:pP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Сәтбаев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көшесі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, 22</a:t>
            </a:r>
          </a:p>
          <a:p>
            <a:pPr marL="12700" marR="461009" algn="l" rtl="0">
              <a:lnSpc>
                <a:spcPct val="101400"/>
              </a:lnSpc>
              <a:spcBef>
                <a:spcPts val="10"/>
              </a:spcBef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Алматы қ., </a:t>
            </a: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Қазақстан</a:t>
            </a:r>
            <a:endParaRPr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460C1B4A-591F-4943-549C-7FC876AF47C7}"/>
              </a:ext>
            </a:extLst>
          </p:cNvPr>
          <p:cNvSpPr txBox="1"/>
          <p:nvPr/>
        </p:nvSpPr>
        <p:spPr>
          <a:xfrm>
            <a:off x="701979" y="7565290"/>
            <a:ext cx="2926715" cy="11855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lang="ru-RU" sz="1200" spc="-1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Тіркелу</a:t>
            </a:r>
          </a:p>
          <a:p>
            <a:pPr marL="12700" algn="l" rtl="0">
              <a:spcBef>
                <a:spcPts val="105"/>
              </a:spcBef>
            </a:pP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Ресми</a:t>
            </a:r>
            <a:r>
              <a:rPr lang="ru-RU" sz="1200" spc="-1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ашылу</a:t>
            </a:r>
            <a:r>
              <a:rPr lang="ru-RU" sz="1200" spc="-1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сөзі</a:t>
            </a:r>
            <a:endParaRPr lang="ru-RU" sz="1200" spc="-1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12700" algn="l" rtl="0">
              <a:spcBef>
                <a:spcPts val="105"/>
              </a:spcBef>
            </a:pP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Пленарлық</a:t>
            </a:r>
            <a:r>
              <a:rPr lang="ru-RU" sz="1200" spc="-1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отырыс</a:t>
            </a:r>
            <a:endParaRPr lang="ru-RU" sz="1200" spc="-1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12700" algn="l" rtl="0">
              <a:spcBef>
                <a:spcPts val="105"/>
              </a:spcBef>
            </a:pP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Ашық</a:t>
            </a:r>
            <a:r>
              <a:rPr lang="ru-RU" sz="1200" spc="-1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пікірталас</a:t>
            </a:r>
            <a:endParaRPr lang="ru-RU" sz="1200" spc="-1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12700" algn="l" rtl="0">
              <a:spcBef>
                <a:spcPts val="105"/>
              </a:spcBef>
            </a:pPr>
            <a:r>
              <a:rPr lang="de-DE" sz="1200" spc="-1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B2B </a:t>
            </a: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кездесулер</a:t>
            </a:r>
            <a:endParaRPr lang="ru-RU" sz="1200" spc="-1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12700" algn="l" rtl="0">
              <a:spcBef>
                <a:spcPts val="105"/>
              </a:spcBef>
            </a:pP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Кешкі</a:t>
            </a:r>
            <a:r>
              <a:rPr lang="ru-RU" sz="1200" spc="-1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ru-RU" sz="1200" spc="-10" dirty="0" err="1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қабылдау</a:t>
            </a:r>
            <a:endParaRPr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F6684F4E-8A99-DAD1-179C-666985A3C6B4}"/>
              </a:ext>
            </a:extLst>
          </p:cNvPr>
          <p:cNvSpPr txBox="1"/>
          <p:nvPr/>
        </p:nvSpPr>
        <p:spPr>
          <a:xfrm>
            <a:off x="701979" y="9554526"/>
            <a:ext cx="3198509" cy="5615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l" rtl="0">
              <a:lnSpc>
                <a:spcPct val="102099"/>
              </a:lnSpc>
              <a:spcBef>
                <a:spcPts val="65"/>
              </a:spcBef>
            </a:pPr>
            <a:r>
              <a:rPr lang="kk-KZ" sz="1200" b="1" i="1" spc="7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Форумға және </a:t>
            </a:r>
            <a:r>
              <a:rPr lang="de-DE" sz="1200" b="1" i="1" spc="7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B2B </a:t>
            </a:r>
            <a:r>
              <a:rPr lang="kk-KZ" sz="1200" b="1" i="1" spc="7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кездесулеріне қатысуға өтінімдер келесі </a:t>
            </a:r>
            <a:r>
              <a:rPr lang="de-DE" sz="1200" b="1" i="1" spc="7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email </a:t>
            </a:r>
            <a:r>
              <a:rPr lang="kk-KZ" sz="1200" b="1" i="1" spc="7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арқылы қабылданады:</a:t>
            </a:r>
            <a:endParaRPr sz="1200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E46722-83BE-E5A0-9726-AC4013CE4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424" y="5804689"/>
            <a:ext cx="2179213" cy="871685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A2AC19F2-BECF-9274-3908-E3669F00D9A4}"/>
              </a:ext>
            </a:extLst>
          </p:cNvPr>
          <p:cNvSpPr txBox="1"/>
          <p:nvPr/>
        </p:nvSpPr>
        <p:spPr>
          <a:xfrm>
            <a:off x="3941446" y="9687079"/>
            <a:ext cx="3294380" cy="226344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algn="l" rtl="0">
              <a:lnSpc>
                <a:spcPts val="1420"/>
              </a:lnSpc>
              <a:spcBef>
                <a:spcPts val="365"/>
              </a:spcBef>
            </a:pPr>
            <a:r>
              <a:rPr lang="de-DE" sz="1200" spc="-10" dirty="0" err="1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s.bolatkyzy</a:t>
            </a:r>
            <a:r>
              <a:rPr lang="de-DE" sz="1200" spc="-10" dirty="0" err="1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@satbayev.university</a:t>
            </a:r>
            <a:endParaRPr sz="1200" dirty="0">
              <a:solidFill>
                <a:schemeClr val="bg1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28" name="Picture 4" descr="Фотосурет сипаттамасы жоқ.">
            <a:extLst>
              <a:ext uri="{FF2B5EF4-FFF2-40B4-BE49-F238E27FC236}">
                <a16:creationId xmlns:a16="http://schemas.microsoft.com/office/drawing/2014/main" id="{C16B9B65-7ADD-D9AD-BA6D-2DA381DA3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764" y="5849199"/>
            <a:ext cx="866955" cy="77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4">
            <a:extLst>
              <a:ext uri="{FF2B5EF4-FFF2-40B4-BE49-F238E27FC236}">
                <a16:creationId xmlns:a16="http://schemas.microsoft.com/office/drawing/2014/main" id="{6309FC88-30B3-790F-2F1C-B3CD97D20BFD}"/>
              </a:ext>
            </a:extLst>
          </p:cNvPr>
          <p:cNvSpPr txBox="1"/>
          <p:nvPr/>
        </p:nvSpPr>
        <p:spPr>
          <a:xfrm>
            <a:off x="711504" y="10202226"/>
            <a:ext cx="6394146" cy="1836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l" rtl="0">
              <a:lnSpc>
                <a:spcPct val="102099"/>
              </a:lnSpc>
              <a:spcBef>
                <a:spcPts val="65"/>
              </a:spcBef>
            </a:pPr>
            <a:r>
              <a:rPr lang="kk-KZ" sz="1200" b="1" i="1" spc="70" dirty="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Ресми сайт</a:t>
            </a:r>
            <a:r>
              <a:rPr lang="ru-RU" sz="1200" b="1" i="1" spc="70" dirty="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r>
              <a:rPr lang="en-US" sz="1200" b="1" i="1" spc="70" dirty="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de-DE" sz="1200" b="1" i="1" spc="70" dirty="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kazgerlogisticsforum.kz</a:t>
            </a:r>
            <a:r>
              <a:rPr lang="ru-RU" sz="1200" b="1" i="1" spc="70" dirty="0">
                <a:solidFill>
                  <a:schemeClr val="bg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sz="1200" dirty="0">
              <a:solidFill>
                <a:schemeClr val="bg1"/>
              </a:solidFill>
              <a:latin typeface="Century Gothic" panose="020B0502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2" name="Рисунок 21" descr="Изображение выглядит как Графика, Шрифт, графический дизайн, снимок экрана  Автоматически созданное описание">
            <a:extLst>
              <a:ext uri="{FF2B5EF4-FFF2-40B4-BE49-F238E27FC236}">
                <a16:creationId xmlns:a16="http://schemas.microsoft.com/office/drawing/2014/main" id="{1D6A952D-A16E-01DD-37DC-8BC325D6C8B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95" y="310292"/>
            <a:ext cx="1197622" cy="564179"/>
          </a:xfrm>
          <a:prstGeom prst="rect">
            <a:avLst/>
          </a:prstGeom>
        </p:spPr>
      </p:pic>
      <p:pic>
        <p:nvPicPr>
          <p:cNvPr id="1000100002" name="ODT_ATTR_LBL_LOGO">
            <a:extLst>
              <a:ext uri="{FF2B5EF4-FFF2-40B4-BE49-F238E27FC236}">
                <a16:creationId xmlns:a16="http://schemas.microsoft.com/office/drawing/2014/main" id="{B066AC4A-9A1C-4C10-800A-DAF9F2764385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000"/>
            <a:ext cx="316230" cy="1797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43243E-8627-4D5F-3FA8-7B2E5F7FADE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737" y="171538"/>
            <a:ext cx="2307257" cy="84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5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3848-0757-812A-2734-9801D2A4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Satbayev University">
            <a:extLst>
              <a:ext uri="{FF2B5EF4-FFF2-40B4-BE49-F238E27FC236}">
                <a16:creationId xmlns:a16="http://schemas.microsoft.com/office/drawing/2014/main" id="{2D272ED2-978D-869A-8D0B-F50B193B6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426" y="101418"/>
            <a:ext cx="1613204" cy="102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7E38BCD-22E9-1D8B-7CA7-E2A6ECCBD722}"/>
              </a:ext>
            </a:extLst>
          </p:cNvPr>
          <p:cNvSpPr txBox="1"/>
          <p:nvPr/>
        </p:nvSpPr>
        <p:spPr>
          <a:xfrm>
            <a:off x="576945" y="1239159"/>
            <a:ext cx="6528706" cy="8418971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b="1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Құрметті ханымдар мен мырзалар!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Satbayev University (Қазақстан) және Bundesvereinigung Logistik (BVL, Германия) Сіздерді 2026 жылғы 14 мамырда Қазақстан Республикасы, Алматы қаласында, Satbayev University базасында (мекенжайы: Сәтбаев көшесі, 22) өтетін </a:t>
            </a:r>
            <a:r>
              <a:rPr lang="kk-KZ" sz="1300" b="1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«Цифрландыру, адами капитал, транзиттік мүмкіндіктер» тақырыбындағы Бірінші Қазақстан-Германия көлік-логистика форумына </a:t>
            </a:r>
            <a:r>
              <a:rPr lang="kk-KZ" sz="1300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қатысуға шақырады.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Форумға Қазақстан Республикасы министрліктерінің өкілдері, жоғары оқу орындарының өкілдері, көлік-логистика саласының компаниялары, сондай-ақ Германияның салалық сарапшылары және Орталық Азия елдерінің көлік-логистикалық және индустриялық ұйымдарының өкілдері, соның ішінде Uzbekistan, Kyrgyzstan және Azerbaijan қатысады.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Іс-шара көлік-логистикалық жүйелерді цифрландыру, адами капиталды дамыту және Қазақстан мен Орталық Азияның транзиттік әлеуетін ашу саласындағы негізгі үрдістер мен практикалық шешімдерді талқылауға, сондай-ақ ғылым, білім және бизнес арасындағы тұрақты әріптестікті қалыптастыруға бағытталған.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Іс-шара үш бөлімнен тұрады: Пленарлық сессия, B2B кездесулер және кешкі қабылдау.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Біз Сіздерді форум қатысушыларының қатарында көруге қуаныштымыз және көлік пен логистика саласындағы халықаралық ынтымақтастықты дамытуға белсенді қатысуыңызға сенім білдіреміз.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Қосымша ақпарат алу үшін келесі байланыс арқылы хабарласуыңызға болады</a:t>
            </a:r>
            <a:r>
              <a:rPr lang="kk-KZ" sz="1300" spc="-20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de-DE" sz="1400" spc="-10" dirty="0" err="1">
                <a:solidFill>
                  <a:schemeClr val="accent1"/>
                </a:solidFill>
                <a:latin typeface="Century Gothic" panose="020B0502020202020204" pitchFamily="34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s.bolatkyzy</a:t>
            </a:r>
            <a:r>
              <a:rPr lang="kk-KZ" sz="1300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@satbayev.university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Ашық пікірталасқа арналған сұрақтарыңызды алдын ала мына электрондық поштаға жолдауыңызға болады:info@logistics-alliance-germany.de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endParaRPr lang="kk-KZ" sz="1300" spc="-20" noProof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b="1" i="1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Құрметпен,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b="1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Бегентаев Мейрам Мұхаметрахимұлы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b="1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Satbayev University басқарма төрағасы, Ректор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endParaRPr lang="kk-KZ" sz="1300" spc="-20" noProof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i="1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және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endParaRPr lang="kk-KZ" sz="1300" spc="-20" noProof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b="1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Mirco Nowak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b="1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Бас директор, LUNO Group</a:t>
            </a:r>
          </a:p>
          <a:p>
            <a:pPr marL="12700" indent="349250" algn="just" rtl="0">
              <a:lnSpc>
                <a:spcPct val="100000"/>
              </a:lnSpc>
              <a:spcBef>
                <a:spcPts val="710"/>
              </a:spcBef>
            </a:pPr>
            <a:r>
              <a:rPr lang="kk-KZ" sz="1300" b="1" spc="-2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Bundesvereinigung Logistik, Германия, Еуразиялық бөлімшенің төрағасы</a:t>
            </a:r>
          </a:p>
        </p:txBody>
      </p:sp>
      <p:pic>
        <p:nvPicPr>
          <p:cNvPr id="5" name="Рисунок 4" descr="Изображение выглядит как Графика, Шрифт, графический дизайн, снимок экрана  Автоматически созданное описание">
            <a:extLst>
              <a:ext uri="{FF2B5EF4-FFF2-40B4-BE49-F238E27FC236}">
                <a16:creationId xmlns:a16="http://schemas.microsoft.com/office/drawing/2014/main" id="{0767B7AB-2458-5A62-3299-AF72C8974B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95" y="310292"/>
            <a:ext cx="1197622" cy="56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52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23FB-7E8B-F2F9-94F8-CC62843E5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Satbayev University">
            <a:extLst>
              <a:ext uri="{FF2B5EF4-FFF2-40B4-BE49-F238E27FC236}">
                <a16:creationId xmlns:a16="http://schemas.microsoft.com/office/drawing/2014/main" id="{A97A388E-ADCE-9664-5F9E-4EB68CBE3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426" y="101418"/>
            <a:ext cx="1613204" cy="102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4262080-6EF4-0247-BFB7-67A295BE1743}"/>
              </a:ext>
            </a:extLst>
          </p:cNvPr>
          <p:cNvSpPr txBox="1"/>
          <p:nvPr/>
        </p:nvSpPr>
        <p:spPr>
          <a:xfrm>
            <a:off x="595086" y="1202505"/>
            <a:ext cx="6502400" cy="909351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Бағдарлама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Бірінші Қазақстан–Германия көлік-логистика форумы«Цифрландыру, адами капитал, транзиттік мүмкіндіктер»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endParaRPr lang="kk-KZ" sz="1100" u="sng" spc="-10" noProof="0" dirty="0">
              <a:solidFill>
                <a:srgbClr val="002060"/>
              </a:solidFill>
              <a:uFill>
                <a:solidFill>
                  <a:srgbClr val="39A0D2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10:30 – 11:00 </a:t>
            </a: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Тіркеу / Кофе-брейк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11:00 – 11:20 </a:t>
            </a: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Ресми ашылу</a:t>
            </a:r>
          </a:p>
          <a:p>
            <a:pPr marL="357188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Қазақстан Республикасы Көлік министрлігінің вице-министрі</a:t>
            </a:r>
          </a:p>
          <a:p>
            <a:pPr marL="357188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Қазақстандағы Германия Федеративтік Республикасының Елшісі / Бас консулы</a:t>
            </a:r>
          </a:p>
          <a:p>
            <a:pPr marL="357188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Бегентаев М.М., Satbayev University ректоры</a:t>
            </a:r>
          </a:p>
          <a:p>
            <a:pPr marL="357188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Йоахим Фриц, Deutsche Gesellschaft für Internationale Zusammenarbeit (GIZ) ұйымының Орталық Азия бойынша өңірлік директоры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11:20 – 11:50 </a:t>
            </a: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Импульстік баяндамалар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Модератор: Марат М. Идрисов, </a:t>
            </a: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Kazakhstan Industry Development Institute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Спикерлер:</a:t>
            </a:r>
          </a:p>
          <a:p>
            <a:pPr marL="358775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Гүлмира С. Мұханова, </a:t>
            </a: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техника ғылымдарының кандидаты, доцент, М. Тынышпаев атындағы Көлік инженериясы және логистика мектебінің профессоры</a:t>
            </a:r>
          </a:p>
          <a:p>
            <a:pPr marL="358775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Джудит Бланк, </a:t>
            </a: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жоба жетекшісі, Орталық Азиядағы сауданы ілгерілету жөніндегі өңірлік бағдарлама / TCTC әлеуетін дамыту бағдарламасы, Deutsche Gesellschaft für Internationale Zusammenarbeit (GIZ) Орталық Азия</a:t>
            </a:r>
          </a:p>
          <a:p>
            <a:pPr marL="358775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Владимир Туреханов</a:t>
            </a: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 Kazakhstan Association of Automation and Robotics (KAAR) басшысы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11:50 – 13:00 </a:t>
            </a: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Панельдік пікірталас «Middle Coridor»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Модератор:Мирко Новак, </a:t>
            </a: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LUNO Group бас директоры;Еуразиялық бөлімшенің төрағасы, Bundesvereinigung Logistik, Германия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Спикерлер:</a:t>
            </a:r>
          </a:p>
          <a:p>
            <a:pPr marL="358775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Kazlogistics Association қауымдастығының өкілі</a:t>
            </a:r>
          </a:p>
          <a:p>
            <a:pPr marL="358775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Қазақстандық және неміс компаниялары мен ұйымдарының өкілдері (Kazakhstan Temir Zholy, Eastcomtrans, AsstrA, Gebrüder Weiss және т.б. )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13:00 – 14:30 </a:t>
            </a: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Түскі асқа үзіліс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14:30 – 17:00 </a:t>
            </a: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B2B кездесулер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Әлеуетті серіктестерді табуға және бірлескен ғылыми, білім беру және бизнес-жобаларды талқылауға бағытталған мақсатты іскерлік кездесулер сериясы. Қатысушыларға ыңғайлы болу үшін форумның ресми сайтында қатысушылар туралы ақпарат және кездесулерді брондау жүйесі қолжетімді болады.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17:00 </a:t>
            </a: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Форумның жабылуы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endParaRPr lang="kk-KZ" sz="1100" u="sng" spc="-10" noProof="0" dirty="0">
              <a:solidFill>
                <a:srgbClr val="002060"/>
              </a:solidFill>
              <a:uFill>
                <a:solidFill>
                  <a:srgbClr val="39A0D2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Кешкі </a:t>
            </a:r>
            <a:r>
              <a:rPr lang="kk-KZ" sz="1100" b="1" u="sng" spc="-10" noProof="0" dirty="0">
                <a:solidFill>
                  <a:srgbClr val="002060"/>
                </a:solidFill>
                <a:highlight>
                  <a:srgbClr val="FFFF00"/>
                </a:highlight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қабылдау 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endParaRPr lang="kk-KZ" sz="1100" u="sng" spc="-10" noProof="0" dirty="0">
              <a:solidFill>
                <a:srgbClr val="002060"/>
              </a:solidFill>
              <a:uFill>
                <a:solidFill>
                  <a:srgbClr val="39A0D2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18:00 </a:t>
            </a: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Нетворкинг, кешкі фуршет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21:00 </a:t>
            </a: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Іс-шараның аяқталуы</a:t>
            </a:r>
          </a:p>
          <a:p>
            <a:pPr marL="12700" algn="l" rtl="0">
              <a:lnSpc>
                <a:spcPct val="100000"/>
              </a:lnSpc>
              <a:spcBef>
                <a:spcPts val="625"/>
              </a:spcBef>
            </a:pPr>
            <a:r>
              <a:rPr lang="kk-KZ" sz="1100" b="1" u="sng" spc="-10" noProof="0" dirty="0">
                <a:solidFill>
                  <a:srgbClr val="002060"/>
                </a:solidFill>
                <a:uFill>
                  <a:solidFill>
                    <a:srgbClr val="39A0D2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Дресс-код: Business Casual</a:t>
            </a:r>
          </a:p>
        </p:txBody>
      </p:sp>
      <p:pic>
        <p:nvPicPr>
          <p:cNvPr id="5" name="Рисунок 4" descr="Изображение выглядит как Графика, Шрифт, графический дизайн, снимок экрана  Автоматически созданное описание">
            <a:extLst>
              <a:ext uri="{FF2B5EF4-FFF2-40B4-BE49-F238E27FC236}">
                <a16:creationId xmlns:a16="http://schemas.microsoft.com/office/drawing/2014/main" id="{8DA373CF-6041-CFFD-BBBE-E5567F2398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95" y="310292"/>
            <a:ext cx="1197622" cy="56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25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840DA7A1AA00843BF7BE267E1CB408D" ma:contentTypeVersion="16" ma:contentTypeDescription="Ein neues Dokument erstellen." ma:contentTypeScope="" ma:versionID="cf8e11fa954ad01a02db4d0e36146d6b">
  <xsd:schema xmlns:xsd="http://www.w3.org/2001/XMLSchema" xmlns:xs="http://www.w3.org/2001/XMLSchema" xmlns:p="http://schemas.microsoft.com/office/2006/metadata/properties" xmlns:ns2="dd447142-1aa6-4a72-a007-63df8aaaa9f8" xmlns:ns3="c945b90e-fc88-49af-b28e-2201e397b9a1" targetNamespace="http://schemas.microsoft.com/office/2006/metadata/properties" ma:root="true" ma:fieldsID="1462049e7e9ba608de639a380a24340d" ns2:_="" ns3:_="">
    <xsd:import namespace="dd447142-1aa6-4a72-a007-63df8aaaa9f8"/>
    <xsd:import namespace="c945b90e-fc88-49af-b28e-2201e397b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447142-1aa6-4a72-a007-63df8aaaa9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0aed264e-563a-469a-8ebe-271e849ec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5b90e-fc88-49af-b28e-2201e397b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2ee92ea-e074-4350-ac3b-5cf132dea3f3}" ma:internalName="TaxCatchAll" ma:showField="CatchAllData" ma:web="c945b90e-fc88-49af-b28e-2201e397b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45b90e-fc88-49af-b28e-2201e397b9a1" xsi:nil="true"/>
    <lcf76f155ced4ddcb4097134ff3c332f xmlns="dd447142-1aa6-4a72-a007-63df8aaaa9f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414F84-7B1D-4C48-B61C-8D1C718A9B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447142-1aa6-4a72-a007-63df8aaaa9f8"/>
    <ds:schemaRef ds:uri="c945b90e-fc88-49af-b28e-2201e397b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B60AB-7010-4D77-9E5D-4F2FA5EACCEB}">
  <ds:schemaRefs>
    <ds:schemaRef ds:uri="http://purl.org/dc/elements/1.1/"/>
    <ds:schemaRef ds:uri="c945b90e-fc88-49af-b28e-2201e397b9a1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dd447142-1aa6-4a72-a007-63df8aaaa9f8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8FC5DC7-0137-44BD-8C9E-29D7D31908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609</Words>
  <Application>Microsoft Office PowerPoint</Application>
  <PresentationFormat>Произвольный</PresentationFormat>
  <Paragraphs>77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Century Gothic</vt:lpstr>
      <vt:lpstr>Office Theme</vt:lpstr>
      <vt:lpstr>Ресми шақыру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Ресми шақыру</dc:title>
  <dc:creator>Jens Klauenberg - LNC Berlin</dc:creator>
  <cp:lastModifiedBy>Zhazira Tymbayeva</cp:lastModifiedBy>
  <cp:revision>79</cp:revision>
  <dcterms:created xsi:type="dcterms:W3CDTF">2026-01-29T10:56:48Z</dcterms:created>
  <dcterms:modified xsi:type="dcterms:W3CDTF">2026-04-01T15:01:13Z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2021-04-07T00:00:00Z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2026-01-29T00:00:00Z</vt:filetime>
  </property>
  <property fmtid="{D5CDD505-2E9C-101B-9397-08002B2CF9AE}" pid="5" name="Producer">
    <vt:lpwstr>pdf-lib (https://github.com/Hopding/pdf-lib)</vt:lpwstr>
  </property>
  <property fmtid="{D5CDD505-2E9C-101B-9397-08002B2CF9AE}" pid="6" name="ContentTypeId">
    <vt:lpwstr>0x0101004840DA7A1AA00843BF7BE267E1CB408D</vt:lpwstr>
  </property>
  <property fmtid="{D5CDD505-2E9C-101B-9397-08002B2CF9AE}" pid="7" name="MediaServiceImageTags">
    <vt:lpwstr/>
  </property>
</Properties>
</file>