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5"/>
  </p:handoutMasterIdLst>
  <p:sldIdLst>
    <p:sldId id="261" r:id="rId2"/>
    <p:sldId id="263" r:id="rId3"/>
    <p:sldId id="264" r:id="rId4"/>
  </p:sldIdLst>
  <p:sldSz cx="7569200" cy="10699750"/>
  <p:notesSz cx="7569200" cy="10699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2868"/>
    <a:srgbClr val="5875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1734" y="-2043"/>
      </p:cViewPr>
      <p:guideLst>
        <p:guide orient="horz" pos="2880"/>
        <p:guide pos="2160"/>
      </p:guideLst>
    </p:cSldViewPr>
  </p:slideViewPr>
  <p:notesTextViewPr>
    <p:cViewPr>
      <p:scale>
        <a:sx n="25" d="100"/>
        <a:sy n="25" d="100"/>
      </p:scale>
      <p:origin x="0" y="0"/>
    </p:cViewPr>
  </p:notesTextViewPr>
  <p:sorterViewPr>
    <p:cViewPr>
      <p:scale>
        <a:sx n="100" d="100"/>
        <a:sy n="100" d="100"/>
      </p:scale>
      <p:origin x="0" y="0"/>
    </p:cViewPr>
  </p:sorterViewPr>
  <p:notesViewPr>
    <p:cSldViewPr snapToGrid="0">
      <p:cViewPr varScale="1">
        <p:scale>
          <a:sx n="47" d="100"/>
          <a:sy n="47" d="100"/>
        </p:scale>
        <p:origin x="3087" y="4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9D668943-4721-E03A-B651-2E7DD0966FA2}"/>
              </a:ext>
            </a:extLst>
          </p:cNvPr>
          <p:cNvSpPr>
            <a:spLocks noGrp="1"/>
          </p:cNvSpPr>
          <p:nvPr>
            <p:ph type="hdr" sz="quarter"/>
          </p:nvPr>
        </p:nvSpPr>
        <p:spPr>
          <a:xfrm>
            <a:off x="0" y="0"/>
            <a:ext cx="3279775" cy="536575"/>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id="{06317B1A-D43F-1984-BDBF-5385F5A45BFD}"/>
              </a:ext>
            </a:extLst>
          </p:cNvPr>
          <p:cNvSpPr>
            <a:spLocks noGrp="1"/>
          </p:cNvSpPr>
          <p:nvPr>
            <p:ph type="dt" sz="quarter" idx="1"/>
          </p:nvPr>
        </p:nvSpPr>
        <p:spPr>
          <a:xfrm>
            <a:off x="4287838" y="0"/>
            <a:ext cx="3279775" cy="536575"/>
          </a:xfrm>
          <a:prstGeom prst="rect">
            <a:avLst/>
          </a:prstGeom>
        </p:spPr>
        <p:txBody>
          <a:bodyPr vert="horz" lIns="91440" tIns="45720" rIns="91440" bIns="45720" rtlCol="0"/>
          <a:lstStyle>
            <a:lvl1pPr algn="r">
              <a:defRPr sz="1200"/>
            </a:lvl1pPr>
          </a:lstStyle>
          <a:p>
            <a:fld id="{0C391B6F-BBFA-438A-9286-1FC62C3499A0}" type="datetimeFigureOut">
              <a:rPr lang="ru-RU" smtClean="0"/>
              <a:t>26.02.2026</a:t>
            </a:fld>
            <a:endParaRPr lang="ru-RU"/>
          </a:p>
        </p:txBody>
      </p:sp>
      <p:sp>
        <p:nvSpPr>
          <p:cNvPr id="4" name="Нижний колонтитул 3">
            <a:extLst>
              <a:ext uri="{FF2B5EF4-FFF2-40B4-BE49-F238E27FC236}">
                <a16:creationId xmlns:a16="http://schemas.microsoft.com/office/drawing/2014/main" id="{2A908F3B-113D-5130-7B64-3F90E0786486}"/>
              </a:ext>
            </a:extLst>
          </p:cNvPr>
          <p:cNvSpPr>
            <a:spLocks noGrp="1"/>
          </p:cNvSpPr>
          <p:nvPr>
            <p:ph type="ftr" sz="quarter" idx="2"/>
          </p:nvPr>
        </p:nvSpPr>
        <p:spPr>
          <a:xfrm>
            <a:off x="0" y="10163175"/>
            <a:ext cx="3279775" cy="536575"/>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id="{05FB1932-5B8F-ADF6-5779-F6A7C5051C57}"/>
              </a:ext>
            </a:extLst>
          </p:cNvPr>
          <p:cNvSpPr>
            <a:spLocks noGrp="1"/>
          </p:cNvSpPr>
          <p:nvPr>
            <p:ph type="sldNum" sz="quarter" idx="3"/>
          </p:nvPr>
        </p:nvSpPr>
        <p:spPr>
          <a:xfrm>
            <a:off x="4287838" y="10163175"/>
            <a:ext cx="3279775" cy="536575"/>
          </a:xfrm>
          <a:prstGeom prst="rect">
            <a:avLst/>
          </a:prstGeom>
        </p:spPr>
        <p:txBody>
          <a:bodyPr vert="horz" lIns="91440" tIns="45720" rIns="91440" bIns="45720" rtlCol="0" anchor="b"/>
          <a:lstStyle>
            <a:lvl1pPr algn="r">
              <a:defRPr sz="1200"/>
            </a:lvl1pPr>
          </a:lstStyle>
          <a:p>
            <a:fld id="{FEDFE5BE-F78D-49D0-8BEC-05E37B800FCE}" type="slidenum">
              <a:rPr lang="ru-RU" smtClean="0"/>
              <a:t>‹#›</a:t>
            </a:fld>
            <a:endParaRPr lang="ru-RU"/>
          </a:p>
        </p:txBody>
      </p:sp>
    </p:spTree>
    <p:extLst>
      <p:ext uri="{BB962C8B-B14F-4D97-AF65-F5344CB8AC3E}">
        <p14:creationId xmlns:p14="http://schemas.microsoft.com/office/powerpoint/2010/main" val="1763371148"/>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7690" y="3316922"/>
            <a:ext cx="6433820" cy="2246947"/>
          </a:xfrm>
          <a:prstGeom prst="rect">
            <a:avLst/>
          </a:prstGeom>
        </p:spPr>
        <p:txBody>
          <a:bodyPr wrap="square" lIns="0" tIns="0" rIns="0" bIns="0">
            <a:spAutoFit/>
          </a:bodyPr>
          <a:lstStyle>
            <a:lvl1pPr>
              <a:defRPr sz="3600" b="0" i="0">
                <a:solidFill>
                  <a:schemeClr val="tx1"/>
                </a:solidFill>
                <a:latin typeface="Calibri"/>
                <a:cs typeface="Calibri"/>
              </a:defRPr>
            </a:lvl1pPr>
          </a:lstStyle>
          <a:p>
            <a:endParaRPr/>
          </a:p>
        </p:txBody>
      </p:sp>
      <p:sp>
        <p:nvSpPr>
          <p:cNvPr id="3" name="Holder 3"/>
          <p:cNvSpPr>
            <a:spLocks noGrp="1"/>
          </p:cNvSpPr>
          <p:nvPr>
            <p:ph type="subTitle" idx="4"/>
          </p:nvPr>
        </p:nvSpPr>
        <p:spPr>
          <a:xfrm>
            <a:off x="1135380" y="5991860"/>
            <a:ext cx="5298440" cy="2674937"/>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4937125" y="9429673"/>
            <a:ext cx="1090929" cy="246951"/>
          </a:xfrm>
          <a:prstGeom prst="rect">
            <a:avLst/>
          </a:prstGeom>
        </p:spPr>
      </p:pic>
      <p:pic>
        <p:nvPicPr>
          <p:cNvPr id="17" name="bg object 17"/>
          <p:cNvPicPr/>
          <p:nvPr/>
        </p:nvPicPr>
        <p:blipFill>
          <a:blip r:embed="rId3" cstate="print"/>
          <a:stretch>
            <a:fillRect/>
          </a:stretch>
        </p:blipFill>
        <p:spPr>
          <a:xfrm>
            <a:off x="6102350" y="9413798"/>
            <a:ext cx="570229" cy="285115"/>
          </a:xfrm>
          <a:prstGeom prst="rect">
            <a:avLst/>
          </a:prstGeom>
        </p:spPr>
      </p:pic>
      <p:pic>
        <p:nvPicPr>
          <p:cNvPr id="18" name="bg object 18"/>
          <p:cNvPicPr/>
          <p:nvPr/>
        </p:nvPicPr>
        <p:blipFill>
          <a:blip r:embed="rId4" cstate="print"/>
          <a:stretch>
            <a:fillRect/>
          </a:stretch>
        </p:blipFill>
        <p:spPr>
          <a:xfrm>
            <a:off x="1485900" y="9434753"/>
            <a:ext cx="1082522" cy="237490"/>
          </a:xfrm>
          <a:prstGeom prst="rect">
            <a:avLst/>
          </a:prstGeom>
        </p:spPr>
      </p:pic>
      <p:pic>
        <p:nvPicPr>
          <p:cNvPr id="19" name="bg object 19"/>
          <p:cNvPicPr/>
          <p:nvPr/>
        </p:nvPicPr>
        <p:blipFill>
          <a:blip r:embed="rId5" cstate="print"/>
          <a:stretch>
            <a:fillRect/>
          </a:stretch>
        </p:blipFill>
        <p:spPr>
          <a:xfrm>
            <a:off x="2670810" y="9430943"/>
            <a:ext cx="922286" cy="228600"/>
          </a:xfrm>
          <a:prstGeom prst="rect">
            <a:avLst/>
          </a:prstGeom>
        </p:spPr>
      </p:pic>
      <p:pic>
        <p:nvPicPr>
          <p:cNvPr id="20" name="bg object 20"/>
          <p:cNvPicPr/>
          <p:nvPr/>
        </p:nvPicPr>
        <p:blipFill>
          <a:blip r:embed="rId6" cstate="print"/>
          <a:stretch>
            <a:fillRect/>
          </a:stretch>
        </p:blipFill>
        <p:spPr>
          <a:xfrm>
            <a:off x="3766425" y="9366226"/>
            <a:ext cx="1073606" cy="345432"/>
          </a:xfrm>
          <a:prstGeom prst="rect">
            <a:avLst/>
          </a:prstGeom>
        </p:spPr>
      </p:pic>
      <p:sp>
        <p:nvSpPr>
          <p:cNvPr id="21" name="bg object 21"/>
          <p:cNvSpPr/>
          <p:nvPr/>
        </p:nvSpPr>
        <p:spPr>
          <a:xfrm>
            <a:off x="0" y="5739256"/>
            <a:ext cx="7564120" cy="111125"/>
          </a:xfrm>
          <a:custGeom>
            <a:avLst/>
            <a:gdLst/>
            <a:ahLst/>
            <a:cxnLst/>
            <a:rect l="l" t="t" r="r" b="b"/>
            <a:pathLst>
              <a:path w="7564120" h="111125">
                <a:moveTo>
                  <a:pt x="0" y="110744"/>
                </a:moveTo>
                <a:lnTo>
                  <a:pt x="7563611" y="110744"/>
                </a:lnTo>
                <a:lnTo>
                  <a:pt x="7563611" y="0"/>
                </a:lnTo>
                <a:lnTo>
                  <a:pt x="0" y="0"/>
                </a:lnTo>
                <a:lnTo>
                  <a:pt x="0" y="110744"/>
                </a:lnTo>
                <a:close/>
              </a:path>
            </a:pathLst>
          </a:custGeom>
          <a:solidFill>
            <a:srgbClr val="DBDFE1"/>
          </a:solidFill>
        </p:spPr>
        <p:txBody>
          <a:bodyPr wrap="square" lIns="0" tIns="0" rIns="0" bIns="0" rtlCol="0"/>
          <a:lstStyle/>
          <a:p>
            <a:endParaRPr/>
          </a:p>
        </p:txBody>
      </p:sp>
      <p:sp>
        <p:nvSpPr>
          <p:cNvPr id="22" name="bg object 22"/>
          <p:cNvSpPr/>
          <p:nvPr/>
        </p:nvSpPr>
        <p:spPr>
          <a:xfrm>
            <a:off x="0" y="5850000"/>
            <a:ext cx="7564120" cy="3043555"/>
          </a:xfrm>
          <a:custGeom>
            <a:avLst/>
            <a:gdLst/>
            <a:ahLst/>
            <a:cxnLst/>
            <a:rect l="l" t="t" r="r" b="b"/>
            <a:pathLst>
              <a:path w="7564120" h="3043554">
                <a:moveTo>
                  <a:pt x="7563611" y="0"/>
                </a:moveTo>
                <a:lnTo>
                  <a:pt x="0" y="0"/>
                </a:lnTo>
                <a:lnTo>
                  <a:pt x="0" y="3043554"/>
                </a:lnTo>
                <a:lnTo>
                  <a:pt x="7563611" y="3043554"/>
                </a:lnTo>
                <a:lnTo>
                  <a:pt x="7563611" y="0"/>
                </a:lnTo>
                <a:close/>
              </a:path>
            </a:pathLst>
          </a:custGeom>
          <a:solidFill>
            <a:srgbClr val="39A0D2"/>
          </a:solidFill>
        </p:spPr>
        <p:txBody>
          <a:bodyPr wrap="square" lIns="0" tIns="0" rIns="0" bIns="0" rtlCol="0"/>
          <a:lstStyle/>
          <a:p>
            <a:endParaRPr dirty="0"/>
          </a:p>
        </p:txBody>
      </p:sp>
      <p:sp>
        <p:nvSpPr>
          <p:cNvPr id="23" name="bg object 23"/>
          <p:cNvSpPr/>
          <p:nvPr/>
        </p:nvSpPr>
        <p:spPr>
          <a:xfrm>
            <a:off x="0" y="8892158"/>
            <a:ext cx="7564120" cy="114935"/>
          </a:xfrm>
          <a:custGeom>
            <a:avLst/>
            <a:gdLst/>
            <a:ahLst/>
            <a:cxnLst/>
            <a:rect l="l" t="t" r="r" b="b"/>
            <a:pathLst>
              <a:path w="7564120" h="114934">
                <a:moveTo>
                  <a:pt x="7563611" y="0"/>
                </a:moveTo>
                <a:lnTo>
                  <a:pt x="0" y="0"/>
                </a:lnTo>
                <a:lnTo>
                  <a:pt x="0" y="114935"/>
                </a:lnTo>
                <a:lnTo>
                  <a:pt x="7563611" y="114935"/>
                </a:lnTo>
                <a:lnTo>
                  <a:pt x="7563611" y="0"/>
                </a:lnTo>
                <a:close/>
              </a:path>
            </a:pathLst>
          </a:custGeom>
          <a:solidFill>
            <a:srgbClr val="DBDFE0"/>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36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Calibri"/>
                <a:cs typeface="Calibri"/>
              </a:defRPr>
            </a:lvl1pPr>
          </a:lstStyle>
          <a:p>
            <a:endParaRPr/>
          </a:p>
        </p:txBody>
      </p:sp>
      <p:sp>
        <p:nvSpPr>
          <p:cNvPr id="3" name="Holder 3"/>
          <p:cNvSpPr>
            <a:spLocks noGrp="1"/>
          </p:cNvSpPr>
          <p:nvPr>
            <p:ph sz="half" idx="2"/>
          </p:nvPr>
        </p:nvSpPr>
        <p:spPr>
          <a:xfrm>
            <a:off x="378460" y="2460942"/>
            <a:ext cx="3292602" cy="706183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898138" y="2460942"/>
            <a:ext cx="3292602" cy="706183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7564120" cy="136525"/>
          </a:xfrm>
          <a:custGeom>
            <a:avLst/>
            <a:gdLst/>
            <a:ahLst/>
            <a:cxnLst/>
            <a:rect l="l" t="t" r="r" b="b"/>
            <a:pathLst>
              <a:path w="7564120" h="136525">
                <a:moveTo>
                  <a:pt x="0" y="136525"/>
                </a:moveTo>
                <a:lnTo>
                  <a:pt x="7563611" y="136525"/>
                </a:lnTo>
                <a:lnTo>
                  <a:pt x="7563611" y="0"/>
                </a:lnTo>
                <a:lnTo>
                  <a:pt x="0" y="0"/>
                </a:lnTo>
                <a:lnTo>
                  <a:pt x="0" y="136525"/>
                </a:lnTo>
                <a:close/>
              </a:path>
            </a:pathLst>
          </a:custGeom>
          <a:solidFill>
            <a:srgbClr val="39A0D2"/>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4238244" y="340600"/>
            <a:ext cx="3041904" cy="457090"/>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2/26/2026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106220" y="1177797"/>
            <a:ext cx="5452745" cy="574039"/>
          </a:xfrm>
          <a:prstGeom prst="rect">
            <a:avLst/>
          </a:prstGeom>
        </p:spPr>
        <p:txBody>
          <a:bodyPr wrap="square" lIns="0" tIns="0" rIns="0" bIns="0">
            <a:spAutoFit/>
          </a:bodyPr>
          <a:lstStyle>
            <a:lvl1pPr>
              <a:defRPr sz="3600" b="0" i="0">
                <a:solidFill>
                  <a:schemeClr val="tx1"/>
                </a:solidFill>
                <a:latin typeface="Calibri"/>
                <a:cs typeface="Calibri"/>
              </a:defRPr>
            </a:lvl1pPr>
          </a:lstStyle>
          <a:p>
            <a:endParaRPr/>
          </a:p>
        </p:txBody>
      </p:sp>
      <p:sp>
        <p:nvSpPr>
          <p:cNvPr id="3" name="Holder 3"/>
          <p:cNvSpPr>
            <a:spLocks noGrp="1"/>
          </p:cNvSpPr>
          <p:nvPr>
            <p:ph type="body" idx="1"/>
          </p:nvPr>
        </p:nvSpPr>
        <p:spPr>
          <a:xfrm>
            <a:off x="444500" y="1682628"/>
            <a:ext cx="6584315" cy="320421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2573528" y="9950768"/>
            <a:ext cx="2422144" cy="53498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8460" y="9950768"/>
            <a:ext cx="1740916" cy="53498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2/26/2026</a:t>
            </a:fld>
            <a:endParaRPr lang="en-US"/>
          </a:p>
        </p:txBody>
      </p:sp>
      <p:sp>
        <p:nvSpPr>
          <p:cNvPr id="6" name="Holder 6"/>
          <p:cNvSpPr>
            <a:spLocks noGrp="1"/>
          </p:cNvSpPr>
          <p:nvPr>
            <p:ph type="sldNum" sz="quarter" idx="7"/>
          </p:nvPr>
        </p:nvSpPr>
        <p:spPr>
          <a:xfrm>
            <a:off x="5449824" y="9950768"/>
            <a:ext cx="1740916" cy="53498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8.png"/><Relationship Id="rId7" Type="http://schemas.openxmlformats.org/officeDocument/2006/relationships/image" Target="../media/image11.jpeg"/><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mailto:z.tymbayeva@satbayev.university"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5" Type="http://schemas.openxmlformats.org/officeDocument/2006/relationships/hyperlink" Target="mailto:info@logistics-alliance-germany.de" TargetMode="External"/><Relationship Id="rId4" Type="http://schemas.openxmlformats.org/officeDocument/2006/relationships/hyperlink" Target="mailto:z.tymbayeva@satbayev.university"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Прямоугольник 13">
            <a:extLst>
              <a:ext uri="{FF2B5EF4-FFF2-40B4-BE49-F238E27FC236}">
                <a16:creationId xmlns:a16="http://schemas.microsoft.com/office/drawing/2014/main" id="{34024B51-8402-6004-5576-138B095F0DD3}"/>
              </a:ext>
            </a:extLst>
          </p:cNvPr>
          <p:cNvSpPr/>
          <p:nvPr/>
        </p:nvSpPr>
        <p:spPr>
          <a:xfrm>
            <a:off x="0" y="7442200"/>
            <a:ext cx="7569200" cy="3054682"/>
          </a:xfrm>
          <a:prstGeom prst="rect">
            <a:avLst/>
          </a:prstGeom>
          <a:solidFill>
            <a:srgbClr val="0228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4" name="Picture 4" descr="Satbayev University">
            <a:extLst>
              <a:ext uri="{FF2B5EF4-FFF2-40B4-BE49-F238E27FC236}">
                <a16:creationId xmlns:a16="http://schemas.microsoft.com/office/drawing/2014/main" id="{4F8CC585-69D3-7F01-D1B1-DD078B7CE2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8426" y="101418"/>
            <a:ext cx="1613204" cy="1023984"/>
          </a:xfrm>
          <a:prstGeom prst="rect">
            <a:avLst/>
          </a:prstGeom>
          <a:noFill/>
          <a:extLst>
            <a:ext uri="{909E8E84-426E-40DD-AFC4-6F175D3DCCD1}">
              <a14:hiddenFill xmlns:a14="http://schemas.microsoft.com/office/drawing/2010/main">
                <a:solidFill>
                  <a:srgbClr val="FFFFFF"/>
                </a:solidFill>
              </a14:hiddenFill>
            </a:ext>
          </a:extLst>
        </p:spPr>
      </p:pic>
      <p:sp>
        <p:nvSpPr>
          <p:cNvPr id="5" name="object 7">
            <a:extLst>
              <a:ext uri="{FF2B5EF4-FFF2-40B4-BE49-F238E27FC236}">
                <a16:creationId xmlns:a16="http://schemas.microsoft.com/office/drawing/2014/main" id="{32B8C001-D791-6783-EEA3-262B1420D6C1}"/>
              </a:ext>
            </a:extLst>
          </p:cNvPr>
          <p:cNvSpPr txBox="1">
            <a:spLocks noGrp="1"/>
          </p:cNvSpPr>
          <p:nvPr>
            <p:ph type="title"/>
          </p:nvPr>
        </p:nvSpPr>
        <p:spPr>
          <a:xfrm>
            <a:off x="1423498" y="1394843"/>
            <a:ext cx="5053280" cy="382156"/>
          </a:xfrm>
          <a:prstGeom prst="rect">
            <a:avLst/>
          </a:prstGeom>
        </p:spPr>
        <p:txBody>
          <a:bodyPr vert="horz" wrap="square" lIns="0" tIns="12700" rIns="0" bIns="0" rtlCol="0">
            <a:spAutoFit/>
          </a:bodyPr>
          <a:lstStyle/>
          <a:p>
            <a:pPr marL="12700" algn="ctr">
              <a:lnSpc>
                <a:spcPct val="100000"/>
              </a:lnSpc>
              <a:spcBef>
                <a:spcPts val="100"/>
              </a:spcBef>
            </a:pPr>
            <a:r>
              <a:rPr lang="en-US" sz="2400" b="1" spc="-10" dirty="0">
                <a:latin typeface="Century Gothic" panose="020B0502020202020204" pitchFamily="34" charset="0"/>
                <a:ea typeface="Roboto" panose="02000000000000000000" pitchFamily="2" charset="0"/>
                <a:cs typeface="Roboto" panose="02000000000000000000" pitchFamily="2" charset="0"/>
              </a:rPr>
              <a:t>Official invitation</a:t>
            </a:r>
            <a:endParaRPr sz="2400" b="1" spc="-10" dirty="0">
              <a:latin typeface="Century Gothic" panose="020B0502020202020204" pitchFamily="34" charset="0"/>
              <a:ea typeface="Roboto" panose="02000000000000000000" pitchFamily="2" charset="0"/>
              <a:cs typeface="Roboto" panose="02000000000000000000" pitchFamily="2" charset="0"/>
            </a:endParaRPr>
          </a:p>
        </p:txBody>
      </p:sp>
      <p:sp>
        <p:nvSpPr>
          <p:cNvPr id="6" name="object 8">
            <a:extLst>
              <a:ext uri="{FF2B5EF4-FFF2-40B4-BE49-F238E27FC236}">
                <a16:creationId xmlns:a16="http://schemas.microsoft.com/office/drawing/2014/main" id="{C3DDA2D5-5AC6-5A7F-E75E-E4CD1F5B1C8E}"/>
              </a:ext>
            </a:extLst>
          </p:cNvPr>
          <p:cNvSpPr txBox="1"/>
          <p:nvPr/>
        </p:nvSpPr>
        <p:spPr>
          <a:xfrm>
            <a:off x="660400" y="1906481"/>
            <a:ext cx="6584315" cy="3054682"/>
          </a:xfrm>
          <a:prstGeom prst="rect">
            <a:avLst/>
          </a:prstGeom>
        </p:spPr>
        <p:txBody>
          <a:bodyPr vert="horz" wrap="square" lIns="0" tIns="170180" rIns="0" bIns="0" rtlCol="0">
            <a:spAutoFit/>
          </a:bodyPr>
          <a:lstStyle/>
          <a:p>
            <a:pPr marL="196215" algn="ctr">
              <a:lnSpc>
                <a:spcPct val="100000"/>
              </a:lnSpc>
            </a:pPr>
            <a:r>
              <a:rPr lang="en-US" b="1" dirty="0">
                <a:solidFill>
                  <a:srgbClr val="002060"/>
                </a:solidFill>
                <a:latin typeface="Century Gothic" panose="020B0502020202020204" pitchFamily="34" charset="0"/>
                <a:ea typeface="Roboto" panose="02000000000000000000" pitchFamily="2" charset="0"/>
                <a:cs typeface="Roboto" panose="02000000000000000000" pitchFamily="2" charset="0"/>
              </a:rPr>
              <a:t>Kazakhstan-German Transport and Logistics Forum</a:t>
            </a:r>
          </a:p>
          <a:p>
            <a:pPr marL="196215" algn="ctr">
              <a:lnSpc>
                <a:spcPct val="100000"/>
              </a:lnSpc>
            </a:pPr>
            <a:endParaRPr lang="en-US" b="1" dirty="0">
              <a:solidFill>
                <a:srgbClr val="002060"/>
              </a:solidFill>
              <a:latin typeface="Century Gothic" panose="020B0502020202020204" pitchFamily="34" charset="0"/>
              <a:ea typeface="Roboto" panose="02000000000000000000" pitchFamily="2" charset="0"/>
              <a:cs typeface="Roboto" panose="02000000000000000000" pitchFamily="2" charset="0"/>
            </a:endParaRPr>
          </a:p>
          <a:p>
            <a:pPr marL="196215" algn="ctr">
              <a:lnSpc>
                <a:spcPct val="100000"/>
              </a:lnSpc>
            </a:pPr>
            <a:r>
              <a:rPr lang="en-US" b="1" dirty="0">
                <a:solidFill>
                  <a:srgbClr val="002060"/>
                </a:solidFill>
                <a:latin typeface="Century Gothic" panose="020B0502020202020204" pitchFamily="34" charset="0"/>
                <a:ea typeface="Roboto" panose="02000000000000000000" pitchFamily="2" charset="0"/>
                <a:cs typeface="Roboto" panose="02000000000000000000" pitchFamily="2" charset="0"/>
              </a:rPr>
              <a:t>“Digitalization, Human Capital, Transit Opportunities”</a:t>
            </a:r>
          </a:p>
          <a:p>
            <a:pPr marL="196215" algn="ctr">
              <a:lnSpc>
                <a:spcPct val="100000"/>
              </a:lnSpc>
            </a:pPr>
            <a:endParaRPr lang="en-US" sz="1200" dirty="0">
              <a:solidFill>
                <a:srgbClr val="002060"/>
              </a:solidFill>
              <a:latin typeface="Century Gothic" panose="020B0502020202020204" pitchFamily="34" charset="0"/>
              <a:ea typeface="Roboto" panose="02000000000000000000" pitchFamily="2" charset="0"/>
              <a:cs typeface="Roboto" panose="02000000000000000000" pitchFamily="2" charset="0"/>
            </a:endParaRPr>
          </a:p>
          <a:p>
            <a:pPr marL="196215" algn="ctr">
              <a:lnSpc>
                <a:spcPct val="100000"/>
              </a:lnSpc>
            </a:pPr>
            <a:r>
              <a:rPr lang="en-US" sz="1200" dirty="0">
                <a:solidFill>
                  <a:srgbClr val="002060"/>
                </a:solidFill>
                <a:latin typeface="Century Gothic" panose="020B0502020202020204" pitchFamily="34" charset="0"/>
                <a:ea typeface="Roboto" panose="02000000000000000000" pitchFamily="2" charset="0"/>
                <a:cs typeface="Roboto" panose="02000000000000000000" pitchFamily="2" charset="0"/>
              </a:rPr>
              <a:t>Thursday, May</a:t>
            </a:r>
            <a:r>
              <a:rPr lang="ru-RU" sz="1200" dirty="0">
                <a:solidFill>
                  <a:srgbClr val="002060"/>
                </a:solidFill>
                <a:latin typeface="Century Gothic" panose="020B0502020202020204" pitchFamily="34" charset="0"/>
                <a:ea typeface="Roboto" panose="02000000000000000000" pitchFamily="2" charset="0"/>
                <a:cs typeface="Roboto" panose="02000000000000000000" pitchFamily="2" charset="0"/>
              </a:rPr>
              <a:t>,</a:t>
            </a:r>
            <a:r>
              <a:rPr lang="en-US" sz="1200" spc="-35" dirty="0">
                <a:solidFill>
                  <a:srgbClr val="002060"/>
                </a:solidFill>
                <a:latin typeface="Century Gothic" panose="020B0502020202020204" pitchFamily="34" charset="0"/>
                <a:ea typeface="Roboto" panose="02000000000000000000" pitchFamily="2" charset="0"/>
                <a:cs typeface="Roboto" panose="02000000000000000000" pitchFamily="2" charset="0"/>
              </a:rPr>
              <a:t> </a:t>
            </a:r>
            <a:r>
              <a:rPr lang="ru-RU" sz="1200" dirty="0">
                <a:solidFill>
                  <a:srgbClr val="002060"/>
                </a:solidFill>
                <a:latin typeface="Century Gothic" panose="020B0502020202020204" pitchFamily="34" charset="0"/>
                <a:ea typeface="Roboto" panose="02000000000000000000" pitchFamily="2" charset="0"/>
                <a:cs typeface="Roboto" panose="02000000000000000000" pitchFamily="2" charset="0"/>
              </a:rPr>
              <a:t>14</a:t>
            </a:r>
            <a:r>
              <a:rPr lang="en-US" sz="1200" dirty="0">
                <a:solidFill>
                  <a:srgbClr val="002060"/>
                </a:solidFill>
                <a:latin typeface="Century Gothic" panose="020B0502020202020204" pitchFamily="34" charset="0"/>
                <a:ea typeface="Roboto" panose="02000000000000000000" pitchFamily="2" charset="0"/>
                <a:cs typeface="Roboto" panose="02000000000000000000" pitchFamily="2" charset="0"/>
              </a:rPr>
              <a:t>,</a:t>
            </a:r>
            <a:r>
              <a:rPr lang="ru-RU" sz="1200" dirty="0">
                <a:solidFill>
                  <a:srgbClr val="002060"/>
                </a:solidFill>
                <a:latin typeface="Century Gothic" panose="020B0502020202020204" pitchFamily="34" charset="0"/>
                <a:ea typeface="Roboto" panose="02000000000000000000" pitchFamily="2" charset="0"/>
                <a:cs typeface="Roboto" panose="02000000000000000000" pitchFamily="2" charset="0"/>
              </a:rPr>
              <a:t> 2026</a:t>
            </a:r>
            <a:r>
              <a:rPr lang="ru-RU" sz="1200" spc="-40" dirty="0">
                <a:solidFill>
                  <a:srgbClr val="002060"/>
                </a:solidFill>
                <a:latin typeface="Century Gothic" panose="020B0502020202020204" pitchFamily="34" charset="0"/>
                <a:ea typeface="Roboto" panose="02000000000000000000" pitchFamily="2" charset="0"/>
                <a:cs typeface="Roboto" panose="02000000000000000000" pitchFamily="2" charset="0"/>
              </a:rPr>
              <a:t> </a:t>
            </a:r>
            <a:endParaRPr lang="ru-RU" sz="1200" dirty="0">
              <a:solidFill>
                <a:srgbClr val="002060"/>
              </a:solidFill>
              <a:latin typeface="Century Gothic" panose="020B0502020202020204" pitchFamily="34" charset="0"/>
              <a:ea typeface="Roboto" panose="02000000000000000000" pitchFamily="2" charset="0"/>
              <a:cs typeface="Roboto" panose="02000000000000000000" pitchFamily="2" charset="0"/>
            </a:endParaRPr>
          </a:p>
          <a:p>
            <a:pPr marL="193675" algn="ctr">
              <a:lnSpc>
                <a:spcPct val="100000"/>
              </a:lnSpc>
              <a:spcBef>
                <a:spcPts val="875"/>
              </a:spcBef>
            </a:pPr>
            <a:r>
              <a:rPr sz="1200" dirty="0">
                <a:solidFill>
                  <a:srgbClr val="002060"/>
                </a:solidFill>
                <a:latin typeface="Century Gothic" panose="020B0502020202020204" pitchFamily="34" charset="0"/>
                <a:ea typeface="Roboto" panose="02000000000000000000" pitchFamily="2" charset="0"/>
                <a:cs typeface="Roboto" panose="02000000000000000000" pitchFamily="2" charset="0"/>
              </a:rPr>
              <a:t>1</a:t>
            </a:r>
            <a:r>
              <a:rPr lang="ru-RU" sz="1200" dirty="0">
                <a:solidFill>
                  <a:srgbClr val="002060"/>
                </a:solidFill>
                <a:latin typeface="Century Gothic" panose="020B0502020202020204" pitchFamily="34" charset="0"/>
                <a:ea typeface="Roboto" panose="02000000000000000000" pitchFamily="2" charset="0"/>
                <a:cs typeface="Roboto" panose="02000000000000000000" pitchFamily="2" charset="0"/>
              </a:rPr>
              <a:t>1:00</a:t>
            </a:r>
            <a:r>
              <a:rPr sz="1200" spc="-40" dirty="0">
                <a:solidFill>
                  <a:srgbClr val="002060"/>
                </a:solidFill>
                <a:latin typeface="Century Gothic" panose="020B0502020202020204" pitchFamily="34" charset="0"/>
                <a:ea typeface="Roboto" panose="02000000000000000000" pitchFamily="2" charset="0"/>
                <a:cs typeface="Roboto" panose="02000000000000000000" pitchFamily="2" charset="0"/>
              </a:rPr>
              <a:t> </a:t>
            </a:r>
            <a:r>
              <a:rPr sz="1200" dirty="0">
                <a:solidFill>
                  <a:srgbClr val="002060"/>
                </a:solidFill>
                <a:latin typeface="Century Gothic" panose="020B0502020202020204" pitchFamily="34" charset="0"/>
                <a:ea typeface="Roboto" panose="02000000000000000000" pitchFamily="2" charset="0"/>
                <a:cs typeface="Roboto" panose="02000000000000000000" pitchFamily="2" charset="0"/>
              </a:rPr>
              <a:t>-</a:t>
            </a:r>
            <a:r>
              <a:rPr sz="1200" spc="-30" dirty="0">
                <a:solidFill>
                  <a:srgbClr val="002060"/>
                </a:solidFill>
                <a:latin typeface="Century Gothic" panose="020B0502020202020204" pitchFamily="34" charset="0"/>
                <a:ea typeface="Roboto" panose="02000000000000000000" pitchFamily="2" charset="0"/>
                <a:cs typeface="Roboto" panose="02000000000000000000" pitchFamily="2" charset="0"/>
              </a:rPr>
              <a:t> </a:t>
            </a:r>
            <a:r>
              <a:rPr sz="1200" dirty="0">
                <a:solidFill>
                  <a:srgbClr val="002060"/>
                </a:solidFill>
                <a:latin typeface="Century Gothic" panose="020B0502020202020204" pitchFamily="34" charset="0"/>
                <a:ea typeface="Roboto" panose="02000000000000000000" pitchFamily="2" charset="0"/>
                <a:cs typeface="Roboto" panose="02000000000000000000" pitchFamily="2" charset="0"/>
              </a:rPr>
              <a:t>1</a:t>
            </a:r>
            <a:r>
              <a:rPr lang="ru-RU" sz="1200" dirty="0">
                <a:solidFill>
                  <a:srgbClr val="002060"/>
                </a:solidFill>
                <a:latin typeface="Century Gothic" panose="020B0502020202020204" pitchFamily="34" charset="0"/>
                <a:ea typeface="Roboto" panose="02000000000000000000" pitchFamily="2" charset="0"/>
                <a:cs typeface="Roboto" panose="02000000000000000000" pitchFamily="2" charset="0"/>
              </a:rPr>
              <a:t>7</a:t>
            </a:r>
            <a:r>
              <a:rPr sz="1200" dirty="0">
                <a:solidFill>
                  <a:srgbClr val="002060"/>
                </a:solidFill>
                <a:latin typeface="Century Gothic" panose="020B0502020202020204" pitchFamily="34" charset="0"/>
                <a:ea typeface="Roboto" panose="02000000000000000000" pitchFamily="2" charset="0"/>
                <a:cs typeface="Roboto" panose="02000000000000000000" pitchFamily="2" charset="0"/>
              </a:rPr>
              <a:t>:00</a:t>
            </a:r>
            <a:r>
              <a:rPr sz="1200" spc="-35" dirty="0">
                <a:solidFill>
                  <a:srgbClr val="002060"/>
                </a:solidFill>
                <a:latin typeface="Century Gothic" panose="020B0502020202020204" pitchFamily="34" charset="0"/>
                <a:ea typeface="Roboto" panose="02000000000000000000" pitchFamily="2" charset="0"/>
                <a:cs typeface="Roboto" panose="02000000000000000000" pitchFamily="2" charset="0"/>
              </a:rPr>
              <a:t> </a:t>
            </a:r>
            <a:endParaRPr lang="ru-RU" sz="1200" spc="-35" dirty="0">
              <a:solidFill>
                <a:srgbClr val="002060"/>
              </a:solidFill>
              <a:latin typeface="Century Gothic" panose="020B0502020202020204" pitchFamily="34" charset="0"/>
              <a:ea typeface="Roboto" panose="02000000000000000000" pitchFamily="2" charset="0"/>
              <a:cs typeface="Roboto" panose="02000000000000000000" pitchFamily="2" charset="0"/>
            </a:endParaRPr>
          </a:p>
          <a:p>
            <a:pPr algn="ctr">
              <a:lnSpc>
                <a:spcPct val="100000"/>
              </a:lnSpc>
            </a:pPr>
            <a:endParaRPr lang="ru-RU" sz="1100" dirty="0">
              <a:solidFill>
                <a:srgbClr val="002060"/>
              </a:solidFill>
              <a:latin typeface="Century Gothic" panose="020B0502020202020204" pitchFamily="34" charset="0"/>
              <a:ea typeface="Roboto" panose="02000000000000000000" pitchFamily="2" charset="0"/>
              <a:cs typeface="Roboto" panose="02000000000000000000" pitchFamily="2" charset="0"/>
            </a:endParaRPr>
          </a:p>
          <a:p>
            <a:pPr algn="ctr">
              <a:lnSpc>
                <a:spcPct val="100000"/>
              </a:lnSpc>
            </a:pPr>
            <a:r>
              <a:rPr sz="1100" dirty="0">
                <a:solidFill>
                  <a:srgbClr val="002060"/>
                </a:solidFill>
                <a:latin typeface="Century Gothic" panose="020B0502020202020204" pitchFamily="34" charset="0"/>
                <a:ea typeface="Roboto" panose="02000000000000000000" pitchFamily="2" charset="0"/>
                <a:cs typeface="Roboto" panose="02000000000000000000" pitchFamily="2" charset="0"/>
              </a:rPr>
              <a:t>(</a:t>
            </a:r>
            <a:r>
              <a:rPr lang="de-DE" sz="1100" dirty="0" err="1">
                <a:solidFill>
                  <a:srgbClr val="002060"/>
                </a:solidFill>
                <a:latin typeface="Century Gothic" panose="020B0502020202020204" pitchFamily="34" charset="0"/>
                <a:ea typeface="Roboto" panose="02000000000000000000" pitchFamily="2" charset="0"/>
                <a:cs typeface="Roboto" panose="02000000000000000000" pitchFamily="2" charset="0"/>
              </a:rPr>
              <a:t>Simultaneous</a:t>
            </a:r>
            <a:r>
              <a:rPr lang="de-DE" sz="1100" dirty="0">
                <a:solidFill>
                  <a:srgbClr val="002060"/>
                </a:solidFill>
                <a:latin typeface="Century Gothic" panose="020B0502020202020204" pitchFamily="34" charset="0"/>
                <a:ea typeface="Roboto" panose="02000000000000000000" pitchFamily="2" charset="0"/>
                <a:cs typeface="Roboto" panose="02000000000000000000" pitchFamily="2" charset="0"/>
              </a:rPr>
              <a:t> </a:t>
            </a:r>
            <a:r>
              <a:rPr lang="de-DE" sz="1100" dirty="0" err="1">
                <a:solidFill>
                  <a:srgbClr val="002060"/>
                </a:solidFill>
                <a:latin typeface="Century Gothic" panose="020B0502020202020204" pitchFamily="34" charset="0"/>
                <a:ea typeface="Roboto" panose="02000000000000000000" pitchFamily="2" charset="0"/>
                <a:cs typeface="Roboto" panose="02000000000000000000" pitchFamily="2" charset="0"/>
              </a:rPr>
              <a:t>interpretation</a:t>
            </a:r>
            <a:r>
              <a:rPr lang="de-DE" sz="1100" dirty="0">
                <a:solidFill>
                  <a:srgbClr val="002060"/>
                </a:solidFill>
                <a:latin typeface="Century Gothic" panose="020B0502020202020204" pitchFamily="34" charset="0"/>
                <a:ea typeface="Roboto" panose="02000000000000000000" pitchFamily="2" charset="0"/>
                <a:cs typeface="Roboto" panose="02000000000000000000" pitchFamily="2" charset="0"/>
              </a:rPr>
              <a:t>: German ↔ </a:t>
            </a:r>
            <a:r>
              <a:rPr lang="de-DE" sz="1100" dirty="0" err="1">
                <a:solidFill>
                  <a:srgbClr val="002060"/>
                </a:solidFill>
                <a:latin typeface="Century Gothic" panose="020B0502020202020204" pitchFamily="34" charset="0"/>
                <a:ea typeface="Roboto" panose="02000000000000000000" pitchFamily="2" charset="0"/>
                <a:cs typeface="Roboto" panose="02000000000000000000" pitchFamily="2" charset="0"/>
              </a:rPr>
              <a:t>Kazakh</a:t>
            </a:r>
            <a:r>
              <a:rPr lang="de-DE" sz="1100" dirty="0">
                <a:solidFill>
                  <a:srgbClr val="002060"/>
                </a:solidFill>
                <a:latin typeface="Century Gothic" panose="020B0502020202020204" pitchFamily="34" charset="0"/>
                <a:ea typeface="Roboto" panose="02000000000000000000" pitchFamily="2" charset="0"/>
                <a:cs typeface="Roboto" panose="02000000000000000000" pitchFamily="2" charset="0"/>
              </a:rPr>
              <a:t>/Russian</a:t>
            </a:r>
            <a:r>
              <a:rPr lang="ru-RU" sz="1100" spc="-10" dirty="0">
                <a:solidFill>
                  <a:srgbClr val="002060"/>
                </a:solidFill>
                <a:latin typeface="Century Gothic" panose="020B0502020202020204" pitchFamily="34" charset="0"/>
                <a:ea typeface="Roboto" panose="02000000000000000000" pitchFamily="2" charset="0"/>
                <a:cs typeface="Roboto" panose="02000000000000000000" pitchFamily="2" charset="0"/>
              </a:rPr>
              <a:t>)</a:t>
            </a:r>
            <a:endParaRPr lang="ru-RU" sz="1100" dirty="0">
              <a:solidFill>
                <a:srgbClr val="002060"/>
              </a:solidFill>
              <a:latin typeface="Century Gothic" panose="020B0502020202020204" pitchFamily="34" charset="0"/>
              <a:ea typeface="Roboto" panose="02000000000000000000" pitchFamily="2" charset="0"/>
              <a:cs typeface="Roboto" panose="02000000000000000000" pitchFamily="2" charset="0"/>
            </a:endParaRPr>
          </a:p>
          <a:p>
            <a:pPr>
              <a:lnSpc>
                <a:spcPct val="100000"/>
              </a:lnSpc>
              <a:spcBef>
                <a:spcPts val="50"/>
              </a:spcBef>
            </a:pPr>
            <a:endParaRPr sz="1100" dirty="0">
              <a:solidFill>
                <a:srgbClr val="002060"/>
              </a:solidFill>
              <a:latin typeface="Century Gothic" panose="020B0502020202020204" pitchFamily="34" charset="0"/>
              <a:ea typeface="Roboto" panose="02000000000000000000" pitchFamily="2" charset="0"/>
              <a:cs typeface="Roboto" panose="02000000000000000000" pitchFamily="2" charset="0"/>
            </a:endParaRPr>
          </a:p>
          <a:p>
            <a:pPr marL="80645" algn="ctr">
              <a:lnSpc>
                <a:spcPct val="100000"/>
              </a:lnSpc>
            </a:pPr>
            <a:r>
              <a:rPr lang="en-US" sz="1400" u="sng" dirty="0">
                <a:solidFill>
                  <a:srgbClr val="002060"/>
                </a:solidFill>
                <a:latin typeface="Century Gothic" panose="020B0502020202020204" pitchFamily="34" charset="0"/>
                <a:ea typeface="Roboto" panose="02000000000000000000" pitchFamily="2" charset="0"/>
                <a:cs typeface="Roboto" panose="02000000000000000000" pitchFamily="2" charset="0"/>
              </a:rPr>
              <a:t>Evening Reception to follow</a:t>
            </a:r>
          </a:p>
          <a:p>
            <a:pPr marL="80645" algn="ctr">
              <a:lnSpc>
                <a:spcPct val="100000"/>
              </a:lnSpc>
            </a:pPr>
            <a:endParaRPr lang="en-US" sz="1400" u="sng" dirty="0">
              <a:solidFill>
                <a:srgbClr val="002060"/>
              </a:solidFill>
              <a:latin typeface="Century Gothic" panose="020B0502020202020204" pitchFamily="34" charset="0"/>
              <a:ea typeface="Roboto" panose="02000000000000000000" pitchFamily="2" charset="0"/>
              <a:cs typeface="Roboto" panose="02000000000000000000" pitchFamily="2" charset="0"/>
            </a:endParaRPr>
          </a:p>
          <a:p>
            <a:pPr marL="80645" algn="ctr">
              <a:lnSpc>
                <a:spcPct val="100000"/>
              </a:lnSpc>
            </a:pPr>
            <a:endParaRPr sz="1400" dirty="0">
              <a:solidFill>
                <a:srgbClr val="002060"/>
              </a:solidFill>
              <a:latin typeface="Century Gothic" panose="020B0502020202020204" pitchFamily="34" charset="0"/>
              <a:ea typeface="Roboto" panose="02000000000000000000" pitchFamily="2" charset="0"/>
              <a:cs typeface="Roboto" panose="02000000000000000000" pitchFamily="2" charset="0"/>
            </a:endParaRPr>
          </a:p>
          <a:p>
            <a:pPr marL="12700">
              <a:lnSpc>
                <a:spcPct val="100000"/>
              </a:lnSpc>
            </a:pPr>
            <a:r>
              <a:rPr lang="en-US" sz="1400" dirty="0">
                <a:solidFill>
                  <a:srgbClr val="002060"/>
                </a:solidFill>
                <a:latin typeface="Century Gothic" panose="020B0502020202020204" pitchFamily="34" charset="0"/>
                <a:ea typeface="Roboto" panose="02000000000000000000" pitchFamily="2" charset="0"/>
                <a:cs typeface="Roboto" panose="02000000000000000000" pitchFamily="2" charset="0"/>
              </a:rPr>
              <a:t>The Forum is organized in partnership with</a:t>
            </a:r>
            <a:endParaRPr sz="1400" dirty="0">
              <a:solidFill>
                <a:srgbClr val="002060"/>
              </a:solidFill>
              <a:latin typeface="Century Gothic" panose="020B0502020202020204" pitchFamily="34" charset="0"/>
              <a:ea typeface="Roboto" panose="02000000000000000000" pitchFamily="2" charset="0"/>
              <a:cs typeface="Roboto" panose="02000000000000000000" pitchFamily="2" charset="0"/>
            </a:endParaRPr>
          </a:p>
        </p:txBody>
      </p:sp>
      <p:pic>
        <p:nvPicPr>
          <p:cNvPr id="7" name="Picture 6">
            <a:extLst>
              <a:ext uri="{FF2B5EF4-FFF2-40B4-BE49-F238E27FC236}">
                <a16:creationId xmlns:a16="http://schemas.microsoft.com/office/drawing/2014/main" id="{E4141A2C-8A6B-DF1C-BECD-E4EFCBF531C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64351" y="5619643"/>
            <a:ext cx="936162" cy="757687"/>
          </a:xfrm>
          <a:prstGeom prst="rect">
            <a:avLst/>
          </a:prstGeom>
          <a:noFill/>
          <a:extLst>
            <a:ext uri="{909E8E84-426E-40DD-AFC4-6F175D3DCCD1}">
              <a14:hiddenFill xmlns:a14="http://schemas.microsoft.com/office/drawing/2010/main">
                <a:solidFill>
                  <a:srgbClr val="FFFFFF"/>
                </a:solidFill>
              </a14:hiddenFill>
            </a:ext>
          </a:extLst>
        </p:spPr>
      </p:pic>
      <p:sp>
        <p:nvSpPr>
          <p:cNvPr id="9" name="object 2">
            <a:extLst>
              <a:ext uri="{FF2B5EF4-FFF2-40B4-BE49-F238E27FC236}">
                <a16:creationId xmlns:a16="http://schemas.microsoft.com/office/drawing/2014/main" id="{6C344BBE-2F68-19AA-01B2-777B70519181}"/>
              </a:ext>
            </a:extLst>
          </p:cNvPr>
          <p:cNvSpPr txBox="1"/>
          <p:nvPr/>
        </p:nvSpPr>
        <p:spPr>
          <a:xfrm>
            <a:off x="597204" y="9036204"/>
            <a:ext cx="885825" cy="198131"/>
          </a:xfrm>
          <a:prstGeom prst="rect">
            <a:avLst/>
          </a:prstGeom>
        </p:spPr>
        <p:txBody>
          <a:bodyPr vert="horz" wrap="square" lIns="0" tIns="13335" rIns="0" bIns="0" rtlCol="0">
            <a:spAutoFit/>
          </a:bodyPr>
          <a:lstStyle/>
          <a:p>
            <a:pPr marL="12700">
              <a:lnSpc>
                <a:spcPct val="100000"/>
              </a:lnSpc>
              <a:spcBef>
                <a:spcPts val="105"/>
              </a:spcBef>
            </a:pPr>
            <a:r>
              <a:rPr lang="en-US" sz="1200" b="1" spc="50" dirty="0">
                <a:solidFill>
                  <a:srgbClr val="FFFFFF"/>
                </a:solidFill>
                <a:latin typeface="Century Gothic" panose="020B0502020202020204" pitchFamily="34" charset="0"/>
                <a:ea typeface="Roboto" panose="02000000000000000000" pitchFamily="2" charset="0"/>
                <a:cs typeface="Roboto" panose="02000000000000000000" pitchFamily="2" charset="0"/>
              </a:rPr>
              <a:t>Contacts</a:t>
            </a:r>
            <a:r>
              <a:rPr sz="1200" b="1" spc="50" dirty="0">
                <a:solidFill>
                  <a:srgbClr val="FFFFFF"/>
                </a:solidFill>
                <a:latin typeface="Century Gothic" panose="020B0502020202020204" pitchFamily="34" charset="0"/>
                <a:ea typeface="Roboto" panose="02000000000000000000" pitchFamily="2" charset="0"/>
                <a:cs typeface="Roboto" panose="02000000000000000000" pitchFamily="2" charset="0"/>
              </a:rPr>
              <a:t>:</a:t>
            </a:r>
            <a:endParaRPr sz="1200" dirty="0">
              <a:latin typeface="Century Gothic" panose="020B0502020202020204" pitchFamily="34" charset="0"/>
              <a:ea typeface="Roboto" panose="02000000000000000000" pitchFamily="2" charset="0"/>
              <a:cs typeface="Roboto" panose="02000000000000000000" pitchFamily="2" charset="0"/>
            </a:endParaRPr>
          </a:p>
        </p:txBody>
      </p:sp>
      <p:sp>
        <p:nvSpPr>
          <p:cNvPr id="10" name="object 3">
            <a:extLst>
              <a:ext uri="{FF2B5EF4-FFF2-40B4-BE49-F238E27FC236}">
                <a16:creationId xmlns:a16="http://schemas.microsoft.com/office/drawing/2014/main" id="{1EE2E2F0-CF6B-1035-336A-9D9B699D7578}"/>
              </a:ext>
            </a:extLst>
          </p:cNvPr>
          <p:cNvSpPr txBox="1"/>
          <p:nvPr/>
        </p:nvSpPr>
        <p:spPr>
          <a:xfrm>
            <a:off x="1677670" y="8998104"/>
            <a:ext cx="5067935" cy="226344"/>
          </a:xfrm>
          <a:prstGeom prst="rect">
            <a:avLst/>
          </a:prstGeom>
        </p:spPr>
        <p:txBody>
          <a:bodyPr vert="horz" wrap="square" lIns="0" tIns="46355" rIns="0" bIns="0" rtlCol="0">
            <a:spAutoFit/>
          </a:bodyPr>
          <a:lstStyle/>
          <a:p>
            <a:pPr marL="12700" marR="5080">
              <a:lnSpc>
                <a:spcPts val="1420"/>
              </a:lnSpc>
              <a:spcBef>
                <a:spcPts val="365"/>
              </a:spcBef>
            </a:pPr>
            <a:r>
              <a:rPr lang="de-DE" sz="1200" spc="-10" dirty="0" err="1">
                <a:solidFill>
                  <a:schemeClr val="bg1"/>
                </a:solidFill>
                <a:latin typeface="Century Gothic" panose="020B0502020202020204" pitchFamily="34" charset="0"/>
                <a:ea typeface="Roboto" panose="02000000000000000000" pitchFamily="2" charset="0"/>
                <a:cs typeface="Roboto" panose="02000000000000000000" pitchFamily="2" charset="0"/>
                <a:hlinkClick r:id="rId4">
                  <a:extLst>
                    <a:ext uri="{A12FA001-AC4F-418D-AE19-62706E023703}">
                      <ahyp:hlinkClr xmlns:ahyp="http://schemas.microsoft.com/office/drawing/2018/hyperlinkcolor" val="tx"/>
                    </a:ext>
                  </a:extLst>
                </a:hlinkClick>
              </a:rPr>
              <a:t>z.tymbayeva@satbayev.university</a:t>
            </a:r>
            <a:r>
              <a:rPr lang="en-US" sz="1200" spc="-10" dirty="0">
                <a:solidFill>
                  <a:schemeClr val="bg1"/>
                </a:solidFill>
                <a:latin typeface="Century Gothic" panose="020B0502020202020204" pitchFamily="34" charset="0"/>
                <a:ea typeface="Roboto" panose="02000000000000000000" pitchFamily="2" charset="0"/>
                <a:cs typeface="Roboto" panose="02000000000000000000" pitchFamily="2" charset="0"/>
              </a:rPr>
              <a:t>; </a:t>
            </a:r>
            <a:r>
              <a:rPr lang="ru-RU" sz="1200" b="0" i="0" dirty="0">
                <a:solidFill>
                  <a:schemeClr val="bg1"/>
                </a:solidFill>
                <a:effectLst/>
                <a:latin typeface="Century Gothic" panose="020B0502020202020204" pitchFamily="34" charset="0"/>
              </a:rPr>
              <a:t>+7-772-725-7718</a:t>
            </a:r>
            <a:endParaRPr sz="1200" dirty="0">
              <a:solidFill>
                <a:schemeClr val="bg1"/>
              </a:solidFill>
              <a:latin typeface="Century Gothic" panose="020B0502020202020204" pitchFamily="34" charset="0"/>
              <a:ea typeface="Roboto" panose="02000000000000000000" pitchFamily="2" charset="0"/>
              <a:cs typeface="Roboto" panose="02000000000000000000" pitchFamily="2" charset="0"/>
            </a:endParaRPr>
          </a:p>
        </p:txBody>
      </p:sp>
      <p:sp>
        <p:nvSpPr>
          <p:cNvPr id="12" name="object 5">
            <a:extLst>
              <a:ext uri="{FF2B5EF4-FFF2-40B4-BE49-F238E27FC236}">
                <a16:creationId xmlns:a16="http://schemas.microsoft.com/office/drawing/2014/main" id="{194EBCC0-0A1A-4134-C703-BD858BD8B92A}"/>
              </a:ext>
            </a:extLst>
          </p:cNvPr>
          <p:cNvSpPr txBox="1"/>
          <p:nvPr/>
        </p:nvSpPr>
        <p:spPr>
          <a:xfrm>
            <a:off x="3976688" y="7574814"/>
            <a:ext cx="3233551" cy="1185581"/>
          </a:xfrm>
          <a:prstGeom prst="rect">
            <a:avLst/>
          </a:prstGeom>
        </p:spPr>
        <p:txBody>
          <a:bodyPr vert="horz" wrap="square" lIns="0" tIns="13335" rIns="0" bIns="0" rtlCol="0">
            <a:spAutoFit/>
          </a:bodyPr>
          <a:lstStyle/>
          <a:p>
            <a:pPr marL="12700">
              <a:lnSpc>
                <a:spcPct val="100000"/>
              </a:lnSpc>
              <a:spcBef>
                <a:spcPts val="105"/>
              </a:spcBef>
            </a:pPr>
            <a:r>
              <a:rPr lang="de-DE" sz="1200" b="1" spc="-10" dirty="0" err="1">
                <a:solidFill>
                  <a:srgbClr val="FFFFFF"/>
                </a:solidFill>
                <a:latin typeface="Century Gothic" panose="020B0502020202020204" pitchFamily="34" charset="0"/>
                <a:ea typeface="Roboto" panose="02000000000000000000" pitchFamily="2" charset="0"/>
                <a:cs typeface="Roboto" panose="02000000000000000000" pitchFamily="2" charset="0"/>
              </a:rPr>
              <a:t>Venue</a:t>
            </a:r>
            <a:r>
              <a:rPr lang="de-DE" sz="1200" b="1" spc="-10" dirty="0">
                <a:solidFill>
                  <a:srgbClr val="FFFFFF"/>
                </a:solidFill>
                <a:latin typeface="Century Gothic" panose="020B0502020202020204" pitchFamily="34" charset="0"/>
                <a:ea typeface="Roboto" panose="02000000000000000000" pitchFamily="2" charset="0"/>
                <a:cs typeface="Roboto" panose="02000000000000000000" pitchFamily="2" charset="0"/>
              </a:rPr>
              <a:t>:</a:t>
            </a:r>
          </a:p>
          <a:p>
            <a:pPr marL="12700">
              <a:lnSpc>
                <a:spcPct val="100000"/>
              </a:lnSpc>
              <a:spcBef>
                <a:spcPts val="105"/>
              </a:spcBef>
            </a:pPr>
            <a:r>
              <a:rPr lang="de-DE" sz="1200" spc="-10" dirty="0" err="1">
                <a:solidFill>
                  <a:srgbClr val="FFFFFF"/>
                </a:solidFill>
                <a:latin typeface="Century Gothic" panose="020B0502020202020204" pitchFamily="34" charset="0"/>
                <a:ea typeface="Roboto" panose="02000000000000000000" pitchFamily="2" charset="0"/>
                <a:cs typeface="Roboto" panose="02000000000000000000" pitchFamily="2" charset="0"/>
              </a:rPr>
              <a:t>Satbayev</a:t>
            </a:r>
            <a:r>
              <a:rPr lang="de-DE" sz="1200" spc="-10" dirty="0">
                <a:solidFill>
                  <a:srgbClr val="FFFFFF"/>
                </a:solidFill>
                <a:latin typeface="Century Gothic" panose="020B0502020202020204" pitchFamily="34" charset="0"/>
                <a:ea typeface="Roboto" panose="02000000000000000000" pitchFamily="2" charset="0"/>
                <a:cs typeface="Roboto" panose="02000000000000000000" pitchFamily="2" charset="0"/>
              </a:rPr>
              <a:t> University</a:t>
            </a:r>
          </a:p>
          <a:p>
            <a:pPr marL="12700">
              <a:lnSpc>
                <a:spcPct val="100000"/>
              </a:lnSpc>
              <a:spcBef>
                <a:spcPts val="105"/>
              </a:spcBef>
            </a:pPr>
            <a:r>
              <a:rPr lang="en-US" sz="1200" spc="-10" dirty="0" err="1">
                <a:solidFill>
                  <a:srgbClr val="FFFFFF"/>
                </a:solidFill>
                <a:latin typeface="Century Gothic" panose="020B0502020202020204" pitchFamily="34" charset="0"/>
                <a:ea typeface="Roboto" panose="02000000000000000000" pitchFamily="2" charset="0"/>
                <a:cs typeface="Roboto" panose="02000000000000000000" pitchFamily="2" charset="0"/>
              </a:rPr>
              <a:t>Audidorium</a:t>
            </a:r>
            <a:r>
              <a:rPr lang="en-US" sz="1200" spc="-10" dirty="0">
                <a:solidFill>
                  <a:srgbClr val="FFFFFF"/>
                </a:solidFill>
                <a:latin typeface="Century Gothic" panose="020B0502020202020204" pitchFamily="34" charset="0"/>
                <a:ea typeface="Roboto" panose="02000000000000000000" pitchFamily="2" charset="0"/>
                <a:cs typeface="Roboto" panose="02000000000000000000" pitchFamily="2" charset="0"/>
              </a:rPr>
              <a:t> 343, K. </a:t>
            </a:r>
            <a:r>
              <a:rPr lang="en-US" sz="1200" spc="-10" dirty="0" err="1">
                <a:solidFill>
                  <a:srgbClr val="FFFFFF"/>
                </a:solidFill>
                <a:latin typeface="Century Gothic" panose="020B0502020202020204" pitchFamily="34" charset="0"/>
                <a:ea typeface="Roboto" panose="02000000000000000000" pitchFamily="2" charset="0"/>
                <a:cs typeface="Roboto" panose="02000000000000000000" pitchFamily="2" charset="0"/>
              </a:rPr>
              <a:t>Turysov</a:t>
            </a:r>
            <a:r>
              <a:rPr lang="en-US" sz="1200" spc="-10" dirty="0">
                <a:solidFill>
                  <a:srgbClr val="FFFFFF"/>
                </a:solidFill>
                <a:latin typeface="Century Gothic" panose="020B0502020202020204" pitchFamily="34" charset="0"/>
                <a:ea typeface="Roboto" panose="02000000000000000000" pitchFamily="2" charset="0"/>
                <a:cs typeface="Roboto" panose="02000000000000000000" pitchFamily="2" charset="0"/>
              </a:rPr>
              <a:t> Assembly Hall</a:t>
            </a:r>
            <a:endParaRPr lang="de-DE" sz="1200" spc="-10" dirty="0">
              <a:solidFill>
                <a:srgbClr val="FFFFFF"/>
              </a:solidFill>
              <a:latin typeface="Century Gothic" panose="020B0502020202020204" pitchFamily="34" charset="0"/>
              <a:ea typeface="Roboto" panose="02000000000000000000" pitchFamily="2" charset="0"/>
              <a:cs typeface="Roboto" panose="02000000000000000000" pitchFamily="2" charset="0"/>
            </a:endParaRPr>
          </a:p>
          <a:p>
            <a:pPr marL="12700">
              <a:lnSpc>
                <a:spcPct val="100000"/>
              </a:lnSpc>
              <a:spcBef>
                <a:spcPts val="105"/>
              </a:spcBef>
            </a:pPr>
            <a:r>
              <a:rPr lang="de-DE" sz="1200" spc="-10" dirty="0">
                <a:solidFill>
                  <a:srgbClr val="FFFFFF"/>
                </a:solidFill>
                <a:latin typeface="Century Gothic" panose="020B0502020202020204" pitchFamily="34" charset="0"/>
                <a:ea typeface="Roboto" panose="02000000000000000000" pitchFamily="2" charset="0"/>
                <a:cs typeface="Roboto" panose="02000000000000000000" pitchFamily="2" charset="0"/>
              </a:rPr>
              <a:t>22 </a:t>
            </a:r>
            <a:r>
              <a:rPr lang="de-DE" sz="1200" spc="-10" dirty="0" err="1">
                <a:solidFill>
                  <a:srgbClr val="FFFFFF"/>
                </a:solidFill>
                <a:latin typeface="Century Gothic" panose="020B0502020202020204" pitchFamily="34" charset="0"/>
                <a:ea typeface="Roboto" panose="02000000000000000000" pitchFamily="2" charset="0"/>
                <a:cs typeface="Roboto" panose="02000000000000000000" pitchFamily="2" charset="0"/>
              </a:rPr>
              <a:t>Satpayev</a:t>
            </a:r>
            <a:r>
              <a:rPr lang="de-DE" sz="1200" spc="-10" dirty="0">
                <a:solidFill>
                  <a:srgbClr val="FFFFFF"/>
                </a:solidFill>
                <a:latin typeface="Century Gothic" panose="020B0502020202020204" pitchFamily="34" charset="0"/>
                <a:ea typeface="Roboto" panose="02000000000000000000" pitchFamily="2" charset="0"/>
                <a:cs typeface="Roboto" panose="02000000000000000000" pitchFamily="2" charset="0"/>
              </a:rPr>
              <a:t> Street </a:t>
            </a:r>
          </a:p>
          <a:p>
            <a:pPr marL="12700">
              <a:lnSpc>
                <a:spcPct val="100000"/>
              </a:lnSpc>
              <a:spcBef>
                <a:spcPts val="105"/>
              </a:spcBef>
            </a:pPr>
            <a:r>
              <a:rPr lang="de-DE" sz="1200" spc="-10" dirty="0">
                <a:solidFill>
                  <a:srgbClr val="FFFFFF"/>
                </a:solidFill>
                <a:latin typeface="Century Gothic" panose="020B0502020202020204" pitchFamily="34" charset="0"/>
                <a:ea typeface="Roboto" panose="02000000000000000000" pitchFamily="2" charset="0"/>
                <a:cs typeface="Roboto" panose="02000000000000000000" pitchFamily="2" charset="0"/>
              </a:rPr>
              <a:t>Almaty</a:t>
            </a:r>
          </a:p>
          <a:p>
            <a:pPr marL="12700">
              <a:lnSpc>
                <a:spcPct val="100000"/>
              </a:lnSpc>
              <a:spcBef>
                <a:spcPts val="105"/>
              </a:spcBef>
            </a:pPr>
            <a:r>
              <a:rPr lang="de-DE" sz="1200" spc="-10" dirty="0" err="1">
                <a:solidFill>
                  <a:srgbClr val="FFFFFF"/>
                </a:solidFill>
                <a:latin typeface="Century Gothic" panose="020B0502020202020204" pitchFamily="34" charset="0"/>
                <a:ea typeface="Roboto" panose="02000000000000000000" pitchFamily="2" charset="0"/>
                <a:cs typeface="Roboto" panose="02000000000000000000" pitchFamily="2" charset="0"/>
              </a:rPr>
              <a:t>Republic</a:t>
            </a:r>
            <a:r>
              <a:rPr lang="de-DE" sz="1200" spc="-10" dirty="0">
                <a:solidFill>
                  <a:srgbClr val="FFFFFF"/>
                </a:solidFill>
                <a:latin typeface="Century Gothic" panose="020B0502020202020204" pitchFamily="34" charset="0"/>
                <a:ea typeface="Roboto" panose="02000000000000000000" pitchFamily="2" charset="0"/>
                <a:cs typeface="Roboto" panose="02000000000000000000" pitchFamily="2" charset="0"/>
              </a:rPr>
              <a:t> of </a:t>
            </a:r>
            <a:r>
              <a:rPr lang="de-DE" sz="1200" spc="-10" dirty="0" err="1">
                <a:solidFill>
                  <a:srgbClr val="FFFFFF"/>
                </a:solidFill>
                <a:latin typeface="Century Gothic" panose="020B0502020202020204" pitchFamily="34" charset="0"/>
                <a:ea typeface="Roboto" panose="02000000000000000000" pitchFamily="2" charset="0"/>
                <a:cs typeface="Roboto" panose="02000000000000000000" pitchFamily="2" charset="0"/>
              </a:rPr>
              <a:t>Kazakhstan</a:t>
            </a:r>
            <a:endParaRPr sz="1200" dirty="0">
              <a:latin typeface="Century Gothic" panose="020B0502020202020204" pitchFamily="34" charset="0"/>
              <a:ea typeface="Roboto" panose="02000000000000000000" pitchFamily="2" charset="0"/>
              <a:cs typeface="Roboto" panose="02000000000000000000" pitchFamily="2" charset="0"/>
            </a:endParaRPr>
          </a:p>
        </p:txBody>
      </p:sp>
      <p:sp>
        <p:nvSpPr>
          <p:cNvPr id="13" name="object 6">
            <a:extLst>
              <a:ext uri="{FF2B5EF4-FFF2-40B4-BE49-F238E27FC236}">
                <a16:creationId xmlns:a16="http://schemas.microsoft.com/office/drawing/2014/main" id="{460C1B4A-591F-4943-549C-7FC876AF47C7}"/>
              </a:ext>
            </a:extLst>
          </p:cNvPr>
          <p:cNvSpPr txBox="1"/>
          <p:nvPr/>
        </p:nvSpPr>
        <p:spPr>
          <a:xfrm>
            <a:off x="597204" y="7574815"/>
            <a:ext cx="2926715" cy="1185581"/>
          </a:xfrm>
          <a:prstGeom prst="rect">
            <a:avLst/>
          </a:prstGeom>
        </p:spPr>
        <p:txBody>
          <a:bodyPr vert="horz" wrap="square" lIns="0" tIns="13335" rIns="0" bIns="0" rtlCol="0">
            <a:spAutoFit/>
          </a:bodyPr>
          <a:lstStyle/>
          <a:p>
            <a:pPr marL="12700">
              <a:spcBef>
                <a:spcPts val="105"/>
              </a:spcBef>
            </a:pPr>
            <a:r>
              <a:rPr lang="en-US" sz="1200" spc="-10" dirty="0">
                <a:solidFill>
                  <a:srgbClr val="FFFFFF"/>
                </a:solidFill>
                <a:latin typeface="Century Gothic" panose="020B0502020202020204" pitchFamily="34" charset="0"/>
                <a:ea typeface="Roboto" panose="02000000000000000000" pitchFamily="2" charset="0"/>
                <a:cs typeface="Roboto" panose="02000000000000000000" pitchFamily="2" charset="0"/>
              </a:rPr>
              <a:t>Registration</a:t>
            </a:r>
          </a:p>
          <a:p>
            <a:pPr marL="12700">
              <a:spcBef>
                <a:spcPts val="105"/>
              </a:spcBef>
            </a:pPr>
            <a:r>
              <a:rPr lang="en-US" sz="1200" spc="-10" dirty="0">
                <a:solidFill>
                  <a:srgbClr val="FFFFFF"/>
                </a:solidFill>
                <a:latin typeface="Century Gothic" panose="020B0502020202020204" pitchFamily="34" charset="0"/>
                <a:ea typeface="Roboto" panose="02000000000000000000" pitchFamily="2" charset="0"/>
                <a:cs typeface="Roboto" panose="02000000000000000000" pitchFamily="2" charset="0"/>
              </a:rPr>
              <a:t>Welcome Remarks</a:t>
            </a:r>
          </a:p>
          <a:p>
            <a:pPr marL="12700">
              <a:spcBef>
                <a:spcPts val="105"/>
              </a:spcBef>
            </a:pPr>
            <a:r>
              <a:rPr lang="en-US" sz="1200" spc="-10" dirty="0">
                <a:solidFill>
                  <a:srgbClr val="FFFFFF"/>
                </a:solidFill>
                <a:latin typeface="Century Gothic" panose="020B0502020202020204" pitchFamily="34" charset="0"/>
                <a:ea typeface="Roboto" panose="02000000000000000000" pitchFamily="2" charset="0"/>
                <a:cs typeface="Roboto" panose="02000000000000000000" pitchFamily="2" charset="0"/>
              </a:rPr>
              <a:t>Plenary Session</a:t>
            </a:r>
          </a:p>
          <a:p>
            <a:pPr marL="12700">
              <a:spcBef>
                <a:spcPts val="105"/>
              </a:spcBef>
            </a:pPr>
            <a:r>
              <a:rPr lang="en-US" sz="1200" spc="-10" dirty="0">
                <a:solidFill>
                  <a:srgbClr val="FFFFFF"/>
                </a:solidFill>
                <a:latin typeface="Century Gothic" panose="020B0502020202020204" pitchFamily="34" charset="0"/>
                <a:ea typeface="Roboto" panose="02000000000000000000" pitchFamily="2" charset="0"/>
                <a:cs typeface="Roboto" panose="02000000000000000000" pitchFamily="2" charset="0"/>
              </a:rPr>
              <a:t>Open Discussion</a:t>
            </a:r>
          </a:p>
          <a:p>
            <a:pPr marL="12700">
              <a:spcBef>
                <a:spcPts val="105"/>
              </a:spcBef>
            </a:pPr>
            <a:r>
              <a:rPr lang="en-US" sz="1200" spc="-10" dirty="0">
                <a:solidFill>
                  <a:srgbClr val="FFFFFF"/>
                </a:solidFill>
                <a:latin typeface="Century Gothic" panose="020B0502020202020204" pitchFamily="34" charset="0"/>
                <a:ea typeface="Roboto" panose="02000000000000000000" pitchFamily="2" charset="0"/>
                <a:cs typeface="Roboto" panose="02000000000000000000" pitchFamily="2" charset="0"/>
              </a:rPr>
              <a:t>B2B Meetings</a:t>
            </a:r>
          </a:p>
          <a:p>
            <a:pPr marL="12700">
              <a:spcBef>
                <a:spcPts val="105"/>
              </a:spcBef>
            </a:pPr>
            <a:r>
              <a:rPr lang="en-US" sz="1200" spc="-10" dirty="0">
                <a:solidFill>
                  <a:srgbClr val="FFFFFF"/>
                </a:solidFill>
                <a:latin typeface="Century Gothic" panose="020B0502020202020204" pitchFamily="34" charset="0"/>
                <a:ea typeface="Roboto" panose="02000000000000000000" pitchFamily="2" charset="0"/>
                <a:cs typeface="Roboto" panose="02000000000000000000" pitchFamily="2" charset="0"/>
              </a:rPr>
              <a:t>Evening Reception</a:t>
            </a:r>
            <a:endParaRPr sz="1200" dirty="0">
              <a:latin typeface="Century Gothic" panose="020B0502020202020204" pitchFamily="34" charset="0"/>
              <a:ea typeface="Roboto" panose="02000000000000000000" pitchFamily="2" charset="0"/>
              <a:cs typeface="Roboto" panose="02000000000000000000" pitchFamily="2" charset="0"/>
            </a:endParaRPr>
          </a:p>
        </p:txBody>
      </p:sp>
      <p:sp>
        <p:nvSpPr>
          <p:cNvPr id="18" name="object 4">
            <a:extLst>
              <a:ext uri="{FF2B5EF4-FFF2-40B4-BE49-F238E27FC236}">
                <a16:creationId xmlns:a16="http://schemas.microsoft.com/office/drawing/2014/main" id="{F6684F4E-8A99-DAD1-179C-666985A3C6B4}"/>
              </a:ext>
            </a:extLst>
          </p:cNvPr>
          <p:cNvSpPr txBox="1"/>
          <p:nvPr/>
        </p:nvSpPr>
        <p:spPr>
          <a:xfrm>
            <a:off x="597204" y="9494201"/>
            <a:ext cx="6254446" cy="372025"/>
          </a:xfrm>
          <a:prstGeom prst="rect">
            <a:avLst/>
          </a:prstGeom>
        </p:spPr>
        <p:txBody>
          <a:bodyPr vert="horz" wrap="square" lIns="0" tIns="8255" rIns="0" bIns="0" rtlCol="0">
            <a:spAutoFit/>
          </a:bodyPr>
          <a:lstStyle/>
          <a:p>
            <a:pPr marL="12700" marR="5080">
              <a:lnSpc>
                <a:spcPct val="102099"/>
              </a:lnSpc>
              <a:spcBef>
                <a:spcPts val="65"/>
              </a:spcBef>
            </a:pPr>
            <a:r>
              <a:rPr lang="en-US" sz="1200" b="1" i="1" spc="70" dirty="0">
                <a:solidFill>
                  <a:schemeClr val="bg1"/>
                </a:solidFill>
                <a:latin typeface="Century Gothic" panose="020B0502020202020204" pitchFamily="34" charset="0"/>
                <a:ea typeface="Roboto" panose="02000000000000000000" pitchFamily="2" charset="0"/>
                <a:cs typeface="Roboto" panose="02000000000000000000" pitchFamily="2" charset="0"/>
              </a:rPr>
              <a:t>Applications for participation in the Forum and B2B meetings should be submitted via email to:</a:t>
            </a:r>
            <a:endParaRPr sz="1200" dirty="0">
              <a:solidFill>
                <a:schemeClr val="bg1"/>
              </a:solidFill>
              <a:latin typeface="Century Gothic" panose="020B0502020202020204" pitchFamily="34" charset="0"/>
              <a:ea typeface="Roboto" panose="02000000000000000000" pitchFamily="2" charset="0"/>
              <a:cs typeface="Roboto" panose="02000000000000000000" pitchFamily="2" charset="0"/>
            </a:endParaRPr>
          </a:p>
        </p:txBody>
      </p:sp>
      <p:pic>
        <p:nvPicPr>
          <p:cNvPr id="1026" name="Picture 2">
            <a:extLst>
              <a:ext uri="{FF2B5EF4-FFF2-40B4-BE49-F238E27FC236}">
                <a16:creationId xmlns:a16="http://schemas.microsoft.com/office/drawing/2014/main" id="{A4E4641A-1A80-436D-BFB9-BB26767D8056}"/>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64205" y="6607508"/>
            <a:ext cx="2313065" cy="634055"/>
          </a:xfrm>
          <a:prstGeom prst="rect">
            <a:avLst/>
          </a:prstGeom>
          <a:noFill/>
          <a:extLst>
            <a:ext uri="{909E8E84-426E-40DD-AFC4-6F175D3DCCD1}">
              <a14:hiddenFill xmlns:a14="http://schemas.microsoft.com/office/drawing/2010/main">
                <a:solidFill>
                  <a:srgbClr val="FFFFFF"/>
                </a:solidFill>
              </a14:hiddenFill>
            </a:ext>
          </a:extLst>
        </p:spPr>
      </p:pic>
      <p:pic>
        <p:nvPicPr>
          <p:cNvPr id="3" name="Рисунок 2">
            <a:extLst>
              <a:ext uri="{FF2B5EF4-FFF2-40B4-BE49-F238E27FC236}">
                <a16:creationId xmlns:a16="http://schemas.microsoft.com/office/drawing/2014/main" id="{93E46722-83BE-E5A0-9726-AC4013CE40A2}"/>
              </a:ext>
            </a:extLst>
          </p:cNvPr>
          <p:cNvPicPr>
            <a:picLocks noChangeAspect="1"/>
          </p:cNvPicPr>
          <p:nvPr/>
        </p:nvPicPr>
        <p:blipFill>
          <a:blip r:embed="rId6"/>
          <a:stretch>
            <a:fillRect/>
          </a:stretch>
        </p:blipFill>
        <p:spPr>
          <a:xfrm>
            <a:off x="4516437" y="5498177"/>
            <a:ext cx="2160833" cy="864333"/>
          </a:xfrm>
          <a:prstGeom prst="rect">
            <a:avLst/>
          </a:prstGeom>
        </p:spPr>
      </p:pic>
      <p:sp>
        <p:nvSpPr>
          <p:cNvPr id="8" name="object 3">
            <a:extLst>
              <a:ext uri="{FF2B5EF4-FFF2-40B4-BE49-F238E27FC236}">
                <a16:creationId xmlns:a16="http://schemas.microsoft.com/office/drawing/2014/main" id="{A2AC19F2-BECF-9274-3908-E3669F00D9A4}"/>
              </a:ext>
            </a:extLst>
          </p:cNvPr>
          <p:cNvSpPr txBox="1"/>
          <p:nvPr/>
        </p:nvSpPr>
        <p:spPr>
          <a:xfrm>
            <a:off x="2611438" y="9613741"/>
            <a:ext cx="3294380" cy="226344"/>
          </a:xfrm>
          <a:prstGeom prst="rect">
            <a:avLst/>
          </a:prstGeom>
        </p:spPr>
        <p:txBody>
          <a:bodyPr vert="horz" wrap="square" lIns="0" tIns="46355" rIns="0" bIns="0" rtlCol="0">
            <a:spAutoFit/>
          </a:bodyPr>
          <a:lstStyle/>
          <a:p>
            <a:pPr marL="12700" marR="5080">
              <a:lnSpc>
                <a:spcPts val="1420"/>
              </a:lnSpc>
              <a:spcBef>
                <a:spcPts val="365"/>
              </a:spcBef>
            </a:pPr>
            <a:r>
              <a:rPr lang="de-DE" sz="1200" spc="-10" dirty="0" err="1">
                <a:solidFill>
                  <a:schemeClr val="bg1"/>
                </a:solidFill>
                <a:latin typeface="Century Gothic" panose="020B0502020202020204" pitchFamily="34" charset="0"/>
                <a:ea typeface="Roboto" panose="02000000000000000000" pitchFamily="2" charset="0"/>
                <a:cs typeface="Roboto" panose="02000000000000000000" pitchFamily="2" charset="0"/>
                <a:hlinkClick r:id="rId4">
                  <a:extLst>
                    <a:ext uri="{A12FA001-AC4F-418D-AE19-62706E023703}">
                      <ahyp:hlinkClr xmlns:ahyp="http://schemas.microsoft.com/office/drawing/2018/hyperlinkcolor" val="tx"/>
                    </a:ext>
                  </a:extLst>
                </a:hlinkClick>
              </a:rPr>
              <a:t>z.tymbayeva@satbayev.university</a:t>
            </a:r>
            <a:endParaRPr sz="1200" dirty="0">
              <a:solidFill>
                <a:schemeClr val="bg1"/>
              </a:solidFill>
              <a:latin typeface="Century Gothic" panose="020B0502020202020204" pitchFamily="34" charset="0"/>
              <a:ea typeface="Roboto" panose="02000000000000000000" pitchFamily="2" charset="0"/>
              <a:cs typeface="Roboto" panose="02000000000000000000" pitchFamily="2" charset="0"/>
            </a:endParaRPr>
          </a:p>
        </p:txBody>
      </p:sp>
      <p:pic>
        <p:nvPicPr>
          <p:cNvPr id="1028" name="Picture 4" descr="Фотосурет сипаттамасы жоқ.">
            <a:extLst>
              <a:ext uri="{FF2B5EF4-FFF2-40B4-BE49-F238E27FC236}">
                <a16:creationId xmlns:a16="http://schemas.microsoft.com/office/drawing/2014/main" id="{C16B9B65-7ADD-D9AD-BA6D-2DA381DA314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109584" y="5621864"/>
            <a:ext cx="1132396" cy="1009650"/>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German Cooperation Logo Vector">
            <a:extLst>
              <a:ext uri="{FF2B5EF4-FFF2-40B4-BE49-F238E27FC236}">
                <a16:creationId xmlns:a16="http://schemas.microsoft.com/office/drawing/2014/main" id="{794AAC9D-A4D1-40B3-DE3D-7DF8782A8901}"/>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667000" y="6536868"/>
            <a:ext cx="1308742" cy="794148"/>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a:extLst>
              <a:ext uri="{FF2B5EF4-FFF2-40B4-BE49-F238E27FC236}">
                <a16:creationId xmlns:a16="http://schemas.microsoft.com/office/drawing/2014/main" id="{FF341CFD-073B-95EE-3B81-85360D29EFE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1503" y="312694"/>
            <a:ext cx="936162" cy="757687"/>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a:extLst>
              <a:ext uri="{FF2B5EF4-FFF2-40B4-BE49-F238E27FC236}">
                <a16:creationId xmlns:a16="http://schemas.microsoft.com/office/drawing/2014/main" id="{DCF3A145-200B-9115-EF4E-2DB359BB625F}"/>
              </a:ext>
            </a:extLst>
          </p:cNvPr>
          <p:cNvSpPr txBox="1"/>
          <p:nvPr/>
        </p:nvSpPr>
        <p:spPr>
          <a:xfrm>
            <a:off x="590854" y="10014104"/>
            <a:ext cx="4952696" cy="198131"/>
          </a:xfrm>
          <a:prstGeom prst="rect">
            <a:avLst/>
          </a:prstGeom>
        </p:spPr>
        <p:txBody>
          <a:bodyPr vert="horz" wrap="square" lIns="0" tIns="13335" rIns="0" bIns="0" rtlCol="0">
            <a:spAutoFit/>
          </a:bodyPr>
          <a:lstStyle/>
          <a:p>
            <a:pPr marL="12700">
              <a:lnSpc>
                <a:spcPct val="100000"/>
              </a:lnSpc>
              <a:spcBef>
                <a:spcPts val="105"/>
              </a:spcBef>
            </a:pPr>
            <a:r>
              <a:rPr lang="en-US" sz="1200" b="1" spc="50" dirty="0">
                <a:solidFill>
                  <a:srgbClr val="FFFFFF"/>
                </a:solidFill>
                <a:latin typeface="Century Gothic" panose="020B0502020202020204" pitchFamily="34" charset="0"/>
                <a:ea typeface="Roboto" panose="02000000000000000000" pitchFamily="2" charset="0"/>
                <a:cs typeface="Roboto" panose="02000000000000000000" pitchFamily="2" charset="0"/>
              </a:rPr>
              <a:t>Event website</a:t>
            </a:r>
            <a:r>
              <a:rPr sz="1200" b="1" spc="50" dirty="0">
                <a:solidFill>
                  <a:srgbClr val="FFFFFF"/>
                </a:solidFill>
                <a:latin typeface="Century Gothic" panose="020B0502020202020204" pitchFamily="34" charset="0"/>
                <a:ea typeface="Roboto" panose="02000000000000000000" pitchFamily="2" charset="0"/>
                <a:cs typeface="Roboto" panose="02000000000000000000" pitchFamily="2" charset="0"/>
              </a:rPr>
              <a:t>:</a:t>
            </a:r>
            <a:r>
              <a:rPr lang="en-US" sz="1200" b="1" spc="50" dirty="0">
                <a:solidFill>
                  <a:srgbClr val="FFFFFF"/>
                </a:solidFill>
                <a:latin typeface="Century Gothic" panose="020B0502020202020204" pitchFamily="34" charset="0"/>
                <a:ea typeface="Roboto" panose="02000000000000000000" pitchFamily="2" charset="0"/>
                <a:cs typeface="Roboto" panose="02000000000000000000" pitchFamily="2" charset="0"/>
              </a:rPr>
              <a:t> kazgerlogisticsforum.kz </a:t>
            </a:r>
            <a:endParaRPr sz="1200" dirty="0">
              <a:latin typeface="Century Gothic" panose="020B0502020202020204" pitchFamily="34"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108553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23848-0757-812A-2734-9801D2A46F9E}"/>
            </a:ext>
          </a:extLst>
        </p:cNvPr>
        <p:cNvGrpSpPr/>
        <p:nvPr/>
      </p:nvGrpSpPr>
      <p:grpSpPr>
        <a:xfrm>
          <a:off x="0" y="0"/>
          <a:ext cx="0" cy="0"/>
          <a:chOff x="0" y="0"/>
          <a:chExt cx="0" cy="0"/>
        </a:xfrm>
      </p:grpSpPr>
      <p:pic>
        <p:nvPicPr>
          <p:cNvPr id="3" name="Picture 4" descr="Satbayev University">
            <a:extLst>
              <a:ext uri="{FF2B5EF4-FFF2-40B4-BE49-F238E27FC236}">
                <a16:creationId xmlns:a16="http://schemas.microsoft.com/office/drawing/2014/main" id="{2D272ED2-978D-869A-8D0B-F50B193B63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8426" y="101418"/>
            <a:ext cx="1613204" cy="102398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a:extLst>
              <a:ext uri="{FF2B5EF4-FFF2-40B4-BE49-F238E27FC236}">
                <a16:creationId xmlns:a16="http://schemas.microsoft.com/office/drawing/2014/main" id="{27E2CB62-0CA2-5EDF-DF03-3B5766C1C88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5086" y="234566"/>
            <a:ext cx="936162" cy="757687"/>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a:extLst>
              <a:ext uri="{FF2B5EF4-FFF2-40B4-BE49-F238E27FC236}">
                <a16:creationId xmlns:a16="http://schemas.microsoft.com/office/drawing/2014/main" id="{77E38BCD-22E9-1D8B-7CA7-E2A6ECCBD722}"/>
              </a:ext>
            </a:extLst>
          </p:cNvPr>
          <p:cNvSpPr txBox="1"/>
          <p:nvPr/>
        </p:nvSpPr>
        <p:spPr>
          <a:xfrm>
            <a:off x="1009650" y="1504949"/>
            <a:ext cx="5924292" cy="9044784"/>
          </a:xfrm>
          <a:prstGeom prst="rect">
            <a:avLst/>
          </a:prstGeom>
        </p:spPr>
        <p:txBody>
          <a:bodyPr vert="horz" wrap="square" lIns="0" tIns="90170" rIns="0" bIns="0" rtlCol="0">
            <a:spAutoFit/>
          </a:bodyPr>
          <a:lstStyle/>
          <a:p>
            <a:pPr marL="12700" indent="349250" algn="just">
              <a:lnSpc>
                <a:spcPct val="100000"/>
              </a:lnSpc>
              <a:spcBef>
                <a:spcPts val="710"/>
              </a:spcBef>
            </a:pPr>
            <a:r>
              <a:rPr lang="en-US" sz="1200" b="1" noProof="0" dirty="0">
                <a:solidFill>
                  <a:srgbClr val="002060"/>
                </a:solidFill>
                <a:latin typeface="Century Gothic" panose="020B0502020202020204" pitchFamily="34" charset="0"/>
                <a:cs typeface="Calibri"/>
              </a:rPr>
              <a:t>Dear Ladies and Gentlemen,</a:t>
            </a:r>
          </a:p>
          <a:p>
            <a:pPr marL="12700" indent="349250" algn="just">
              <a:lnSpc>
                <a:spcPct val="100000"/>
              </a:lnSpc>
              <a:spcBef>
                <a:spcPts val="710"/>
              </a:spcBef>
            </a:pPr>
            <a:endParaRPr lang="en-US" sz="1200" b="1" noProof="0" dirty="0">
              <a:solidFill>
                <a:srgbClr val="002060"/>
              </a:solidFill>
              <a:latin typeface="Century Gothic" panose="020B0502020202020204" pitchFamily="34" charset="0"/>
              <a:cs typeface="Calibri"/>
            </a:endParaRPr>
          </a:p>
          <a:p>
            <a:pPr marL="12700" indent="349250" algn="just">
              <a:lnSpc>
                <a:spcPct val="100000"/>
              </a:lnSpc>
              <a:spcBef>
                <a:spcPts val="710"/>
              </a:spcBef>
            </a:pPr>
            <a:r>
              <a:rPr lang="en-US" sz="1200" noProof="0" dirty="0" err="1">
                <a:solidFill>
                  <a:srgbClr val="002060"/>
                </a:solidFill>
                <a:latin typeface="Century Gothic" panose="020B0502020202020204" pitchFamily="34" charset="0"/>
                <a:cs typeface="Calibri"/>
              </a:rPr>
              <a:t>Satbayev</a:t>
            </a:r>
            <a:r>
              <a:rPr lang="en-US" sz="1200" noProof="0" dirty="0">
                <a:solidFill>
                  <a:srgbClr val="002060"/>
                </a:solidFill>
                <a:latin typeface="Century Gothic" panose="020B0502020202020204" pitchFamily="34" charset="0"/>
                <a:cs typeface="Calibri"/>
              </a:rPr>
              <a:t> University (Kazakhstan), in cooperation with </a:t>
            </a:r>
            <a:r>
              <a:rPr lang="en-US" sz="1200" noProof="0" dirty="0" err="1">
                <a:solidFill>
                  <a:srgbClr val="002060"/>
                </a:solidFill>
                <a:latin typeface="Century Gothic" panose="020B0502020202020204" pitchFamily="34" charset="0"/>
                <a:cs typeface="Calibri"/>
              </a:rPr>
              <a:t>Bundesvereinigung</a:t>
            </a:r>
            <a:r>
              <a:rPr lang="en-US" sz="1200" noProof="0" dirty="0">
                <a:solidFill>
                  <a:srgbClr val="002060"/>
                </a:solidFill>
                <a:latin typeface="Century Gothic" panose="020B0502020202020204" pitchFamily="34" charset="0"/>
                <a:cs typeface="Calibri"/>
              </a:rPr>
              <a:t> </a:t>
            </a:r>
            <a:r>
              <a:rPr lang="en-US" sz="1200" noProof="0" dirty="0" err="1">
                <a:solidFill>
                  <a:srgbClr val="002060"/>
                </a:solidFill>
                <a:latin typeface="Century Gothic" panose="020B0502020202020204" pitchFamily="34" charset="0"/>
                <a:cs typeface="Calibri"/>
              </a:rPr>
              <a:t>Logistik</a:t>
            </a:r>
            <a:r>
              <a:rPr lang="en-US" sz="1200" noProof="0" dirty="0">
                <a:solidFill>
                  <a:srgbClr val="002060"/>
                </a:solidFill>
                <a:latin typeface="Century Gothic" panose="020B0502020202020204" pitchFamily="34" charset="0"/>
                <a:cs typeface="Calibri"/>
              </a:rPr>
              <a:t> (BVL) (Germany), cordially invites you to participate in the </a:t>
            </a:r>
            <a:r>
              <a:rPr lang="en-US" sz="1200" b="1" noProof="0" dirty="0">
                <a:solidFill>
                  <a:srgbClr val="002060"/>
                </a:solidFill>
                <a:latin typeface="Century Gothic" panose="020B0502020202020204" pitchFamily="34" charset="0"/>
                <a:cs typeface="Calibri"/>
              </a:rPr>
              <a:t>Kazakhstan–German Transport and Logistics Forum “Digitalization, Human Capital, Transit Opportunities,” </a:t>
            </a:r>
            <a:r>
              <a:rPr lang="en-US" sz="1200" noProof="0" dirty="0">
                <a:solidFill>
                  <a:srgbClr val="002060"/>
                </a:solidFill>
                <a:latin typeface="Century Gothic" panose="020B0502020202020204" pitchFamily="34" charset="0"/>
                <a:cs typeface="Calibri"/>
              </a:rPr>
              <a:t>which will take place on May 14, 2026, in Almaty, Republic of Kazakhstan, at </a:t>
            </a:r>
            <a:r>
              <a:rPr lang="en-US" sz="1200" noProof="0" dirty="0" err="1">
                <a:solidFill>
                  <a:srgbClr val="002060"/>
                </a:solidFill>
                <a:latin typeface="Century Gothic" panose="020B0502020202020204" pitchFamily="34" charset="0"/>
                <a:cs typeface="Calibri"/>
              </a:rPr>
              <a:t>Satbayev</a:t>
            </a:r>
            <a:r>
              <a:rPr lang="en-US" sz="1200" noProof="0" dirty="0">
                <a:solidFill>
                  <a:srgbClr val="002060"/>
                </a:solidFill>
                <a:latin typeface="Century Gothic" panose="020B0502020202020204" pitchFamily="34" charset="0"/>
                <a:cs typeface="Calibri"/>
              </a:rPr>
              <a:t> University, 22 </a:t>
            </a:r>
            <a:r>
              <a:rPr lang="en-US" sz="1200" noProof="0" dirty="0" err="1">
                <a:solidFill>
                  <a:srgbClr val="002060"/>
                </a:solidFill>
                <a:latin typeface="Century Gothic" panose="020B0502020202020204" pitchFamily="34" charset="0"/>
                <a:cs typeface="Calibri"/>
              </a:rPr>
              <a:t>Satpayev</a:t>
            </a:r>
            <a:r>
              <a:rPr lang="en-US" sz="1200" noProof="0" dirty="0">
                <a:solidFill>
                  <a:srgbClr val="002060"/>
                </a:solidFill>
                <a:latin typeface="Century Gothic" panose="020B0502020202020204" pitchFamily="34" charset="0"/>
                <a:cs typeface="Calibri"/>
              </a:rPr>
              <a:t> Street.</a:t>
            </a:r>
          </a:p>
          <a:p>
            <a:pPr marL="12700" indent="349250" algn="just">
              <a:lnSpc>
                <a:spcPct val="100000"/>
              </a:lnSpc>
              <a:spcBef>
                <a:spcPts val="710"/>
              </a:spcBef>
            </a:pPr>
            <a:r>
              <a:rPr lang="en-US" sz="1200" noProof="0" dirty="0">
                <a:solidFill>
                  <a:srgbClr val="002060"/>
                </a:solidFill>
                <a:latin typeface="Century Gothic" panose="020B0502020202020204" pitchFamily="34" charset="0"/>
                <a:cs typeface="Calibri"/>
              </a:rPr>
              <a:t>The Forum will bring together representatives of the ministries of the Republic of Kazakhstan, higher education institutions, transport and logistics companies, as well as industry experts from Germany and representatives of transport, logistics, and industrial organizations from Central Asian countries, including Uzbekistan, Kyrgyzstan, and Azerbaijan.</a:t>
            </a:r>
          </a:p>
          <a:p>
            <a:pPr marL="12700" indent="349250" algn="just">
              <a:lnSpc>
                <a:spcPct val="100000"/>
              </a:lnSpc>
              <a:spcBef>
                <a:spcPts val="710"/>
              </a:spcBef>
            </a:pPr>
            <a:r>
              <a:rPr lang="en-US" sz="1200" noProof="0" dirty="0">
                <a:solidFill>
                  <a:srgbClr val="002060"/>
                </a:solidFill>
                <a:latin typeface="Century Gothic" panose="020B0502020202020204" pitchFamily="34" charset="0"/>
                <a:cs typeface="Calibri"/>
              </a:rPr>
              <a:t>The event aims to discuss key trends and practical solutions in the digitalization of transport and logistics systems, the development of human capital, and unlocking the transit potential of Kazakhstan and Central Asia, as well as to foster sustainable partnerships between academia, education, and business.</a:t>
            </a:r>
          </a:p>
          <a:p>
            <a:pPr marL="12700" indent="349250" algn="just">
              <a:lnSpc>
                <a:spcPct val="100000"/>
              </a:lnSpc>
              <a:spcBef>
                <a:spcPts val="710"/>
              </a:spcBef>
            </a:pPr>
            <a:r>
              <a:rPr lang="en-US" sz="1200" noProof="0" dirty="0">
                <a:solidFill>
                  <a:srgbClr val="002060"/>
                </a:solidFill>
                <a:latin typeface="Century Gothic" panose="020B0502020202020204" pitchFamily="34" charset="0"/>
                <a:cs typeface="Calibri"/>
              </a:rPr>
              <a:t>The Forum will consist of three parts: Plenary Session, B2B Meetings and Evening Reception</a:t>
            </a:r>
          </a:p>
          <a:p>
            <a:pPr marL="12700" indent="349250" algn="just">
              <a:lnSpc>
                <a:spcPct val="100000"/>
              </a:lnSpc>
              <a:spcBef>
                <a:spcPts val="710"/>
              </a:spcBef>
            </a:pPr>
            <a:r>
              <a:rPr lang="en-US" sz="1200" noProof="0" dirty="0">
                <a:solidFill>
                  <a:srgbClr val="002060"/>
                </a:solidFill>
                <a:latin typeface="Century Gothic" panose="020B0502020202020204" pitchFamily="34" charset="0"/>
                <a:cs typeface="Calibri"/>
              </a:rPr>
              <a:t>We would be honored to welcome you among the Forum participants and look forward to your active contribution to strengthening international cooperation in the field of transport and logistics.</a:t>
            </a:r>
          </a:p>
          <a:p>
            <a:pPr marL="12700" indent="349250" algn="just">
              <a:lnSpc>
                <a:spcPct val="100000"/>
              </a:lnSpc>
              <a:spcBef>
                <a:spcPts val="710"/>
              </a:spcBef>
            </a:pPr>
            <a:endParaRPr lang="en-US" sz="1200" noProof="0" dirty="0">
              <a:solidFill>
                <a:srgbClr val="002060"/>
              </a:solidFill>
              <a:latin typeface="Century Gothic" panose="020B0502020202020204" pitchFamily="34" charset="0"/>
              <a:cs typeface="Calibri"/>
            </a:endParaRPr>
          </a:p>
          <a:p>
            <a:pPr marL="12700" indent="349250" algn="just">
              <a:lnSpc>
                <a:spcPct val="100000"/>
              </a:lnSpc>
              <a:spcBef>
                <a:spcPts val="710"/>
              </a:spcBef>
            </a:pPr>
            <a:r>
              <a:rPr lang="en-US" sz="1200" noProof="0" dirty="0">
                <a:solidFill>
                  <a:srgbClr val="002060"/>
                </a:solidFill>
                <a:latin typeface="Century Gothic" panose="020B0502020202020204" pitchFamily="34" charset="0"/>
                <a:cs typeface="Calibri"/>
              </a:rPr>
              <a:t>For additional information, please contact: </a:t>
            </a:r>
            <a:r>
              <a:rPr lang="en-US" sz="1200" noProof="0" dirty="0" err="1">
                <a:solidFill>
                  <a:srgbClr val="002060"/>
                </a:solidFill>
                <a:latin typeface="Century Gothic" panose="020B0502020202020204" pitchFamily="34" charset="0"/>
                <a:cs typeface="Calibri"/>
                <a:hlinkClick r:id="rId4"/>
              </a:rPr>
              <a:t>z.tymbayeva@satbayev.university</a:t>
            </a:r>
            <a:r>
              <a:rPr lang="en-US" sz="1200" noProof="0" dirty="0">
                <a:solidFill>
                  <a:srgbClr val="002060"/>
                </a:solidFill>
                <a:latin typeface="Century Gothic" panose="020B0502020202020204" pitchFamily="34" charset="0"/>
                <a:cs typeface="Calibri"/>
              </a:rPr>
              <a:t> </a:t>
            </a:r>
          </a:p>
          <a:p>
            <a:pPr marL="12700" indent="349250" algn="just">
              <a:lnSpc>
                <a:spcPct val="100000"/>
              </a:lnSpc>
              <a:spcBef>
                <a:spcPts val="710"/>
              </a:spcBef>
            </a:pPr>
            <a:r>
              <a:rPr lang="en-US" sz="1200" noProof="0" dirty="0">
                <a:solidFill>
                  <a:srgbClr val="002060"/>
                </a:solidFill>
                <a:latin typeface="Century Gothic" panose="020B0502020202020204" pitchFamily="34" charset="0"/>
                <a:cs typeface="Calibri"/>
              </a:rPr>
              <a:t>Questions for the open discussion may be submitted in advance to: </a:t>
            </a:r>
            <a:r>
              <a:rPr lang="en-US" sz="1200" noProof="0" dirty="0">
                <a:solidFill>
                  <a:srgbClr val="002060"/>
                </a:solidFill>
                <a:latin typeface="Century Gothic" panose="020B0502020202020204" pitchFamily="34" charset="0"/>
                <a:cs typeface="Calibri"/>
                <a:hlinkClick r:id="rId5"/>
              </a:rPr>
              <a:t>info@logistics-alliance-germany.de</a:t>
            </a:r>
            <a:r>
              <a:rPr lang="en-US" sz="1200" dirty="0">
                <a:solidFill>
                  <a:srgbClr val="002060"/>
                </a:solidFill>
                <a:latin typeface="Century Gothic" panose="020B0502020202020204" pitchFamily="34" charset="0"/>
                <a:cs typeface="Calibri"/>
              </a:rPr>
              <a:t> </a:t>
            </a:r>
            <a:endParaRPr lang="en-US" sz="1200" noProof="0" dirty="0">
              <a:solidFill>
                <a:srgbClr val="002060"/>
              </a:solidFill>
              <a:latin typeface="Century Gothic" panose="020B0502020202020204" pitchFamily="34" charset="0"/>
              <a:cs typeface="Calibri"/>
            </a:endParaRPr>
          </a:p>
          <a:p>
            <a:pPr marL="12700" indent="349250" algn="just">
              <a:lnSpc>
                <a:spcPct val="100000"/>
              </a:lnSpc>
              <a:spcBef>
                <a:spcPts val="710"/>
              </a:spcBef>
            </a:pPr>
            <a:endParaRPr lang="en-US" sz="1200" b="1" noProof="0" dirty="0">
              <a:solidFill>
                <a:srgbClr val="002060"/>
              </a:solidFill>
              <a:latin typeface="Century Gothic" panose="020B0502020202020204" pitchFamily="34" charset="0"/>
              <a:cs typeface="Calibri"/>
            </a:endParaRPr>
          </a:p>
          <a:p>
            <a:pPr marL="12700" indent="349250" algn="just">
              <a:lnSpc>
                <a:spcPct val="100000"/>
              </a:lnSpc>
              <a:spcBef>
                <a:spcPts val="710"/>
              </a:spcBef>
            </a:pPr>
            <a:r>
              <a:rPr lang="en-US" sz="1200" b="1" dirty="0">
                <a:solidFill>
                  <a:srgbClr val="002060"/>
                </a:solidFill>
                <a:latin typeface="Century Gothic" panose="020B0502020202020204" pitchFamily="34" charset="0"/>
                <a:cs typeface="Calibri"/>
              </a:rPr>
              <a:t>Sincerely y</a:t>
            </a:r>
            <a:r>
              <a:rPr lang="en-US" sz="1200" b="1" noProof="0" dirty="0">
                <a:solidFill>
                  <a:srgbClr val="002060"/>
                </a:solidFill>
                <a:latin typeface="Century Gothic" panose="020B0502020202020204" pitchFamily="34" charset="0"/>
                <a:cs typeface="Calibri"/>
              </a:rPr>
              <a:t>ours,</a:t>
            </a:r>
          </a:p>
          <a:p>
            <a:pPr marL="12700" indent="349250" algn="just">
              <a:lnSpc>
                <a:spcPct val="100000"/>
              </a:lnSpc>
              <a:spcBef>
                <a:spcPts val="710"/>
              </a:spcBef>
            </a:pPr>
            <a:r>
              <a:rPr lang="en-US" sz="1200" b="1" noProof="0" dirty="0" err="1">
                <a:solidFill>
                  <a:srgbClr val="002060"/>
                </a:solidFill>
                <a:latin typeface="Century Gothic" panose="020B0502020202020204" pitchFamily="34" charset="0"/>
                <a:cs typeface="Calibri"/>
              </a:rPr>
              <a:t>Meyram</a:t>
            </a:r>
            <a:r>
              <a:rPr lang="en-US" sz="1200" b="1" noProof="0" dirty="0">
                <a:solidFill>
                  <a:srgbClr val="002060"/>
                </a:solidFill>
                <a:latin typeface="Century Gothic" panose="020B0502020202020204" pitchFamily="34" charset="0"/>
                <a:cs typeface="Calibri"/>
              </a:rPr>
              <a:t> M. </a:t>
            </a:r>
            <a:r>
              <a:rPr lang="en-US" sz="1200" b="1" noProof="0" dirty="0" err="1">
                <a:solidFill>
                  <a:srgbClr val="002060"/>
                </a:solidFill>
                <a:latin typeface="Century Gothic" panose="020B0502020202020204" pitchFamily="34" charset="0"/>
                <a:cs typeface="Calibri"/>
              </a:rPr>
              <a:t>Begentayev</a:t>
            </a:r>
            <a:endParaRPr lang="en-US" sz="1200" b="1" noProof="0" dirty="0">
              <a:solidFill>
                <a:srgbClr val="002060"/>
              </a:solidFill>
              <a:latin typeface="Century Gothic" panose="020B0502020202020204" pitchFamily="34" charset="0"/>
              <a:cs typeface="Calibri"/>
            </a:endParaRPr>
          </a:p>
          <a:p>
            <a:pPr marL="12700" indent="349250" algn="just">
              <a:lnSpc>
                <a:spcPct val="100000"/>
              </a:lnSpc>
              <a:spcBef>
                <a:spcPts val="710"/>
              </a:spcBef>
            </a:pPr>
            <a:r>
              <a:rPr lang="en-US" sz="1200" b="1" noProof="0" dirty="0">
                <a:solidFill>
                  <a:srgbClr val="002060"/>
                </a:solidFill>
                <a:latin typeface="Century Gothic" panose="020B0502020202020204" pitchFamily="34" charset="0"/>
                <a:cs typeface="Calibri"/>
              </a:rPr>
              <a:t>Chairman of the Board – Rector of the </a:t>
            </a:r>
            <a:r>
              <a:rPr lang="en-US" sz="1200" b="1" noProof="0" dirty="0" err="1">
                <a:solidFill>
                  <a:srgbClr val="002060"/>
                </a:solidFill>
                <a:latin typeface="Century Gothic" panose="020B0502020202020204" pitchFamily="34" charset="0"/>
                <a:cs typeface="Calibri"/>
              </a:rPr>
              <a:t>Satbayev</a:t>
            </a:r>
            <a:r>
              <a:rPr lang="en-US" sz="1200" b="1" noProof="0" dirty="0">
                <a:solidFill>
                  <a:srgbClr val="002060"/>
                </a:solidFill>
                <a:latin typeface="Century Gothic" panose="020B0502020202020204" pitchFamily="34" charset="0"/>
                <a:cs typeface="Calibri"/>
              </a:rPr>
              <a:t> University</a:t>
            </a:r>
          </a:p>
          <a:p>
            <a:pPr marL="12700" indent="349250" algn="just">
              <a:lnSpc>
                <a:spcPct val="100000"/>
              </a:lnSpc>
              <a:spcBef>
                <a:spcPts val="710"/>
              </a:spcBef>
            </a:pPr>
            <a:endParaRPr lang="en-US" sz="1200" b="1" dirty="0">
              <a:solidFill>
                <a:srgbClr val="002060"/>
              </a:solidFill>
              <a:latin typeface="Century Gothic" panose="020B0502020202020204" pitchFamily="34" charset="0"/>
              <a:cs typeface="Calibri"/>
            </a:endParaRPr>
          </a:p>
          <a:p>
            <a:pPr marL="12700" indent="349250" algn="just">
              <a:lnSpc>
                <a:spcPct val="100000"/>
              </a:lnSpc>
              <a:spcBef>
                <a:spcPts val="710"/>
              </a:spcBef>
            </a:pPr>
            <a:r>
              <a:rPr lang="en-US" sz="1200" b="1" i="1" dirty="0">
                <a:solidFill>
                  <a:srgbClr val="002060"/>
                </a:solidFill>
                <a:latin typeface="Century Gothic" panose="020B0502020202020204" pitchFamily="34" charset="0"/>
                <a:cs typeface="Calibri"/>
              </a:rPr>
              <a:t>and</a:t>
            </a:r>
            <a:r>
              <a:rPr lang="en-US" sz="1200" b="1" dirty="0">
                <a:solidFill>
                  <a:srgbClr val="002060"/>
                </a:solidFill>
                <a:latin typeface="Century Gothic" panose="020B0502020202020204" pitchFamily="34" charset="0"/>
                <a:cs typeface="Calibri"/>
              </a:rPr>
              <a:t> </a:t>
            </a:r>
          </a:p>
          <a:p>
            <a:pPr marL="12700" indent="349250" algn="just">
              <a:lnSpc>
                <a:spcPct val="100000"/>
              </a:lnSpc>
              <a:spcBef>
                <a:spcPts val="710"/>
              </a:spcBef>
            </a:pPr>
            <a:endParaRPr lang="en-US" sz="1200" b="1" dirty="0">
              <a:solidFill>
                <a:srgbClr val="002060"/>
              </a:solidFill>
              <a:latin typeface="Century Gothic" panose="020B0502020202020204" pitchFamily="34" charset="0"/>
              <a:cs typeface="Calibri"/>
            </a:endParaRPr>
          </a:p>
          <a:p>
            <a:pPr marL="12700" indent="349250" algn="just">
              <a:spcBef>
                <a:spcPts val="710"/>
              </a:spcBef>
            </a:pPr>
            <a:r>
              <a:rPr lang="en-US" sz="1200" b="1" spc="-10" noProof="0" dirty="0">
                <a:solidFill>
                  <a:srgbClr val="002060"/>
                </a:solidFill>
                <a:uFill>
                  <a:solidFill>
                    <a:srgbClr val="39A0D2"/>
                  </a:solidFill>
                </a:uFill>
                <a:latin typeface="Century Gothic" panose="020B0502020202020204" pitchFamily="34" charset="0"/>
                <a:cs typeface="Calibri"/>
              </a:rPr>
              <a:t>Mirco Nowak</a:t>
            </a:r>
            <a:r>
              <a:rPr lang="en-US" sz="1200" spc="-10" noProof="0" dirty="0">
                <a:solidFill>
                  <a:srgbClr val="002060"/>
                </a:solidFill>
                <a:uFill>
                  <a:solidFill>
                    <a:srgbClr val="39A0D2"/>
                  </a:solidFill>
                </a:uFill>
                <a:latin typeface="Century Gothic" panose="020B0502020202020204" pitchFamily="34" charset="0"/>
                <a:cs typeface="Calibri"/>
              </a:rPr>
              <a:t>, </a:t>
            </a:r>
          </a:p>
          <a:p>
            <a:pPr marL="12700" indent="349250" algn="just">
              <a:spcBef>
                <a:spcPts val="710"/>
              </a:spcBef>
            </a:pPr>
            <a:r>
              <a:rPr lang="en-US" sz="1200" b="1" spc="-10" noProof="0" dirty="0">
                <a:solidFill>
                  <a:srgbClr val="002060"/>
                </a:solidFill>
                <a:uFill>
                  <a:solidFill>
                    <a:srgbClr val="39A0D2"/>
                  </a:solidFill>
                </a:uFill>
                <a:latin typeface="Century Gothic" panose="020B0502020202020204" pitchFamily="34" charset="0"/>
                <a:cs typeface="Calibri"/>
              </a:rPr>
              <a:t>CEO, LUNO Group Chairperson, Eurasia Chapter,</a:t>
            </a:r>
          </a:p>
          <a:p>
            <a:pPr marL="12700" indent="349250" algn="just">
              <a:spcBef>
                <a:spcPts val="710"/>
              </a:spcBef>
            </a:pPr>
            <a:r>
              <a:rPr lang="en-US" sz="1200" b="1" spc="-10" noProof="0" dirty="0" err="1">
                <a:solidFill>
                  <a:srgbClr val="002060"/>
                </a:solidFill>
                <a:uFill>
                  <a:solidFill>
                    <a:srgbClr val="39A0D2"/>
                  </a:solidFill>
                </a:uFill>
                <a:latin typeface="Century Gothic" panose="020B0502020202020204" pitchFamily="34" charset="0"/>
                <a:cs typeface="Calibri"/>
              </a:rPr>
              <a:t>Bundesvereinigung</a:t>
            </a:r>
            <a:r>
              <a:rPr lang="en-US" sz="1200" b="1" spc="-10" noProof="0" dirty="0">
                <a:solidFill>
                  <a:srgbClr val="002060"/>
                </a:solidFill>
                <a:uFill>
                  <a:solidFill>
                    <a:srgbClr val="39A0D2"/>
                  </a:solidFill>
                </a:uFill>
                <a:latin typeface="Century Gothic" panose="020B0502020202020204" pitchFamily="34" charset="0"/>
                <a:cs typeface="Calibri"/>
              </a:rPr>
              <a:t> </a:t>
            </a:r>
            <a:r>
              <a:rPr lang="en-US" sz="1200" b="1" spc="-10" noProof="0" dirty="0" err="1">
                <a:solidFill>
                  <a:srgbClr val="002060"/>
                </a:solidFill>
                <a:uFill>
                  <a:solidFill>
                    <a:srgbClr val="39A0D2"/>
                  </a:solidFill>
                </a:uFill>
                <a:latin typeface="Century Gothic" panose="020B0502020202020204" pitchFamily="34" charset="0"/>
                <a:cs typeface="Calibri"/>
              </a:rPr>
              <a:t>Logistik</a:t>
            </a:r>
            <a:r>
              <a:rPr lang="en-US" sz="1200" b="1" spc="-10" noProof="0" dirty="0">
                <a:solidFill>
                  <a:srgbClr val="002060"/>
                </a:solidFill>
                <a:uFill>
                  <a:solidFill>
                    <a:srgbClr val="39A0D2"/>
                  </a:solidFill>
                </a:uFill>
                <a:latin typeface="Century Gothic" panose="020B0502020202020204" pitchFamily="34" charset="0"/>
                <a:cs typeface="Calibri"/>
              </a:rPr>
              <a:t> (BVL), Germany</a:t>
            </a:r>
          </a:p>
          <a:p>
            <a:pPr marL="12700" indent="349250" algn="just">
              <a:lnSpc>
                <a:spcPct val="100000"/>
              </a:lnSpc>
              <a:spcBef>
                <a:spcPts val="710"/>
              </a:spcBef>
            </a:pPr>
            <a:endParaRPr lang="en-US" sz="1200" b="1" noProof="0" dirty="0">
              <a:solidFill>
                <a:srgbClr val="002060"/>
              </a:solidFill>
              <a:latin typeface="Century Gothic" panose="020B0502020202020204" pitchFamily="34" charset="0"/>
              <a:cs typeface="Calibri"/>
            </a:endParaRPr>
          </a:p>
          <a:p>
            <a:pPr marL="13970" marR="2704465" algn="just">
              <a:lnSpc>
                <a:spcPts val="1100"/>
              </a:lnSpc>
              <a:spcBef>
                <a:spcPts val="35"/>
              </a:spcBef>
            </a:pPr>
            <a:endParaRPr lang="ru-RU" sz="1200" spc="-20" noProof="0" dirty="0">
              <a:solidFill>
                <a:srgbClr val="002060"/>
              </a:solidFill>
              <a:latin typeface="Century Gothic" panose="020B0502020202020204" pitchFamily="34" charset="0"/>
              <a:cs typeface="Calibri"/>
            </a:endParaRPr>
          </a:p>
        </p:txBody>
      </p:sp>
    </p:spTree>
    <p:extLst>
      <p:ext uri="{BB962C8B-B14F-4D97-AF65-F5344CB8AC3E}">
        <p14:creationId xmlns:p14="http://schemas.microsoft.com/office/powerpoint/2010/main" val="1623152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123FB-7E8B-F2F9-94F8-CC62843E5C6E}"/>
            </a:ext>
          </a:extLst>
        </p:cNvPr>
        <p:cNvGrpSpPr/>
        <p:nvPr/>
      </p:nvGrpSpPr>
      <p:grpSpPr>
        <a:xfrm>
          <a:off x="0" y="0"/>
          <a:ext cx="0" cy="0"/>
          <a:chOff x="0" y="0"/>
          <a:chExt cx="0" cy="0"/>
        </a:xfrm>
      </p:grpSpPr>
      <p:pic>
        <p:nvPicPr>
          <p:cNvPr id="3" name="Picture 4" descr="Satbayev University">
            <a:extLst>
              <a:ext uri="{FF2B5EF4-FFF2-40B4-BE49-F238E27FC236}">
                <a16:creationId xmlns:a16="http://schemas.microsoft.com/office/drawing/2014/main" id="{A97A388E-ADCE-9664-5F9E-4EB68CBE36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8426" y="101418"/>
            <a:ext cx="1613204" cy="102398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6">
            <a:extLst>
              <a:ext uri="{FF2B5EF4-FFF2-40B4-BE49-F238E27FC236}">
                <a16:creationId xmlns:a16="http://schemas.microsoft.com/office/drawing/2014/main" id="{FC236C3E-A948-ED90-6833-23B21CA3CA2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5086" y="234566"/>
            <a:ext cx="936162" cy="757687"/>
          </a:xfrm>
          <a:prstGeom prst="rect">
            <a:avLst/>
          </a:prstGeom>
          <a:noFill/>
          <a:extLst>
            <a:ext uri="{909E8E84-426E-40DD-AFC4-6F175D3DCCD1}">
              <a14:hiddenFill xmlns:a14="http://schemas.microsoft.com/office/drawing/2010/main">
                <a:solidFill>
                  <a:srgbClr val="FFFFFF"/>
                </a:solidFill>
              </a14:hiddenFill>
            </a:ext>
          </a:extLst>
        </p:spPr>
      </p:pic>
      <p:sp>
        <p:nvSpPr>
          <p:cNvPr id="2" name="object 2">
            <a:extLst>
              <a:ext uri="{FF2B5EF4-FFF2-40B4-BE49-F238E27FC236}">
                <a16:creationId xmlns:a16="http://schemas.microsoft.com/office/drawing/2014/main" id="{94262080-6EF4-0247-BFB7-67A295BE1743}"/>
              </a:ext>
            </a:extLst>
          </p:cNvPr>
          <p:cNvSpPr txBox="1"/>
          <p:nvPr/>
        </p:nvSpPr>
        <p:spPr>
          <a:xfrm>
            <a:off x="798286" y="1209764"/>
            <a:ext cx="6379027" cy="9308959"/>
          </a:xfrm>
          <a:prstGeom prst="rect">
            <a:avLst/>
          </a:prstGeom>
        </p:spPr>
        <p:txBody>
          <a:bodyPr vert="horz" wrap="square" lIns="0" tIns="90170" rIns="0" bIns="0" rtlCol="0">
            <a:spAutoFit/>
          </a:bodyPr>
          <a:lstStyle/>
          <a:p>
            <a:pPr marL="12700" algn="just">
              <a:lnSpc>
                <a:spcPct val="100000"/>
              </a:lnSpc>
              <a:spcAft>
                <a:spcPts val="600"/>
              </a:spcAft>
            </a:pPr>
            <a:r>
              <a:rPr lang="en-US" sz="1100" spc="-10" noProof="0" dirty="0">
                <a:solidFill>
                  <a:srgbClr val="002060"/>
                </a:solidFill>
                <a:uFill>
                  <a:solidFill>
                    <a:srgbClr val="39A0D2"/>
                  </a:solidFill>
                </a:uFill>
                <a:latin typeface="Century Gothic" panose="020B0502020202020204" pitchFamily="34" charset="0"/>
                <a:cs typeface="Calibri"/>
              </a:rPr>
              <a:t>Programme</a:t>
            </a:r>
          </a:p>
          <a:p>
            <a:pPr marL="12700" algn="just">
              <a:lnSpc>
                <a:spcPct val="100000"/>
              </a:lnSpc>
              <a:spcAft>
                <a:spcPts val="600"/>
              </a:spcAft>
            </a:pPr>
            <a:r>
              <a:rPr lang="en-US" sz="1100" b="1" spc="-10" noProof="0" dirty="0">
                <a:solidFill>
                  <a:srgbClr val="002060"/>
                </a:solidFill>
                <a:uFill>
                  <a:solidFill>
                    <a:srgbClr val="39A0D2"/>
                  </a:solidFill>
                </a:uFill>
                <a:latin typeface="Century Gothic" panose="020B0502020202020204" pitchFamily="34" charset="0"/>
                <a:cs typeface="Calibri"/>
              </a:rPr>
              <a:t>Kazakhstan–German Transport and Logistics Forum “Digitalization, Human Capital, Transit Opportunities”</a:t>
            </a:r>
          </a:p>
          <a:p>
            <a:pPr marL="12700" algn="just">
              <a:lnSpc>
                <a:spcPct val="100000"/>
              </a:lnSpc>
              <a:spcAft>
                <a:spcPts val="600"/>
              </a:spcAft>
            </a:pPr>
            <a:endParaRPr lang="en-US" sz="1100" spc="-10" noProof="0" dirty="0">
              <a:solidFill>
                <a:srgbClr val="002060"/>
              </a:solidFill>
              <a:uFill>
                <a:solidFill>
                  <a:srgbClr val="39A0D2"/>
                </a:solidFill>
              </a:uFill>
              <a:latin typeface="Century Gothic" panose="020B0502020202020204" pitchFamily="34" charset="0"/>
              <a:cs typeface="Calibri"/>
            </a:endParaRPr>
          </a:p>
          <a:p>
            <a:pPr marL="12700" algn="just">
              <a:lnSpc>
                <a:spcPct val="100000"/>
              </a:lnSpc>
            </a:pPr>
            <a:r>
              <a:rPr lang="en-US" sz="1100" spc="-10" noProof="0" dirty="0">
                <a:solidFill>
                  <a:srgbClr val="002060"/>
                </a:solidFill>
                <a:uFill>
                  <a:solidFill>
                    <a:srgbClr val="39A0D2"/>
                  </a:solidFill>
                </a:uFill>
                <a:latin typeface="Century Gothic" panose="020B0502020202020204" pitchFamily="34" charset="0"/>
                <a:cs typeface="Calibri"/>
              </a:rPr>
              <a:t>10:30 – 11:00 </a:t>
            </a:r>
            <a:r>
              <a:rPr lang="en-US" sz="1100" b="1" spc="-10" noProof="0" dirty="0">
                <a:solidFill>
                  <a:srgbClr val="002060"/>
                </a:solidFill>
                <a:uFill>
                  <a:solidFill>
                    <a:srgbClr val="39A0D2"/>
                  </a:solidFill>
                </a:uFill>
                <a:latin typeface="Century Gothic" panose="020B0502020202020204" pitchFamily="34" charset="0"/>
                <a:cs typeface="Calibri"/>
              </a:rPr>
              <a:t>Registration / Coffee Break</a:t>
            </a:r>
          </a:p>
          <a:p>
            <a:pPr marL="12700" algn="just">
              <a:lnSpc>
                <a:spcPct val="100000"/>
              </a:lnSpc>
            </a:pPr>
            <a:endParaRPr lang="en-US" sz="1100" spc="-10" noProof="0" dirty="0">
              <a:solidFill>
                <a:srgbClr val="002060"/>
              </a:solidFill>
              <a:uFill>
                <a:solidFill>
                  <a:srgbClr val="39A0D2"/>
                </a:solidFill>
              </a:uFill>
              <a:latin typeface="Century Gothic" panose="020B0502020202020204" pitchFamily="34" charset="0"/>
              <a:cs typeface="Calibri"/>
            </a:endParaRPr>
          </a:p>
          <a:p>
            <a:pPr marL="12700" algn="just">
              <a:lnSpc>
                <a:spcPct val="100000"/>
              </a:lnSpc>
              <a:spcAft>
                <a:spcPts val="600"/>
              </a:spcAft>
            </a:pPr>
            <a:r>
              <a:rPr lang="en-US" sz="1100" spc="-10" noProof="0" dirty="0">
                <a:solidFill>
                  <a:srgbClr val="002060"/>
                </a:solidFill>
                <a:uFill>
                  <a:solidFill>
                    <a:srgbClr val="39A0D2"/>
                  </a:solidFill>
                </a:uFill>
                <a:latin typeface="Century Gothic" panose="020B0502020202020204" pitchFamily="34" charset="0"/>
                <a:cs typeface="Calibri"/>
              </a:rPr>
              <a:t>11:00 – 11:20</a:t>
            </a:r>
            <a:r>
              <a:rPr lang="en-US" sz="1100" b="1" spc="-10" noProof="0" dirty="0">
                <a:solidFill>
                  <a:srgbClr val="002060"/>
                </a:solidFill>
                <a:uFill>
                  <a:solidFill>
                    <a:srgbClr val="39A0D2"/>
                  </a:solidFill>
                </a:uFill>
                <a:latin typeface="Century Gothic" panose="020B0502020202020204" pitchFamily="34" charset="0"/>
                <a:cs typeface="Calibri"/>
              </a:rPr>
              <a:t> Welcome Remarks</a:t>
            </a:r>
            <a:endParaRPr lang="en-US" sz="1100" spc="-10" dirty="0">
              <a:solidFill>
                <a:srgbClr val="002060"/>
              </a:solidFill>
              <a:uFill>
                <a:solidFill>
                  <a:srgbClr val="39A0D2"/>
                </a:solidFill>
              </a:uFill>
              <a:latin typeface="Century Gothic" panose="020B0502020202020204" pitchFamily="34" charset="0"/>
              <a:cs typeface="Calibri"/>
            </a:endParaRPr>
          </a:p>
          <a:p>
            <a:pPr marL="355600" algn="just">
              <a:lnSpc>
                <a:spcPct val="100000"/>
              </a:lnSpc>
              <a:spcAft>
                <a:spcPts val="600"/>
              </a:spcAft>
            </a:pPr>
            <a:r>
              <a:rPr lang="en-US" sz="1100" spc="-10" noProof="0" dirty="0">
                <a:solidFill>
                  <a:srgbClr val="002060"/>
                </a:solidFill>
                <a:uFill>
                  <a:solidFill>
                    <a:srgbClr val="39A0D2"/>
                  </a:solidFill>
                </a:uFill>
                <a:latin typeface="Century Gothic" panose="020B0502020202020204" pitchFamily="34" charset="0"/>
                <a:cs typeface="Calibri"/>
              </a:rPr>
              <a:t>Vice Minister of Transport of the Republic of Kazakhstan</a:t>
            </a:r>
          </a:p>
          <a:p>
            <a:pPr marL="355600" algn="just">
              <a:lnSpc>
                <a:spcPct val="100000"/>
              </a:lnSpc>
              <a:spcAft>
                <a:spcPts val="600"/>
              </a:spcAft>
            </a:pPr>
            <a:r>
              <a:rPr lang="en-US" sz="1100" spc="-10" noProof="0" dirty="0">
                <a:solidFill>
                  <a:srgbClr val="002060"/>
                </a:solidFill>
                <a:uFill>
                  <a:solidFill>
                    <a:srgbClr val="39A0D2"/>
                  </a:solidFill>
                </a:uFill>
                <a:latin typeface="Century Gothic" panose="020B0502020202020204" pitchFamily="34" charset="0"/>
                <a:cs typeface="Calibri"/>
              </a:rPr>
              <a:t>Ambassador / Consul General of the Federal Republic of Germany in Kazakhstan</a:t>
            </a:r>
          </a:p>
          <a:p>
            <a:pPr marL="355600" algn="just">
              <a:spcAft>
                <a:spcPts val="600"/>
              </a:spcAft>
            </a:pPr>
            <a:r>
              <a:rPr lang="en-US" sz="1100" b="1" spc="-10" noProof="0" dirty="0">
                <a:solidFill>
                  <a:srgbClr val="002060"/>
                </a:solidFill>
                <a:uFill>
                  <a:solidFill>
                    <a:srgbClr val="39A0D2"/>
                  </a:solidFill>
                </a:uFill>
                <a:latin typeface="Century Gothic" panose="020B0502020202020204" pitchFamily="34" charset="0"/>
                <a:cs typeface="Calibri"/>
              </a:rPr>
              <a:t>Mr. </a:t>
            </a:r>
            <a:r>
              <a:rPr lang="en-US" sz="1100" b="1" spc="-10" noProof="0" dirty="0" err="1">
                <a:solidFill>
                  <a:srgbClr val="002060"/>
                </a:solidFill>
                <a:uFill>
                  <a:solidFill>
                    <a:srgbClr val="39A0D2"/>
                  </a:solidFill>
                </a:uFill>
                <a:latin typeface="Century Gothic" panose="020B0502020202020204" pitchFamily="34" charset="0"/>
                <a:cs typeface="Calibri"/>
              </a:rPr>
              <a:t>Meyram</a:t>
            </a:r>
            <a:r>
              <a:rPr lang="en-US" sz="1100" b="1" spc="-10" noProof="0" dirty="0">
                <a:solidFill>
                  <a:srgbClr val="002060"/>
                </a:solidFill>
                <a:uFill>
                  <a:solidFill>
                    <a:srgbClr val="39A0D2"/>
                  </a:solidFill>
                </a:uFill>
                <a:latin typeface="Century Gothic" panose="020B0502020202020204" pitchFamily="34" charset="0"/>
                <a:cs typeface="Calibri"/>
              </a:rPr>
              <a:t> M. </a:t>
            </a:r>
            <a:r>
              <a:rPr lang="en-US" sz="1100" b="1" spc="-10" noProof="0" dirty="0" err="1">
                <a:solidFill>
                  <a:srgbClr val="002060"/>
                </a:solidFill>
                <a:uFill>
                  <a:solidFill>
                    <a:srgbClr val="39A0D2"/>
                  </a:solidFill>
                </a:uFill>
                <a:latin typeface="Century Gothic" panose="020B0502020202020204" pitchFamily="34" charset="0"/>
                <a:cs typeface="Calibri"/>
              </a:rPr>
              <a:t>Begentayev</a:t>
            </a:r>
            <a:r>
              <a:rPr lang="en-US" sz="1100" b="1" spc="-10" noProof="0" dirty="0">
                <a:solidFill>
                  <a:srgbClr val="002060"/>
                </a:solidFill>
                <a:uFill>
                  <a:solidFill>
                    <a:srgbClr val="39A0D2"/>
                  </a:solidFill>
                </a:uFill>
                <a:latin typeface="Century Gothic" panose="020B0502020202020204" pitchFamily="34" charset="0"/>
                <a:cs typeface="Calibri"/>
              </a:rPr>
              <a:t>, </a:t>
            </a:r>
            <a:r>
              <a:rPr lang="en-US" sz="1100" spc="-10" noProof="0" dirty="0">
                <a:solidFill>
                  <a:srgbClr val="002060"/>
                </a:solidFill>
                <a:uFill>
                  <a:solidFill>
                    <a:srgbClr val="39A0D2"/>
                  </a:solidFill>
                </a:uFill>
                <a:latin typeface="Century Gothic" panose="020B0502020202020204" pitchFamily="34" charset="0"/>
                <a:cs typeface="Calibri"/>
              </a:rPr>
              <a:t>Rector of </a:t>
            </a:r>
            <a:r>
              <a:rPr lang="en-US" sz="1100" spc="-10" noProof="0" dirty="0" err="1">
                <a:solidFill>
                  <a:srgbClr val="002060"/>
                </a:solidFill>
                <a:uFill>
                  <a:solidFill>
                    <a:srgbClr val="39A0D2"/>
                  </a:solidFill>
                </a:uFill>
                <a:latin typeface="Century Gothic" panose="020B0502020202020204" pitchFamily="34" charset="0"/>
                <a:cs typeface="Calibri"/>
              </a:rPr>
              <a:t>Satbayev</a:t>
            </a:r>
            <a:r>
              <a:rPr lang="en-US" sz="1100" spc="-10" noProof="0" dirty="0">
                <a:solidFill>
                  <a:srgbClr val="002060"/>
                </a:solidFill>
                <a:uFill>
                  <a:solidFill>
                    <a:srgbClr val="39A0D2"/>
                  </a:solidFill>
                </a:uFill>
                <a:latin typeface="Century Gothic" panose="020B0502020202020204" pitchFamily="34" charset="0"/>
                <a:cs typeface="Calibri"/>
              </a:rPr>
              <a:t> University </a:t>
            </a:r>
          </a:p>
          <a:p>
            <a:pPr marL="355600" algn="just">
              <a:lnSpc>
                <a:spcPct val="100000"/>
              </a:lnSpc>
              <a:spcAft>
                <a:spcPts val="600"/>
              </a:spcAft>
            </a:pPr>
            <a:r>
              <a:rPr lang="en-US" sz="1100" b="1" spc="-10" noProof="0" dirty="0">
                <a:solidFill>
                  <a:srgbClr val="002060"/>
                </a:solidFill>
                <a:uFill>
                  <a:solidFill>
                    <a:srgbClr val="39A0D2"/>
                  </a:solidFill>
                </a:uFill>
                <a:latin typeface="Century Gothic" panose="020B0502020202020204" pitchFamily="34" charset="0"/>
                <a:cs typeface="Calibri"/>
              </a:rPr>
              <a:t>Ms. Judith Blank, </a:t>
            </a:r>
            <a:r>
              <a:rPr lang="en-US" sz="1100" spc="-10" noProof="0" dirty="0">
                <a:solidFill>
                  <a:srgbClr val="002060"/>
                </a:solidFill>
                <a:uFill>
                  <a:solidFill>
                    <a:srgbClr val="39A0D2"/>
                  </a:solidFill>
                </a:uFill>
                <a:latin typeface="Century Gothic" panose="020B0502020202020204" pitchFamily="34" charset="0"/>
                <a:cs typeface="Calibri"/>
              </a:rPr>
              <a:t>Project Director, Regional Programme Trade Facilitation in Central Asia/TCTC Capacity Development Programme, GIZ Central Asia”</a:t>
            </a:r>
          </a:p>
          <a:p>
            <a:pPr marL="12700" algn="just">
              <a:lnSpc>
                <a:spcPct val="100000"/>
              </a:lnSpc>
              <a:spcAft>
                <a:spcPts val="600"/>
              </a:spcAft>
            </a:pPr>
            <a:endParaRPr lang="en-US" sz="1100" spc="-10" noProof="0" dirty="0">
              <a:solidFill>
                <a:srgbClr val="002060"/>
              </a:solidFill>
              <a:uFill>
                <a:solidFill>
                  <a:srgbClr val="39A0D2"/>
                </a:solidFill>
              </a:uFill>
              <a:latin typeface="Century Gothic" panose="020B0502020202020204" pitchFamily="34" charset="0"/>
              <a:cs typeface="Calibri"/>
            </a:endParaRPr>
          </a:p>
          <a:p>
            <a:pPr marL="12700" algn="just">
              <a:lnSpc>
                <a:spcPct val="100000"/>
              </a:lnSpc>
            </a:pPr>
            <a:r>
              <a:rPr lang="en-US" sz="1100" spc="-10" noProof="0" dirty="0">
                <a:solidFill>
                  <a:srgbClr val="002060"/>
                </a:solidFill>
                <a:uFill>
                  <a:solidFill>
                    <a:srgbClr val="39A0D2"/>
                  </a:solidFill>
                </a:uFill>
                <a:latin typeface="Century Gothic" panose="020B0502020202020204" pitchFamily="34" charset="0"/>
                <a:cs typeface="Calibri"/>
              </a:rPr>
              <a:t>11:20 – 12:20</a:t>
            </a:r>
            <a:r>
              <a:rPr lang="en-US" sz="1100" b="1" spc="-10" noProof="0" dirty="0">
                <a:solidFill>
                  <a:srgbClr val="002060"/>
                </a:solidFill>
                <a:uFill>
                  <a:solidFill>
                    <a:srgbClr val="39A0D2"/>
                  </a:solidFill>
                </a:uFill>
                <a:latin typeface="Century Gothic" panose="020B0502020202020204" pitchFamily="34" charset="0"/>
                <a:cs typeface="Calibri"/>
              </a:rPr>
              <a:t> Plenary Session</a:t>
            </a:r>
          </a:p>
          <a:p>
            <a:pPr marL="12700" algn="just">
              <a:lnSpc>
                <a:spcPct val="100000"/>
              </a:lnSpc>
            </a:pPr>
            <a:r>
              <a:rPr lang="en-US" sz="1100" b="1" i="1" spc="-10" noProof="0" dirty="0">
                <a:solidFill>
                  <a:srgbClr val="002060"/>
                </a:solidFill>
                <a:uFill>
                  <a:solidFill>
                    <a:srgbClr val="39A0D2"/>
                  </a:solidFill>
                </a:uFill>
                <a:latin typeface="Century Gothic" panose="020B0502020202020204" pitchFamily="34" charset="0"/>
                <a:cs typeface="Calibri"/>
              </a:rPr>
              <a:t>Moderator:</a:t>
            </a:r>
            <a:r>
              <a:rPr lang="en-US" sz="1100" i="1" spc="-10" noProof="0" dirty="0">
                <a:solidFill>
                  <a:srgbClr val="002060"/>
                </a:solidFill>
                <a:uFill>
                  <a:solidFill>
                    <a:srgbClr val="39A0D2"/>
                  </a:solidFill>
                </a:uFill>
                <a:latin typeface="Century Gothic" panose="020B0502020202020204" pitchFamily="34" charset="0"/>
                <a:cs typeface="Calibri"/>
              </a:rPr>
              <a:t> </a:t>
            </a:r>
            <a:r>
              <a:rPr lang="en-US" sz="1100" b="1" spc="-10" noProof="0" dirty="0">
                <a:solidFill>
                  <a:srgbClr val="002060"/>
                </a:solidFill>
                <a:uFill>
                  <a:solidFill>
                    <a:srgbClr val="39A0D2"/>
                  </a:solidFill>
                </a:uFill>
                <a:latin typeface="Century Gothic" panose="020B0502020202020204" pitchFamily="34" charset="0"/>
                <a:cs typeface="Calibri"/>
              </a:rPr>
              <a:t>Mr. Marat M. Idrissov</a:t>
            </a:r>
            <a:r>
              <a:rPr lang="en-US" sz="1100" spc="-10" noProof="0" dirty="0">
                <a:solidFill>
                  <a:srgbClr val="002060"/>
                </a:solidFill>
                <a:uFill>
                  <a:solidFill>
                    <a:srgbClr val="39A0D2"/>
                  </a:solidFill>
                </a:uFill>
                <a:latin typeface="Century Gothic" panose="020B0502020202020204" pitchFamily="34" charset="0"/>
                <a:cs typeface="Calibri"/>
              </a:rPr>
              <a:t>, Kazakhstan Industry Development Institute</a:t>
            </a:r>
          </a:p>
          <a:p>
            <a:pPr marL="12700" algn="just">
              <a:lnSpc>
                <a:spcPct val="100000"/>
              </a:lnSpc>
              <a:spcAft>
                <a:spcPts val="600"/>
              </a:spcAft>
            </a:pPr>
            <a:r>
              <a:rPr lang="en-US" sz="1100" b="1" i="1" spc="-10" noProof="0" dirty="0">
                <a:solidFill>
                  <a:srgbClr val="002060"/>
                </a:solidFill>
                <a:uFill>
                  <a:solidFill>
                    <a:srgbClr val="39A0D2"/>
                  </a:solidFill>
                </a:uFill>
                <a:latin typeface="Century Gothic" panose="020B0502020202020204" pitchFamily="34" charset="0"/>
                <a:cs typeface="Calibri"/>
              </a:rPr>
              <a:t>Speakers:</a:t>
            </a:r>
          </a:p>
          <a:p>
            <a:pPr marL="355600" algn="just">
              <a:lnSpc>
                <a:spcPct val="100000"/>
              </a:lnSpc>
              <a:spcAft>
                <a:spcPts val="600"/>
              </a:spcAft>
            </a:pPr>
            <a:r>
              <a:rPr lang="en-US" sz="1100" b="1" spc="-10" noProof="0" dirty="0">
                <a:solidFill>
                  <a:srgbClr val="002060"/>
                </a:solidFill>
                <a:uFill>
                  <a:solidFill>
                    <a:srgbClr val="39A0D2"/>
                  </a:solidFill>
                </a:uFill>
                <a:latin typeface="Century Gothic" panose="020B0502020202020204" pitchFamily="34" charset="0"/>
                <a:cs typeface="Calibri"/>
              </a:rPr>
              <a:t>Ms. Gulmira S. Mukhanova</a:t>
            </a:r>
            <a:r>
              <a:rPr lang="en-US" sz="1100" spc="-10" noProof="0" dirty="0">
                <a:solidFill>
                  <a:srgbClr val="002060"/>
                </a:solidFill>
                <a:uFill>
                  <a:solidFill>
                    <a:srgbClr val="39A0D2"/>
                  </a:solidFill>
                </a:uFill>
                <a:latin typeface="Century Gothic" panose="020B0502020202020204" pitchFamily="34" charset="0"/>
                <a:cs typeface="Calibri"/>
              </a:rPr>
              <a:t>, Candidate of Technical Sciences, Associate Professor, Professor at the M. </a:t>
            </a:r>
            <a:r>
              <a:rPr lang="en-US" sz="1100" spc="-10" noProof="0" dirty="0" err="1">
                <a:solidFill>
                  <a:srgbClr val="002060"/>
                </a:solidFill>
                <a:uFill>
                  <a:solidFill>
                    <a:srgbClr val="39A0D2"/>
                  </a:solidFill>
                </a:uFill>
                <a:latin typeface="Century Gothic" panose="020B0502020202020204" pitchFamily="34" charset="0"/>
                <a:cs typeface="Calibri"/>
              </a:rPr>
              <a:t>Tynyshpaev</a:t>
            </a:r>
            <a:r>
              <a:rPr lang="en-US" sz="1100" spc="-10" noProof="0" dirty="0">
                <a:solidFill>
                  <a:srgbClr val="002060"/>
                </a:solidFill>
                <a:uFill>
                  <a:solidFill>
                    <a:srgbClr val="39A0D2"/>
                  </a:solidFill>
                </a:uFill>
                <a:latin typeface="Century Gothic" panose="020B0502020202020204" pitchFamily="34" charset="0"/>
                <a:cs typeface="Calibri"/>
              </a:rPr>
              <a:t> School of Transport Engineering and Logistics</a:t>
            </a:r>
          </a:p>
          <a:p>
            <a:pPr marL="355600" algn="just">
              <a:lnSpc>
                <a:spcPct val="100000"/>
              </a:lnSpc>
              <a:spcAft>
                <a:spcPts val="600"/>
              </a:spcAft>
            </a:pPr>
            <a:r>
              <a:rPr lang="en-US" sz="1100" b="1" spc="-10" noProof="0" dirty="0">
                <a:solidFill>
                  <a:srgbClr val="002060"/>
                </a:solidFill>
                <a:uFill>
                  <a:solidFill>
                    <a:srgbClr val="39A0D2"/>
                  </a:solidFill>
                </a:uFill>
                <a:latin typeface="Century Gothic" panose="020B0502020202020204" pitchFamily="34" charset="0"/>
                <a:cs typeface="Calibri"/>
              </a:rPr>
              <a:t>Mr. Mirco Nowak</a:t>
            </a:r>
            <a:r>
              <a:rPr lang="en-US" sz="1100" spc="-10" noProof="0" dirty="0">
                <a:solidFill>
                  <a:srgbClr val="002060"/>
                </a:solidFill>
                <a:uFill>
                  <a:solidFill>
                    <a:srgbClr val="39A0D2"/>
                  </a:solidFill>
                </a:uFill>
                <a:latin typeface="Century Gothic" panose="020B0502020202020204" pitchFamily="34" charset="0"/>
                <a:cs typeface="Calibri"/>
              </a:rPr>
              <a:t>, CEO, LUNO Group; Chairperson, Eurasia Chapter, </a:t>
            </a:r>
            <a:r>
              <a:rPr lang="en-US" sz="1100" spc="-10" noProof="0" dirty="0" err="1">
                <a:solidFill>
                  <a:srgbClr val="002060"/>
                </a:solidFill>
                <a:uFill>
                  <a:solidFill>
                    <a:srgbClr val="39A0D2"/>
                  </a:solidFill>
                </a:uFill>
                <a:latin typeface="Century Gothic" panose="020B0502020202020204" pitchFamily="34" charset="0"/>
                <a:cs typeface="Calibri"/>
              </a:rPr>
              <a:t>Bundesvereinigung</a:t>
            </a:r>
            <a:r>
              <a:rPr lang="en-US" sz="1100" spc="-10" noProof="0" dirty="0">
                <a:solidFill>
                  <a:srgbClr val="002060"/>
                </a:solidFill>
                <a:uFill>
                  <a:solidFill>
                    <a:srgbClr val="39A0D2"/>
                  </a:solidFill>
                </a:uFill>
                <a:latin typeface="Century Gothic" panose="020B0502020202020204" pitchFamily="34" charset="0"/>
                <a:cs typeface="Calibri"/>
              </a:rPr>
              <a:t> </a:t>
            </a:r>
            <a:r>
              <a:rPr lang="en-US" sz="1100" spc="-10" noProof="0" dirty="0" err="1">
                <a:solidFill>
                  <a:srgbClr val="002060"/>
                </a:solidFill>
                <a:uFill>
                  <a:solidFill>
                    <a:srgbClr val="39A0D2"/>
                  </a:solidFill>
                </a:uFill>
                <a:latin typeface="Century Gothic" panose="020B0502020202020204" pitchFamily="34" charset="0"/>
                <a:cs typeface="Calibri"/>
              </a:rPr>
              <a:t>Logistik</a:t>
            </a:r>
            <a:r>
              <a:rPr lang="en-US" sz="1100" spc="-10" noProof="0" dirty="0">
                <a:solidFill>
                  <a:srgbClr val="002060"/>
                </a:solidFill>
                <a:uFill>
                  <a:solidFill>
                    <a:srgbClr val="39A0D2"/>
                  </a:solidFill>
                </a:uFill>
                <a:latin typeface="Century Gothic" panose="020B0502020202020204" pitchFamily="34" charset="0"/>
                <a:cs typeface="Calibri"/>
              </a:rPr>
              <a:t> (BVL), Germany</a:t>
            </a:r>
          </a:p>
          <a:p>
            <a:pPr marL="355600" algn="just">
              <a:lnSpc>
                <a:spcPct val="100000"/>
              </a:lnSpc>
              <a:spcAft>
                <a:spcPts val="600"/>
              </a:spcAft>
            </a:pPr>
            <a:r>
              <a:rPr lang="en-US" sz="1100" b="1" spc="-10" noProof="0" dirty="0">
                <a:solidFill>
                  <a:srgbClr val="002060"/>
                </a:solidFill>
                <a:uFill>
                  <a:solidFill>
                    <a:srgbClr val="39A0D2"/>
                  </a:solidFill>
                </a:uFill>
                <a:latin typeface="Century Gothic" panose="020B0502020202020204" pitchFamily="34" charset="0"/>
                <a:cs typeface="Calibri"/>
              </a:rPr>
              <a:t>Ms. Judith Blank, </a:t>
            </a:r>
            <a:r>
              <a:rPr lang="en-US" sz="1100" spc="-10" noProof="0" dirty="0">
                <a:solidFill>
                  <a:srgbClr val="002060"/>
                </a:solidFill>
                <a:uFill>
                  <a:solidFill>
                    <a:srgbClr val="39A0D2"/>
                  </a:solidFill>
                </a:uFill>
                <a:latin typeface="Century Gothic" panose="020B0502020202020204" pitchFamily="34" charset="0"/>
                <a:cs typeface="Calibri"/>
              </a:rPr>
              <a:t>Project Director, Regional Programme Trade Facilitation in Central Asia/TCTC Capacity Development Programme, GIZ Central Asia”</a:t>
            </a:r>
          </a:p>
          <a:p>
            <a:pPr marL="12700" algn="just">
              <a:lnSpc>
                <a:spcPct val="100000"/>
              </a:lnSpc>
              <a:spcAft>
                <a:spcPts val="600"/>
              </a:spcAft>
            </a:pPr>
            <a:endParaRPr lang="en-US" sz="1100" spc="-10" noProof="0" dirty="0">
              <a:solidFill>
                <a:srgbClr val="002060"/>
              </a:solidFill>
              <a:uFill>
                <a:solidFill>
                  <a:srgbClr val="39A0D2"/>
                </a:solidFill>
              </a:uFill>
              <a:latin typeface="Century Gothic" panose="020B0502020202020204" pitchFamily="34" charset="0"/>
              <a:cs typeface="Calibri"/>
            </a:endParaRPr>
          </a:p>
          <a:p>
            <a:pPr marL="12700" algn="just">
              <a:lnSpc>
                <a:spcPct val="100000"/>
              </a:lnSpc>
              <a:spcAft>
                <a:spcPts val="600"/>
              </a:spcAft>
            </a:pPr>
            <a:r>
              <a:rPr lang="en-US" sz="1100" spc="-10" noProof="0" dirty="0">
                <a:solidFill>
                  <a:srgbClr val="002060"/>
                </a:solidFill>
                <a:uFill>
                  <a:solidFill>
                    <a:srgbClr val="39A0D2"/>
                  </a:solidFill>
                </a:uFill>
                <a:latin typeface="Century Gothic" panose="020B0502020202020204" pitchFamily="34" charset="0"/>
                <a:cs typeface="Calibri"/>
              </a:rPr>
              <a:t>12:20 – 12:30 </a:t>
            </a:r>
            <a:r>
              <a:rPr lang="en-US" sz="1100" b="1" spc="-10" noProof="0" dirty="0">
                <a:solidFill>
                  <a:srgbClr val="002060"/>
                </a:solidFill>
                <a:uFill>
                  <a:solidFill>
                    <a:srgbClr val="39A0D2"/>
                  </a:solidFill>
                </a:uFill>
                <a:latin typeface="Century Gothic" panose="020B0502020202020204" pitchFamily="34" charset="0"/>
                <a:cs typeface="Calibri"/>
              </a:rPr>
              <a:t>Coffee Break</a:t>
            </a:r>
          </a:p>
          <a:p>
            <a:pPr marL="12700" algn="just">
              <a:lnSpc>
                <a:spcPct val="100000"/>
              </a:lnSpc>
              <a:spcAft>
                <a:spcPts val="600"/>
              </a:spcAft>
            </a:pPr>
            <a:endParaRPr lang="en-US" sz="1100" spc="-10" noProof="0" dirty="0">
              <a:solidFill>
                <a:srgbClr val="002060"/>
              </a:solidFill>
              <a:uFill>
                <a:solidFill>
                  <a:srgbClr val="39A0D2"/>
                </a:solidFill>
              </a:uFill>
              <a:latin typeface="Century Gothic" panose="020B0502020202020204" pitchFamily="34" charset="0"/>
              <a:cs typeface="Calibri"/>
            </a:endParaRPr>
          </a:p>
          <a:p>
            <a:pPr marL="12700" algn="just">
              <a:lnSpc>
                <a:spcPct val="100000"/>
              </a:lnSpc>
            </a:pPr>
            <a:r>
              <a:rPr lang="en-US" sz="1100" spc="-10" noProof="0" dirty="0">
                <a:solidFill>
                  <a:srgbClr val="002060"/>
                </a:solidFill>
                <a:uFill>
                  <a:solidFill>
                    <a:srgbClr val="39A0D2"/>
                  </a:solidFill>
                </a:uFill>
                <a:latin typeface="Century Gothic" panose="020B0502020202020204" pitchFamily="34" charset="0"/>
                <a:cs typeface="Calibri"/>
              </a:rPr>
              <a:t>12:30 – 12:45 </a:t>
            </a:r>
            <a:r>
              <a:rPr lang="en-US" sz="1100" b="1" spc="-10" noProof="0" dirty="0">
                <a:solidFill>
                  <a:srgbClr val="002060"/>
                </a:solidFill>
                <a:uFill>
                  <a:solidFill>
                    <a:srgbClr val="39A0D2"/>
                  </a:solidFill>
                </a:uFill>
                <a:latin typeface="Century Gothic" panose="020B0502020202020204" pitchFamily="34" charset="0"/>
                <a:cs typeface="Calibri"/>
              </a:rPr>
              <a:t>Q&amp;A Session with Speakers</a:t>
            </a:r>
          </a:p>
          <a:p>
            <a:pPr marL="12700" algn="just">
              <a:lnSpc>
                <a:spcPct val="100000"/>
              </a:lnSpc>
            </a:pPr>
            <a:r>
              <a:rPr lang="en-US" sz="1100" b="1" i="1" spc="-10" noProof="0" dirty="0">
                <a:solidFill>
                  <a:srgbClr val="002060"/>
                </a:solidFill>
                <a:uFill>
                  <a:solidFill>
                    <a:srgbClr val="39A0D2"/>
                  </a:solidFill>
                </a:uFill>
                <a:latin typeface="Century Gothic" panose="020B0502020202020204" pitchFamily="34" charset="0"/>
                <a:cs typeface="Calibri"/>
              </a:rPr>
              <a:t>Moderator:</a:t>
            </a:r>
            <a:r>
              <a:rPr lang="en-US" sz="1100" spc="-10" noProof="0" dirty="0">
                <a:solidFill>
                  <a:srgbClr val="002060"/>
                </a:solidFill>
                <a:uFill>
                  <a:solidFill>
                    <a:srgbClr val="39A0D2"/>
                  </a:solidFill>
                </a:uFill>
                <a:latin typeface="Century Gothic" panose="020B0502020202020204" pitchFamily="34" charset="0"/>
                <a:cs typeface="Calibri"/>
              </a:rPr>
              <a:t> </a:t>
            </a:r>
            <a:r>
              <a:rPr lang="en-US" sz="1100" b="1" spc="-10" noProof="0" dirty="0">
                <a:solidFill>
                  <a:srgbClr val="002060"/>
                </a:solidFill>
                <a:uFill>
                  <a:solidFill>
                    <a:srgbClr val="39A0D2"/>
                  </a:solidFill>
                </a:uFill>
                <a:latin typeface="Century Gothic" panose="020B0502020202020204" pitchFamily="34" charset="0"/>
                <a:cs typeface="Calibri"/>
              </a:rPr>
              <a:t>Mr. Marat M. Idrissov</a:t>
            </a:r>
            <a:r>
              <a:rPr lang="en-US" sz="1100" spc="-10" noProof="0" dirty="0">
                <a:solidFill>
                  <a:srgbClr val="002060"/>
                </a:solidFill>
                <a:uFill>
                  <a:solidFill>
                    <a:srgbClr val="39A0D2"/>
                  </a:solidFill>
                </a:uFill>
                <a:latin typeface="Century Gothic" panose="020B0502020202020204" pitchFamily="34" charset="0"/>
                <a:cs typeface="Calibri"/>
              </a:rPr>
              <a:t>, Kazakhstan Industry Development Institute</a:t>
            </a:r>
          </a:p>
          <a:p>
            <a:pPr marL="12700" algn="just">
              <a:lnSpc>
                <a:spcPct val="100000"/>
              </a:lnSpc>
              <a:spcAft>
                <a:spcPts val="600"/>
              </a:spcAft>
            </a:pPr>
            <a:endParaRPr lang="en-US" sz="1100" spc="-10" noProof="0" dirty="0">
              <a:solidFill>
                <a:srgbClr val="002060"/>
              </a:solidFill>
              <a:uFill>
                <a:solidFill>
                  <a:srgbClr val="39A0D2"/>
                </a:solidFill>
              </a:uFill>
              <a:latin typeface="Century Gothic" panose="020B0502020202020204" pitchFamily="34" charset="0"/>
              <a:cs typeface="Calibri"/>
            </a:endParaRPr>
          </a:p>
          <a:p>
            <a:pPr marL="12700" algn="just">
              <a:lnSpc>
                <a:spcPct val="100000"/>
              </a:lnSpc>
            </a:pPr>
            <a:r>
              <a:rPr lang="en-US" sz="1100" spc="-10" noProof="0" dirty="0">
                <a:solidFill>
                  <a:srgbClr val="002060"/>
                </a:solidFill>
                <a:uFill>
                  <a:solidFill>
                    <a:srgbClr val="39A0D2"/>
                  </a:solidFill>
                </a:uFill>
                <a:latin typeface="Century Gothic" panose="020B0502020202020204" pitchFamily="34" charset="0"/>
                <a:cs typeface="Calibri"/>
              </a:rPr>
              <a:t>12:45 – 13:00 </a:t>
            </a:r>
            <a:r>
              <a:rPr lang="en-US" sz="1100" b="1" spc="-10" noProof="0" dirty="0">
                <a:solidFill>
                  <a:srgbClr val="002060"/>
                </a:solidFill>
                <a:uFill>
                  <a:solidFill>
                    <a:srgbClr val="39A0D2"/>
                  </a:solidFill>
                </a:uFill>
                <a:latin typeface="Century Gothic" panose="020B0502020202020204" pitchFamily="34" charset="0"/>
                <a:cs typeface="Calibri"/>
              </a:rPr>
              <a:t>Q&amp;A Session with Forum Participants / Open Discussion</a:t>
            </a:r>
          </a:p>
          <a:p>
            <a:pPr marL="12700" algn="just">
              <a:lnSpc>
                <a:spcPct val="100000"/>
              </a:lnSpc>
            </a:pPr>
            <a:r>
              <a:rPr lang="en-US" sz="1100" b="1" i="1" spc="-10" noProof="0" dirty="0">
                <a:solidFill>
                  <a:srgbClr val="002060"/>
                </a:solidFill>
                <a:uFill>
                  <a:solidFill>
                    <a:srgbClr val="39A0D2"/>
                  </a:solidFill>
                </a:uFill>
                <a:latin typeface="Century Gothic" panose="020B0502020202020204" pitchFamily="34" charset="0"/>
                <a:cs typeface="Calibri"/>
              </a:rPr>
              <a:t>Moderator: </a:t>
            </a:r>
            <a:r>
              <a:rPr lang="en-US" sz="1100" b="1" spc="-10" noProof="0" dirty="0">
                <a:solidFill>
                  <a:srgbClr val="002060"/>
                </a:solidFill>
                <a:uFill>
                  <a:solidFill>
                    <a:srgbClr val="39A0D2"/>
                  </a:solidFill>
                </a:uFill>
                <a:latin typeface="Century Gothic" panose="020B0502020202020204" pitchFamily="34" charset="0"/>
                <a:cs typeface="Calibri"/>
              </a:rPr>
              <a:t>Mr. Marat M. Idrissov</a:t>
            </a:r>
            <a:r>
              <a:rPr lang="en-US" sz="1100" spc="-10" noProof="0" dirty="0">
                <a:solidFill>
                  <a:srgbClr val="002060"/>
                </a:solidFill>
                <a:uFill>
                  <a:solidFill>
                    <a:srgbClr val="39A0D2"/>
                  </a:solidFill>
                </a:uFill>
                <a:latin typeface="Century Gothic" panose="020B0502020202020204" pitchFamily="34" charset="0"/>
                <a:cs typeface="Calibri"/>
              </a:rPr>
              <a:t>, Kazakhstan Industry Development Institute</a:t>
            </a:r>
          </a:p>
          <a:p>
            <a:pPr marL="12700" algn="just">
              <a:lnSpc>
                <a:spcPct val="100000"/>
              </a:lnSpc>
              <a:spcAft>
                <a:spcPts val="600"/>
              </a:spcAft>
            </a:pPr>
            <a:endParaRPr lang="en-US" sz="1100" spc="-10" noProof="0" dirty="0">
              <a:solidFill>
                <a:srgbClr val="002060"/>
              </a:solidFill>
              <a:uFill>
                <a:solidFill>
                  <a:srgbClr val="39A0D2"/>
                </a:solidFill>
              </a:uFill>
              <a:latin typeface="Century Gothic" panose="020B0502020202020204" pitchFamily="34" charset="0"/>
              <a:cs typeface="Calibri"/>
            </a:endParaRPr>
          </a:p>
          <a:p>
            <a:pPr marL="12700" algn="just">
              <a:lnSpc>
                <a:spcPct val="100000"/>
              </a:lnSpc>
              <a:spcAft>
                <a:spcPts val="600"/>
              </a:spcAft>
            </a:pPr>
            <a:r>
              <a:rPr lang="en-US" sz="1100" spc="-10" noProof="0" dirty="0">
                <a:solidFill>
                  <a:srgbClr val="002060"/>
                </a:solidFill>
                <a:uFill>
                  <a:solidFill>
                    <a:srgbClr val="39A0D2"/>
                  </a:solidFill>
                </a:uFill>
                <a:latin typeface="Century Gothic" panose="020B0502020202020204" pitchFamily="34" charset="0"/>
                <a:cs typeface="Calibri"/>
              </a:rPr>
              <a:t>13:00 – 14:30 </a:t>
            </a:r>
            <a:r>
              <a:rPr lang="en-US" sz="1100" b="1" spc="-10" noProof="0" dirty="0">
                <a:solidFill>
                  <a:srgbClr val="002060"/>
                </a:solidFill>
                <a:uFill>
                  <a:solidFill>
                    <a:srgbClr val="39A0D2"/>
                  </a:solidFill>
                </a:uFill>
                <a:latin typeface="Century Gothic" panose="020B0502020202020204" pitchFamily="34" charset="0"/>
                <a:cs typeface="Calibri"/>
              </a:rPr>
              <a:t>Lunch Break</a:t>
            </a:r>
          </a:p>
          <a:p>
            <a:pPr marL="12700" algn="just">
              <a:lnSpc>
                <a:spcPct val="100000"/>
              </a:lnSpc>
              <a:spcAft>
                <a:spcPts val="600"/>
              </a:spcAft>
            </a:pPr>
            <a:endParaRPr lang="en-US" sz="1100" b="1" spc="-10" noProof="0" dirty="0">
              <a:solidFill>
                <a:srgbClr val="002060"/>
              </a:solidFill>
              <a:uFill>
                <a:solidFill>
                  <a:srgbClr val="39A0D2"/>
                </a:solidFill>
              </a:uFill>
              <a:latin typeface="Century Gothic" panose="020B0502020202020204" pitchFamily="34" charset="0"/>
              <a:cs typeface="Calibri"/>
            </a:endParaRPr>
          </a:p>
          <a:p>
            <a:pPr marL="12700" algn="just">
              <a:lnSpc>
                <a:spcPct val="100000"/>
              </a:lnSpc>
            </a:pPr>
            <a:r>
              <a:rPr lang="en-US" sz="1100" spc="-10" noProof="0" dirty="0">
                <a:solidFill>
                  <a:srgbClr val="002060"/>
                </a:solidFill>
                <a:uFill>
                  <a:solidFill>
                    <a:srgbClr val="39A0D2"/>
                  </a:solidFill>
                </a:uFill>
                <a:latin typeface="Century Gothic" panose="020B0502020202020204" pitchFamily="34" charset="0"/>
                <a:cs typeface="Calibri"/>
              </a:rPr>
              <a:t>14:30 – 17:00</a:t>
            </a:r>
            <a:r>
              <a:rPr lang="en-US" sz="1100" b="1" spc="-10" noProof="0" dirty="0">
                <a:solidFill>
                  <a:srgbClr val="002060"/>
                </a:solidFill>
                <a:uFill>
                  <a:solidFill>
                    <a:srgbClr val="39A0D2"/>
                  </a:solidFill>
                </a:uFill>
                <a:latin typeface="Century Gothic" panose="020B0502020202020204" pitchFamily="34" charset="0"/>
                <a:cs typeface="Calibri"/>
              </a:rPr>
              <a:t> B2B Meetings</a:t>
            </a:r>
          </a:p>
          <a:p>
            <a:pPr marL="12700" algn="just">
              <a:lnSpc>
                <a:spcPct val="100000"/>
              </a:lnSpc>
            </a:pPr>
            <a:r>
              <a:rPr lang="en-US" sz="1100" spc="-10" noProof="0" dirty="0">
                <a:solidFill>
                  <a:srgbClr val="002060"/>
                </a:solidFill>
                <a:uFill>
                  <a:solidFill>
                    <a:srgbClr val="39A0D2"/>
                  </a:solidFill>
                </a:uFill>
                <a:latin typeface="Century Gothic" panose="020B0502020202020204" pitchFamily="34" charset="0"/>
                <a:cs typeface="Calibri"/>
              </a:rPr>
              <a:t>A series of targeted business meetings aimed at identifying potential partners and discussing joint scientific, educational, and business projects. For participants’ convenience, the official Forum website will provide information on attendees and a meeting-scheduling system.</a:t>
            </a:r>
          </a:p>
          <a:p>
            <a:pPr marL="12700" algn="just">
              <a:lnSpc>
                <a:spcPct val="100000"/>
              </a:lnSpc>
              <a:spcAft>
                <a:spcPts val="600"/>
              </a:spcAft>
            </a:pPr>
            <a:endParaRPr lang="en-US" sz="1100" spc="-10" noProof="0" dirty="0">
              <a:solidFill>
                <a:srgbClr val="002060"/>
              </a:solidFill>
              <a:uFill>
                <a:solidFill>
                  <a:srgbClr val="39A0D2"/>
                </a:solidFill>
              </a:uFill>
              <a:latin typeface="Century Gothic" panose="020B0502020202020204" pitchFamily="34" charset="0"/>
              <a:cs typeface="Calibri"/>
            </a:endParaRPr>
          </a:p>
          <a:p>
            <a:pPr marL="12700" algn="just">
              <a:lnSpc>
                <a:spcPct val="100000"/>
              </a:lnSpc>
              <a:spcAft>
                <a:spcPts val="600"/>
              </a:spcAft>
            </a:pPr>
            <a:r>
              <a:rPr lang="en-US" sz="1100" spc="-10" noProof="0" dirty="0">
                <a:solidFill>
                  <a:srgbClr val="002060"/>
                </a:solidFill>
                <a:uFill>
                  <a:solidFill>
                    <a:srgbClr val="39A0D2"/>
                  </a:solidFill>
                </a:uFill>
                <a:latin typeface="Century Gothic" panose="020B0502020202020204" pitchFamily="34" charset="0"/>
                <a:cs typeface="Calibri"/>
              </a:rPr>
              <a:t>17:00 </a:t>
            </a:r>
            <a:r>
              <a:rPr lang="en-US" sz="1100" b="1" spc="-10" noProof="0" dirty="0">
                <a:solidFill>
                  <a:srgbClr val="002060"/>
                </a:solidFill>
                <a:uFill>
                  <a:solidFill>
                    <a:srgbClr val="39A0D2"/>
                  </a:solidFill>
                </a:uFill>
                <a:latin typeface="Century Gothic" panose="020B0502020202020204" pitchFamily="34" charset="0"/>
                <a:cs typeface="Calibri"/>
              </a:rPr>
              <a:t>Closing of the Forum</a:t>
            </a:r>
          </a:p>
          <a:p>
            <a:pPr marL="12700" algn="just">
              <a:lnSpc>
                <a:spcPct val="100000"/>
              </a:lnSpc>
              <a:spcAft>
                <a:spcPts val="600"/>
              </a:spcAft>
            </a:pPr>
            <a:endParaRPr lang="en-US" sz="1100" spc="-10" noProof="0" dirty="0">
              <a:solidFill>
                <a:srgbClr val="002060"/>
              </a:solidFill>
              <a:uFill>
                <a:solidFill>
                  <a:srgbClr val="39A0D2"/>
                </a:solidFill>
              </a:uFill>
              <a:latin typeface="Century Gothic" panose="020B0502020202020204" pitchFamily="34" charset="0"/>
              <a:cs typeface="Calibri"/>
            </a:endParaRPr>
          </a:p>
          <a:p>
            <a:pPr marL="12700" algn="just">
              <a:lnSpc>
                <a:spcPct val="100000"/>
              </a:lnSpc>
            </a:pPr>
            <a:r>
              <a:rPr lang="en-US" sz="1100" b="1" spc="-10" noProof="0" dirty="0">
                <a:solidFill>
                  <a:srgbClr val="002060"/>
                </a:solidFill>
                <a:uFill>
                  <a:solidFill>
                    <a:srgbClr val="39A0D2"/>
                  </a:solidFill>
                </a:uFill>
                <a:latin typeface="Century Gothic" panose="020B0502020202020204" pitchFamily="34" charset="0"/>
                <a:cs typeface="Calibri"/>
              </a:rPr>
              <a:t>Evening Reception</a:t>
            </a:r>
            <a:endParaRPr lang="en-US" sz="1100" spc="-10" noProof="0" dirty="0">
              <a:solidFill>
                <a:srgbClr val="002060"/>
              </a:solidFill>
              <a:highlight>
                <a:srgbClr val="FFFF00"/>
              </a:highlight>
              <a:uFill>
                <a:solidFill>
                  <a:srgbClr val="39A0D2"/>
                </a:solidFill>
              </a:uFill>
              <a:latin typeface="Century Gothic" panose="020B0502020202020204" pitchFamily="34" charset="0"/>
              <a:cs typeface="Calibri"/>
            </a:endParaRPr>
          </a:p>
          <a:p>
            <a:pPr marL="12700" algn="just">
              <a:lnSpc>
                <a:spcPct val="100000"/>
              </a:lnSpc>
            </a:pPr>
            <a:r>
              <a:rPr lang="en-US" sz="1100" spc="-10" noProof="0" dirty="0">
                <a:solidFill>
                  <a:srgbClr val="002060"/>
                </a:solidFill>
                <a:uFill>
                  <a:solidFill>
                    <a:srgbClr val="39A0D2"/>
                  </a:solidFill>
                </a:uFill>
                <a:latin typeface="Century Gothic" panose="020B0502020202020204" pitchFamily="34" charset="0"/>
                <a:cs typeface="Calibri"/>
              </a:rPr>
              <a:t>18:00 </a:t>
            </a:r>
            <a:r>
              <a:rPr lang="en-US" sz="1100" b="1" spc="-10" noProof="0" dirty="0">
                <a:solidFill>
                  <a:srgbClr val="002060"/>
                </a:solidFill>
                <a:uFill>
                  <a:solidFill>
                    <a:srgbClr val="39A0D2"/>
                  </a:solidFill>
                </a:uFill>
                <a:latin typeface="Century Gothic" panose="020B0502020202020204" pitchFamily="34" charset="0"/>
                <a:cs typeface="Calibri"/>
              </a:rPr>
              <a:t>Networking Reception / Buffet</a:t>
            </a:r>
          </a:p>
          <a:p>
            <a:pPr marL="12700" algn="just">
              <a:lnSpc>
                <a:spcPct val="100000"/>
              </a:lnSpc>
            </a:pPr>
            <a:r>
              <a:rPr lang="en-US" sz="1100" spc="-10" noProof="0" dirty="0">
                <a:solidFill>
                  <a:srgbClr val="002060"/>
                </a:solidFill>
                <a:uFill>
                  <a:solidFill>
                    <a:srgbClr val="39A0D2"/>
                  </a:solidFill>
                </a:uFill>
                <a:latin typeface="Century Gothic" panose="020B0502020202020204" pitchFamily="34" charset="0"/>
                <a:cs typeface="Calibri"/>
              </a:rPr>
              <a:t>21:00 </a:t>
            </a:r>
            <a:r>
              <a:rPr lang="en-US" sz="1100" b="1" spc="-10" noProof="0" dirty="0">
                <a:solidFill>
                  <a:srgbClr val="002060"/>
                </a:solidFill>
                <a:uFill>
                  <a:solidFill>
                    <a:srgbClr val="39A0D2"/>
                  </a:solidFill>
                </a:uFill>
                <a:latin typeface="Century Gothic" panose="020B0502020202020204" pitchFamily="34" charset="0"/>
                <a:cs typeface="Calibri"/>
              </a:rPr>
              <a:t>End of Event</a:t>
            </a:r>
          </a:p>
          <a:p>
            <a:pPr marL="12700" algn="just">
              <a:lnSpc>
                <a:spcPct val="100000"/>
              </a:lnSpc>
            </a:pPr>
            <a:r>
              <a:rPr lang="en-US" sz="1100" spc="-10" noProof="0" dirty="0">
                <a:solidFill>
                  <a:srgbClr val="002060"/>
                </a:solidFill>
                <a:uFill>
                  <a:solidFill>
                    <a:srgbClr val="39A0D2"/>
                  </a:solidFill>
                </a:uFill>
                <a:latin typeface="Century Gothic" panose="020B0502020202020204" pitchFamily="34" charset="0"/>
                <a:cs typeface="Calibri"/>
              </a:rPr>
              <a:t>Dress Code: </a:t>
            </a:r>
            <a:r>
              <a:rPr lang="en-US" sz="1100" b="1" spc="-10" noProof="0" dirty="0">
                <a:solidFill>
                  <a:srgbClr val="002060"/>
                </a:solidFill>
                <a:uFill>
                  <a:solidFill>
                    <a:srgbClr val="39A0D2"/>
                  </a:solidFill>
                </a:uFill>
                <a:latin typeface="Century Gothic" panose="020B0502020202020204" pitchFamily="34" charset="0"/>
                <a:cs typeface="Calibri"/>
              </a:rPr>
              <a:t>Business Casual</a:t>
            </a:r>
          </a:p>
        </p:txBody>
      </p:sp>
    </p:spTree>
    <p:extLst>
      <p:ext uri="{BB962C8B-B14F-4D97-AF65-F5344CB8AC3E}">
        <p14:creationId xmlns:p14="http://schemas.microsoft.com/office/powerpoint/2010/main" val="1828725392"/>
      </p:ext>
    </p:extLst>
  </p:cSld>
  <p:clrMapOvr>
    <a:masterClrMapping/>
  </p:clrMapOvr>
</p:sld>
</file>

<file path=ppt/theme/theme1.xml><?xml version="1.0" encoding="utf-8"?>
<a:theme xmlns:a="http://schemas.openxmlformats.org/drawingml/2006/main" name="Office Them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1148</TotalTime>
  <Words>712</Words>
  <Application>Microsoft Office PowerPoint</Application>
  <PresentationFormat>Произвольный</PresentationFormat>
  <Paragraphs>88</Paragraphs>
  <Slides>3</Slides>
  <Notes>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3</vt:i4>
      </vt:variant>
    </vt:vector>
  </HeadingPairs>
  <TitlesOfParts>
    <vt:vector size="6" baseType="lpstr">
      <vt:lpstr>Calibri</vt:lpstr>
      <vt:lpstr>Century Gothic</vt:lpstr>
      <vt:lpstr>Office Theme</vt:lpstr>
      <vt:lpstr>Official invitation</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Jens Klauenberg - LNC Berlin</dc:creator>
  <cp:lastModifiedBy>Botagoz Kuanyshbayeva</cp:lastModifiedBy>
  <cp:revision>65</cp:revision>
  <dcterms:created xsi:type="dcterms:W3CDTF">2026-01-29T10:56:48Z</dcterms:created>
  <dcterms:modified xsi:type="dcterms:W3CDTF">2026-02-26T08:44:57Z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2021-04-07T00:00:00Z</vt:filetime>
  </property>
  <property fmtid="{D5CDD505-2E9C-101B-9397-08002B2CF9AE}" pid="3" name="Creator">
    <vt:lpwstr>Microsoft® Word 2016</vt:lpwstr>
  </property>
  <property fmtid="{D5CDD505-2E9C-101B-9397-08002B2CF9AE}" pid="4" name="LastSaved">
    <vt:filetime>2026-01-29T00:00:00Z</vt:filetime>
  </property>
  <property fmtid="{D5CDD505-2E9C-101B-9397-08002B2CF9AE}" pid="5" name="Producer">
    <vt:lpwstr>pdf-lib (https://github.com/Hopding/pdf-lib)</vt:lpwstr>
  </property>
</Properties>
</file>