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4"/>
  </p:sldMasterIdLst>
  <p:handoutMasterIdLst>
    <p:handoutMasterId r:id="rId8"/>
  </p:handoutMasterIdLst>
  <p:sldIdLst>
    <p:sldId id="261" r:id="rId5"/>
    <p:sldId id="263" r:id="rId6"/>
    <p:sldId id="264" r:id="rId7"/>
  </p:sldIdLst>
  <p:sldSz cx="7569200" cy="10699750"/>
  <p:notesSz cx="7569200" cy="106997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22868"/>
    <a:srgbClr val="5875B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6D78F4C-65C3-4A7D-9BE8-9873A78A9957}" v="12" dt="2026-03-31T13:21:18.910"/>
    <p1510:client id="{84A5BA13-2135-14CD-9F3A-AE01FF67B5BB}" v="6" dt="2026-03-31T09:04:37.700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2" d="100"/>
          <a:sy n="52" d="100"/>
        </p:scale>
        <p:origin x="2597" y="58"/>
      </p:cViewPr>
      <p:guideLst>
        <p:guide orient="horz" pos="288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13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9D668943-4721-E03A-B651-2E7DD0966FA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9775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06317B1A-D43F-1984-BDBF-5385F5A45BF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287838" y="0"/>
            <a:ext cx="3279775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391B6F-BBFA-438A-9286-1FC62C3499A0}" type="datetimeFigureOut">
              <a:rPr lang="ru-RU" smtClean="0"/>
              <a:t>01.04.2026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2A908F3B-113D-5130-7B64-3F90E078648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0163175"/>
            <a:ext cx="3279775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5FB1932-5B8F-ADF6-5779-F6A7C5051C5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287838" y="10163175"/>
            <a:ext cx="3279775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DFE5BE-F78D-49D0-8BEC-05E37B800F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6337114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690" y="3316922"/>
            <a:ext cx="6433820" cy="224694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5380" y="5991860"/>
            <a:ext cx="5298440" cy="26749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937125" y="9429673"/>
            <a:ext cx="1090929" cy="246951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102350" y="9413798"/>
            <a:ext cx="570229" cy="285115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485900" y="9434753"/>
            <a:ext cx="1082522" cy="237490"/>
          </a:xfrm>
          <a:prstGeom prst="rect">
            <a:avLst/>
          </a:prstGeom>
        </p:spPr>
      </p:pic>
      <p:pic>
        <p:nvPicPr>
          <p:cNvPr id="19" name="bg object 19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670810" y="9430943"/>
            <a:ext cx="922286" cy="228600"/>
          </a:xfrm>
          <a:prstGeom prst="rect">
            <a:avLst/>
          </a:prstGeom>
        </p:spPr>
      </p:pic>
      <p:pic>
        <p:nvPicPr>
          <p:cNvPr id="20" name="bg object 20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3766425" y="9366226"/>
            <a:ext cx="1073606" cy="345432"/>
          </a:xfrm>
          <a:prstGeom prst="rect">
            <a:avLst/>
          </a:prstGeom>
        </p:spPr>
      </p:pic>
      <p:sp>
        <p:nvSpPr>
          <p:cNvPr id="21" name="bg object 21"/>
          <p:cNvSpPr/>
          <p:nvPr/>
        </p:nvSpPr>
        <p:spPr>
          <a:xfrm>
            <a:off x="0" y="5739256"/>
            <a:ext cx="7564120" cy="111125"/>
          </a:xfrm>
          <a:custGeom>
            <a:avLst/>
            <a:gdLst/>
            <a:ahLst/>
            <a:cxnLst/>
            <a:rect l="l" t="t" r="r" b="b"/>
            <a:pathLst>
              <a:path w="7564120" h="111125">
                <a:moveTo>
                  <a:pt x="0" y="110744"/>
                </a:moveTo>
                <a:lnTo>
                  <a:pt x="7563611" y="110744"/>
                </a:lnTo>
                <a:lnTo>
                  <a:pt x="7563611" y="0"/>
                </a:lnTo>
                <a:lnTo>
                  <a:pt x="0" y="0"/>
                </a:lnTo>
                <a:lnTo>
                  <a:pt x="0" y="110744"/>
                </a:lnTo>
                <a:close/>
              </a:path>
            </a:pathLst>
          </a:custGeom>
          <a:solidFill>
            <a:srgbClr val="DBDFE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bg object 22"/>
          <p:cNvSpPr/>
          <p:nvPr/>
        </p:nvSpPr>
        <p:spPr>
          <a:xfrm>
            <a:off x="0" y="5850000"/>
            <a:ext cx="7564120" cy="3043555"/>
          </a:xfrm>
          <a:custGeom>
            <a:avLst/>
            <a:gdLst/>
            <a:ahLst/>
            <a:cxnLst/>
            <a:rect l="l" t="t" r="r" b="b"/>
            <a:pathLst>
              <a:path w="7564120" h="3043554">
                <a:moveTo>
                  <a:pt x="7563611" y="0"/>
                </a:moveTo>
                <a:lnTo>
                  <a:pt x="0" y="0"/>
                </a:lnTo>
                <a:lnTo>
                  <a:pt x="0" y="3043554"/>
                </a:lnTo>
                <a:lnTo>
                  <a:pt x="7563611" y="3043554"/>
                </a:lnTo>
                <a:lnTo>
                  <a:pt x="7563611" y="0"/>
                </a:lnTo>
                <a:close/>
              </a:path>
            </a:pathLst>
          </a:custGeom>
          <a:solidFill>
            <a:srgbClr val="39A0D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bg object 23"/>
          <p:cNvSpPr/>
          <p:nvPr/>
        </p:nvSpPr>
        <p:spPr>
          <a:xfrm>
            <a:off x="0" y="8892158"/>
            <a:ext cx="7564120" cy="114935"/>
          </a:xfrm>
          <a:custGeom>
            <a:avLst/>
            <a:gdLst/>
            <a:ahLst/>
            <a:cxnLst/>
            <a:rect l="l" t="t" r="r" b="b"/>
            <a:pathLst>
              <a:path w="7564120" h="114934">
                <a:moveTo>
                  <a:pt x="7563611" y="0"/>
                </a:moveTo>
                <a:lnTo>
                  <a:pt x="0" y="0"/>
                </a:lnTo>
                <a:lnTo>
                  <a:pt x="0" y="114935"/>
                </a:lnTo>
                <a:lnTo>
                  <a:pt x="7563611" y="114935"/>
                </a:lnTo>
                <a:lnTo>
                  <a:pt x="7563611" y="0"/>
                </a:lnTo>
                <a:close/>
              </a:path>
            </a:pathLst>
          </a:custGeom>
          <a:solidFill>
            <a:srgbClr val="DBDFE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460" y="2460942"/>
            <a:ext cx="3292602" cy="70618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8138" y="2460942"/>
            <a:ext cx="3292602" cy="70618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7564120" cy="136525"/>
          </a:xfrm>
          <a:custGeom>
            <a:avLst/>
            <a:gdLst/>
            <a:ahLst/>
            <a:cxnLst/>
            <a:rect l="l" t="t" r="r" b="b"/>
            <a:pathLst>
              <a:path w="7564120" h="136525">
                <a:moveTo>
                  <a:pt x="0" y="136525"/>
                </a:moveTo>
                <a:lnTo>
                  <a:pt x="7563611" y="136525"/>
                </a:lnTo>
                <a:lnTo>
                  <a:pt x="7563611" y="0"/>
                </a:lnTo>
                <a:lnTo>
                  <a:pt x="0" y="0"/>
                </a:lnTo>
                <a:lnTo>
                  <a:pt x="0" y="136525"/>
                </a:lnTo>
                <a:close/>
              </a:path>
            </a:pathLst>
          </a:custGeom>
          <a:solidFill>
            <a:srgbClr val="39A0D2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7" name="bg object 1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238244" y="340600"/>
            <a:ext cx="3041904" cy="45709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106220" y="1177797"/>
            <a:ext cx="5452745" cy="5740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44500" y="1682628"/>
            <a:ext cx="6584315" cy="32042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3528" y="9950768"/>
            <a:ext cx="2422144" cy="5349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460" y="9950768"/>
            <a:ext cx="1740916" cy="5349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9824" y="9950768"/>
            <a:ext cx="1740916" cy="5349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hyperlink" Target="mailto:s.bolatkyzy@satbayev.university" TargetMode="External"/><Relationship Id="rId7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jpeg"/><Relationship Id="rId5" Type="http://schemas.openxmlformats.org/officeDocument/2006/relationships/image" Target="../media/image8.png"/><Relationship Id="rId4" Type="http://schemas.openxmlformats.org/officeDocument/2006/relationships/hyperlink" Target="mailto:z.tymbayeva@satbayev.university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mailto:s.bolatkyzy@satbayev.university" TargetMode="External"/><Relationship Id="rId7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png"/><Relationship Id="rId5" Type="http://schemas.openxmlformats.org/officeDocument/2006/relationships/hyperlink" Target="mailto:info@logistics-alliance-germany.de" TargetMode="External"/><Relationship Id="rId4" Type="http://schemas.openxmlformats.org/officeDocument/2006/relationships/hyperlink" Target="mailto:z.tymbayeva@satbayev.university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34024B51-8402-6004-5576-138B095F0DD3}"/>
              </a:ext>
            </a:extLst>
          </p:cNvPr>
          <p:cNvSpPr/>
          <p:nvPr/>
        </p:nvSpPr>
        <p:spPr>
          <a:xfrm>
            <a:off x="0" y="7442200"/>
            <a:ext cx="7569200" cy="3054350"/>
          </a:xfrm>
          <a:prstGeom prst="rect">
            <a:avLst/>
          </a:prstGeom>
          <a:solidFill>
            <a:srgbClr val="0228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4" name="Picture 4" descr="Satbayev University">
            <a:extLst>
              <a:ext uri="{FF2B5EF4-FFF2-40B4-BE49-F238E27FC236}">
                <a16:creationId xmlns:a16="http://schemas.microsoft.com/office/drawing/2014/main" id="{4F8CC585-69D3-7F01-D1B1-DD078B7CE2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74040" y="72664"/>
            <a:ext cx="1613204" cy="10239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object 7">
            <a:extLst>
              <a:ext uri="{FF2B5EF4-FFF2-40B4-BE49-F238E27FC236}">
                <a16:creationId xmlns:a16="http://schemas.microsoft.com/office/drawing/2014/main" id="{32B8C001-D791-6783-EEA3-262B1420D6C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423498" y="1336787"/>
            <a:ext cx="505328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sz="2400" b="1"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Официальное</a:t>
            </a:r>
            <a:r>
              <a:rPr sz="2400" b="1" spc="-114"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sz="2400" b="1" spc="-10"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приглашение</a:t>
            </a:r>
          </a:p>
        </p:txBody>
      </p:sp>
      <p:sp>
        <p:nvSpPr>
          <p:cNvPr id="6" name="object 8">
            <a:extLst>
              <a:ext uri="{FF2B5EF4-FFF2-40B4-BE49-F238E27FC236}">
                <a16:creationId xmlns:a16="http://schemas.microsoft.com/office/drawing/2014/main" id="{C3DDA2D5-5AC6-5A7F-E75E-E4CD1F5B1C8E}"/>
              </a:ext>
            </a:extLst>
          </p:cNvPr>
          <p:cNvSpPr txBox="1"/>
          <p:nvPr/>
        </p:nvSpPr>
        <p:spPr>
          <a:xfrm>
            <a:off x="660400" y="1848425"/>
            <a:ext cx="6584315" cy="3375283"/>
          </a:xfrm>
          <a:prstGeom prst="rect">
            <a:avLst/>
          </a:prstGeom>
        </p:spPr>
        <p:txBody>
          <a:bodyPr vert="horz" wrap="square" lIns="0" tIns="170180" rIns="0" bIns="0" rtlCol="0">
            <a:spAutoFit/>
          </a:bodyPr>
          <a:lstStyle/>
          <a:p>
            <a:pPr marL="196215" algn="ctr">
              <a:lnSpc>
                <a:spcPct val="100000"/>
              </a:lnSpc>
            </a:pPr>
            <a:r>
              <a:rPr lang="ru-RU" b="1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Первый Казахстанско-Германский </a:t>
            </a:r>
          </a:p>
          <a:p>
            <a:pPr marL="196215" algn="ctr">
              <a:lnSpc>
                <a:spcPct val="100000"/>
              </a:lnSpc>
            </a:pPr>
            <a:r>
              <a:rPr lang="ru-RU" b="1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транспортно-логистический форум </a:t>
            </a:r>
          </a:p>
          <a:p>
            <a:pPr marL="196215" algn="ctr">
              <a:lnSpc>
                <a:spcPct val="100000"/>
              </a:lnSpc>
            </a:pPr>
            <a:endParaRPr lang="ru-RU" b="1">
              <a:solidFill>
                <a:srgbClr val="002060"/>
              </a:solidFill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96215" algn="ctr">
              <a:lnSpc>
                <a:spcPct val="100000"/>
              </a:lnSpc>
            </a:pPr>
            <a:r>
              <a:rPr lang="ru-RU" b="1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«Цифровизация, человеческий потенциал, транзитные возможности»</a:t>
            </a:r>
            <a:endParaRPr>
              <a:solidFill>
                <a:srgbClr val="002060"/>
              </a:solidFill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93675" algn="ctr">
              <a:lnSpc>
                <a:spcPct val="100000"/>
              </a:lnSpc>
              <a:spcBef>
                <a:spcPts val="900"/>
              </a:spcBef>
            </a:pPr>
            <a:r>
              <a:rPr lang="ru-RU" sz="120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Четверг</a:t>
            </a:r>
            <a:r>
              <a:rPr sz="120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,</a:t>
            </a:r>
            <a:r>
              <a:rPr sz="1200" spc="-35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sz="120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1</a:t>
            </a:r>
            <a:r>
              <a:rPr lang="ru-RU" sz="120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4 мая 2026</a:t>
            </a:r>
            <a:r>
              <a:rPr sz="1200" spc="-4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sz="1200" spc="-2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года</a:t>
            </a:r>
            <a:endParaRPr sz="1200">
              <a:solidFill>
                <a:srgbClr val="002060"/>
              </a:solidFill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93675" algn="ctr">
              <a:lnSpc>
                <a:spcPct val="100000"/>
              </a:lnSpc>
              <a:spcBef>
                <a:spcPts val="875"/>
              </a:spcBef>
            </a:pPr>
            <a:r>
              <a:rPr sz="120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1</a:t>
            </a:r>
            <a:r>
              <a:rPr lang="ru-RU" sz="120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1:00</a:t>
            </a:r>
            <a:r>
              <a:rPr sz="1200" spc="-4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sz="120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-</a:t>
            </a:r>
            <a:r>
              <a:rPr sz="1200" spc="-3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sz="120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1</a:t>
            </a:r>
            <a:r>
              <a:rPr lang="ru-RU" sz="120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7</a:t>
            </a:r>
            <a:r>
              <a:rPr sz="120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:00</a:t>
            </a:r>
            <a:r>
              <a:rPr sz="1200" spc="-35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endParaRPr lang="ru-RU" sz="1200" spc="-35">
              <a:solidFill>
                <a:srgbClr val="002060"/>
              </a:solidFill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>
              <a:lnSpc>
                <a:spcPct val="100000"/>
              </a:lnSpc>
            </a:pPr>
            <a:endParaRPr lang="ru-RU" sz="1100">
              <a:solidFill>
                <a:srgbClr val="002060"/>
              </a:solidFill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>
              <a:lnSpc>
                <a:spcPct val="100000"/>
              </a:lnSpc>
            </a:pPr>
            <a:r>
              <a:rPr sz="110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(</a:t>
            </a:r>
            <a:r>
              <a:rPr lang="kk-KZ" sz="110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С</a:t>
            </a:r>
            <a:r>
              <a:rPr sz="1100" err="1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инхронный</a:t>
            </a:r>
            <a:r>
              <a:rPr sz="1100" spc="-4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sz="110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перевод</a:t>
            </a:r>
            <a:r>
              <a:rPr sz="1100" spc="-35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sz="110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с</a:t>
            </a:r>
            <a:r>
              <a:rPr sz="1100" spc="-3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sz="1100" err="1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немецкого</a:t>
            </a:r>
            <a:r>
              <a:rPr lang="kk-KZ" sz="110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de-DE" sz="110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↔</a:t>
            </a:r>
            <a:r>
              <a:rPr sz="1100" spc="-5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sz="1100" err="1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на</a:t>
            </a:r>
            <a:r>
              <a:rPr lang="ru-RU" sz="110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казахский/</a:t>
            </a:r>
            <a:r>
              <a:rPr sz="1100" err="1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русски</a:t>
            </a:r>
            <a:r>
              <a:rPr lang="ru-RU" sz="110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й </a:t>
            </a:r>
            <a:r>
              <a:rPr sz="1100" spc="-10" err="1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языки</a:t>
            </a:r>
            <a:r>
              <a:rPr sz="1100" spc="-1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)</a:t>
            </a:r>
            <a:endParaRPr sz="1100">
              <a:solidFill>
                <a:srgbClr val="002060"/>
              </a:solidFill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>
              <a:lnSpc>
                <a:spcPct val="100000"/>
              </a:lnSpc>
              <a:spcBef>
                <a:spcPts val="50"/>
              </a:spcBef>
            </a:pPr>
            <a:endParaRPr sz="1100">
              <a:solidFill>
                <a:srgbClr val="002060"/>
              </a:solidFill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80645" algn="ctr">
              <a:lnSpc>
                <a:spcPct val="100000"/>
              </a:lnSpc>
            </a:pPr>
            <a:r>
              <a:rPr sz="1400" u="sng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В</a:t>
            </a:r>
            <a:r>
              <a:rPr sz="1400" u="sng" spc="-2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sz="1400" u="sng" spc="-1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завершении</a:t>
            </a:r>
            <a:r>
              <a:rPr sz="1400" u="sng" spc="-25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sz="1400" u="sng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форума</a:t>
            </a:r>
            <a:r>
              <a:rPr sz="1400" u="sng" spc="-15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sz="1400" u="sng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-</a:t>
            </a:r>
            <a:r>
              <a:rPr sz="1400" u="sng" spc="-2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sz="1400" u="sng" spc="-1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вечерний</a:t>
            </a:r>
            <a:r>
              <a:rPr sz="1400" u="sng" spc="-25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sz="1400" u="sng" spc="-1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прием</a:t>
            </a:r>
            <a:endParaRPr sz="1400" u="sng">
              <a:solidFill>
                <a:srgbClr val="002060"/>
              </a:solidFill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>
              <a:lnSpc>
                <a:spcPct val="100000"/>
              </a:lnSpc>
              <a:spcBef>
                <a:spcPts val="380"/>
              </a:spcBef>
            </a:pPr>
            <a:endParaRPr sz="1400">
              <a:solidFill>
                <a:srgbClr val="002060"/>
              </a:solidFill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>
              <a:lnSpc>
                <a:spcPct val="100000"/>
              </a:lnSpc>
            </a:pPr>
            <a:r>
              <a:rPr sz="1400" err="1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Форум</a:t>
            </a:r>
            <a:r>
              <a:rPr sz="1400" spc="-1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kk-KZ" sz="140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органиизован</a:t>
            </a:r>
            <a:r>
              <a:rPr sz="1400" spc="-2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sz="140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в</a:t>
            </a:r>
            <a:r>
              <a:rPr sz="1400" spc="-1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сотрудничестве</a:t>
            </a:r>
            <a:r>
              <a:rPr sz="1400" spc="-3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sz="1400" spc="-5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с</a:t>
            </a:r>
            <a:endParaRPr sz="1400">
              <a:solidFill>
                <a:srgbClr val="002060"/>
              </a:solidFill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9" name="object 2">
            <a:extLst>
              <a:ext uri="{FF2B5EF4-FFF2-40B4-BE49-F238E27FC236}">
                <a16:creationId xmlns:a16="http://schemas.microsoft.com/office/drawing/2014/main" id="{6C344BBE-2F68-19AA-01B2-777B70519181}"/>
              </a:ext>
            </a:extLst>
          </p:cNvPr>
          <p:cNvSpPr txBox="1"/>
          <p:nvPr/>
        </p:nvSpPr>
        <p:spPr>
          <a:xfrm>
            <a:off x="701979" y="9026679"/>
            <a:ext cx="885825" cy="19813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200" b="1" spc="50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Контакты:</a:t>
            </a:r>
            <a:endParaRPr sz="1200"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0" name="object 3">
            <a:extLst>
              <a:ext uri="{FF2B5EF4-FFF2-40B4-BE49-F238E27FC236}">
                <a16:creationId xmlns:a16="http://schemas.microsoft.com/office/drawing/2014/main" id="{1EE2E2F0-CF6B-1035-336A-9D9B699D7578}"/>
              </a:ext>
            </a:extLst>
          </p:cNvPr>
          <p:cNvSpPr txBox="1"/>
          <p:nvPr/>
        </p:nvSpPr>
        <p:spPr>
          <a:xfrm>
            <a:off x="1782445" y="8988579"/>
            <a:ext cx="5067935" cy="226344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12700" marR="5080">
              <a:lnSpc>
                <a:spcPts val="1420"/>
              </a:lnSpc>
              <a:spcBef>
                <a:spcPts val="365"/>
              </a:spcBef>
            </a:pPr>
            <a:r>
              <a:rPr lang="de-DE" sz="1200" spc="-10" dirty="0" err="1">
                <a:solidFill>
                  <a:schemeClr val="bg1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s.bolatkyzy</a:t>
            </a:r>
            <a:r>
              <a:rPr lang="de-DE" sz="1200" spc="-10" dirty="0" err="1">
                <a:solidFill>
                  <a:schemeClr val="bg1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@satbayev.university</a:t>
            </a:r>
            <a:r>
              <a:rPr lang="en-US" sz="1200" spc="-10" dirty="0">
                <a:solidFill>
                  <a:schemeClr val="bg1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; </a:t>
            </a:r>
            <a:r>
              <a:rPr lang="ru-RU" sz="1200" b="0" i="0" dirty="0">
                <a:solidFill>
                  <a:schemeClr val="bg1"/>
                </a:solidFill>
                <a:effectLst/>
                <a:latin typeface="Century Gothic" panose="020B0502020202020204" pitchFamily="34" charset="0"/>
              </a:rPr>
              <a:t>+7-772-725-7718</a:t>
            </a:r>
            <a:endParaRPr sz="1200" dirty="0">
              <a:solidFill>
                <a:schemeClr val="bg1"/>
              </a:solidFill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2" name="object 5">
            <a:extLst>
              <a:ext uri="{FF2B5EF4-FFF2-40B4-BE49-F238E27FC236}">
                <a16:creationId xmlns:a16="http://schemas.microsoft.com/office/drawing/2014/main" id="{194EBCC0-0A1A-4134-C703-BD858BD8B92A}"/>
              </a:ext>
            </a:extLst>
          </p:cNvPr>
          <p:cNvSpPr txBox="1"/>
          <p:nvPr/>
        </p:nvSpPr>
        <p:spPr>
          <a:xfrm>
            <a:off x="4089653" y="7565290"/>
            <a:ext cx="3108071" cy="130484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kk-KZ" sz="1200" b="1" spc="-10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Адрес проведения:</a:t>
            </a:r>
            <a:endParaRPr sz="1200"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 marR="461009">
              <a:lnSpc>
                <a:spcPct val="101400"/>
              </a:lnSpc>
              <a:spcBef>
                <a:spcPts val="10"/>
              </a:spcBef>
            </a:pPr>
            <a:r>
              <a:rPr lang="ru-RU" sz="1200" err="1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Satbayev</a:t>
            </a:r>
            <a:r>
              <a:rPr lang="ru-RU" sz="1200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University</a:t>
            </a:r>
          </a:p>
          <a:p>
            <a:pPr marL="12700" marR="461009">
              <a:lnSpc>
                <a:spcPct val="101400"/>
              </a:lnSpc>
              <a:spcBef>
                <a:spcPts val="10"/>
              </a:spcBef>
            </a:pPr>
            <a:r>
              <a:rPr lang="ru-RU" sz="1200" err="1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Аудидориум</a:t>
            </a:r>
            <a:r>
              <a:rPr lang="ru-RU" sz="1200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 343</a:t>
            </a:r>
            <a:r>
              <a:rPr lang="en-US" sz="1200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ru-RU" sz="1200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Актовый зал им. К. </a:t>
            </a:r>
            <a:r>
              <a:rPr lang="ru-RU" sz="1200" err="1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Турысова</a:t>
            </a:r>
            <a:endParaRPr lang="ru-RU" sz="1200">
              <a:solidFill>
                <a:srgbClr val="FFFFFF"/>
              </a:solidFill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 marR="461009">
              <a:lnSpc>
                <a:spcPct val="101400"/>
              </a:lnSpc>
              <a:spcBef>
                <a:spcPts val="10"/>
              </a:spcBef>
            </a:pPr>
            <a:r>
              <a:rPr lang="ru-RU" sz="1200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ул. Сатпаева, 22</a:t>
            </a:r>
          </a:p>
          <a:p>
            <a:pPr marL="12700" marR="461009">
              <a:lnSpc>
                <a:spcPct val="101400"/>
              </a:lnSpc>
              <a:spcBef>
                <a:spcPts val="10"/>
              </a:spcBef>
            </a:pPr>
            <a:r>
              <a:rPr lang="ru-RU" sz="1200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г. Алматы, Казахстан</a:t>
            </a:r>
          </a:p>
          <a:p>
            <a:pPr marL="12700" marR="461009">
              <a:lnSpc>
                <a:spcPct val="101400"/>
              </a:lnSpc>
              <a:spcBef>
                <a:spcPts val="10"/>
              </a:spcBef>
            </a:pPr>
            <a:endParaRPr sz="1200"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3" name="object 6">
            <a:extLst>
              <a:ext uri="{FF2B5EF4-FFF2-40B4-BE49-F238E27FC236}">
                <a16:creationId xmlns:a16="http://schemas.microsoft.com/office/drawing/2014/main" id="{460C1B4A-591F-4943-549C-7FC876AF47C7}"/>
              </a:ext>
            </a:extLst>
          </p:cNvPr>
          <p:cNvSpPr txBox="1"/>
          <p:nvPr/>
        </p:nvSpPr>
        <p:spPr>
          <a:xfrm>
            <a:off x="701979" y="7565290"/>
            <a:ext cx="2926715" cy="117275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spcBef>
                <a:spcPts val="105"/>
              </a:spcBef>
            </a:pPr>
            <a:r>
              <a:rPr sz="1200" spc="-10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Регистрация</a:t>
            </a:r>
            <a:endParaRPr sz="1200"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 marR="5080">
              <a:spcBef>
                <a:spcPts val="120"/>
              </a:spcBef>
            </a:pPr>
            <a:r>
              <a:rPr sz="1200" spc="-10" err="1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Приветственная</a:t>
            </a:r>
            <a:r>
              <a:rPr sz="1200" spc="60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sz="1200" spc="-20" err="1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часть</a:t>
            </a:r>
            <a:r>
              <a:rPr lang="ru-RU" sz="1200" spc="5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</a:p>
          <a:p>
            <a:pPr marL="12700" marR="5080">
              <a:spcBef>
                <a:spcPts val="120"/>
              </a:spcBef>
            </a:pPr>
            <a:r>
              <a:rPr lang="ru-RU" sz="1200" spc="5" err="1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П</a:t>
            </a:r>
            <a:r>
              <a:rPr lang="ru-RU" sz="1200" spc="-10" err="1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ле</a:t>
            </a:r>
            <a:r>
              <a:rPr sz="1200" spc="-10" err="1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нарное</a:t>
            </a:r>
            <a:r>
              <a:rPr sz="1200" spc="-10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sz="1200" err="1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заседание</a:t>
            </a:r>
            <a:r>
              <a:rPr sz="1200" spc="-25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sz="1200" spc="-35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endParaRPr lang="ru-RU" sz="1200" spc="-35">
              <a:solidFill>
                <a:srgbClr val="FFFFFF"/>
              </a:solidFill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 marR="5080">
              <a:spcBef>
                <a:spcPts val="120"/>
              </a:spcBef>
            </a:pPr>
            <a:r>
              <a:rPr lang="ru-RU" sz="1200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О</a:t>
            </a:r>
            <a:r>
              <a:rPr sz="1200" err="1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ткрытая</a:t>
            </a:r>
            <a:r>
              <a:rPr sz="1200" spc="-30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sz="1200" err="1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дискуссия</a:t>
            </a:r>
            <a:endParaRPr lang="ru-RU" sz="1200">
              <a:solidFill>
                <a:srgbClr val="FFFFFF"/>
              </a:solidFill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 marR="5080">
              <a:spcBef>
                <a:spcPts val="120"/>
              </a:spcBef>
            </a:pPr>
            <a:r>
              <a:rPr lang="en-US" sz="1200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B2B </a:t>
            </a:r>
            <a:r>
              <a:rPr lang="kk-KZ" sz="1200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встречи</a:t>
            </a:r>
            <a:endParaRPr sz="1200"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/>
            <a:r>
              <a:rPr sz="1200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Вечерний</a:t>
            </a:r>
            <a:r>
              <a:rPr sz="1200" spc="-50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sz="1200" spc="-10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прием</a:t>
            </a:r>
            <a:endParaRPr sz="1200"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8" name="object 4">
            <a:extLst>
              <a:ext uri="{FF2B5EF4-FFF2-40B4-BE49-F238E27FC236}">
                <a16:creationId xmlns:a16="http://schemas.microsoft.com/office/drawing/2014/main" id="{F6684F4E-8A99-DAD1-179C-666985A3C6B4}"/>
              </a:ext>
            </a:extLst>
          </p:cNvPr>
          <p:cNvSpPr txBox="1"/>
          <p:nvPr/>
        </p:nvSpPr>
        <p:spPr>
          <a:xfrm>
            <a:off x="701979" y="9554526"/>
            <a:ext cx="3198509" cy="372025"/>
          </a:xfrm>
          <a:prstGeom prst="rect">
            <a:avLst/>
          </a:prstGeom>
        </p:spPr>
        <p:txBody>
          <a:bodyPr vert="horz" wrap="square" lIns="0" tIns="8255" rIns="0" bIns="0" rtlCol="0">
            <a:spAutoFit/>
          </a:bodyPr>
          <a:lstStyle/>
          <a:p>
            <a:pPr marL="12700" marR="5080">
              <a:lnSpc>
                <a:spcPct val="102099"/>
              </a:lnSpc>
              <a:spcBef>
                <a:spcPts val="65"/>
              </a:spcBef>
            </a:pPr>
            <a:r>
              <a:rPr lang="kk-KZ" sz="1200" b="1" i="1" spc="70">
                <a:solidFill>
                  <a:schemeClr val="bg1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Заявки для участие в форуме и В2В встречах</a:t>
            </a:r>
            <a:r>
              <a:rPr lang="ru-RU" sz="1200" b="1" i="1" spc="70">
                <a:solidFill>
                  <a:schemeClr val="bg1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принимаются по </a:t>
            </a:r>
            <a:r>
              <a:rPr lang="en-US" sz="1200" b="1" i="1" spc="70">
                <a:solidFill>
                  <a:schemeClr val="bg1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email:</a:t>
            </a:r>
            <a:endParaRPr sz="1200">
              <a:solidFill>
                <a:schemeClr val="bg1"/>
              </a:solidFill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8" name="object 3">
            <a:extLst>
              <a:ext uri="{FF2B5EF4-FFF2-40B4-BE49-F238E27FC236}">
                <a16:creationId xmlns:a16="http://schemas.microsoft.com/office/drawing/2014/main" id="{A2AC19F2-BECF-9274-3908-E3669F00D9A4}"/>
              </a:ext>
            </a:extLst>
          </p:cNvPr>
          <p:cNvSpPr txBox="1"/>
          <p:nvPr/>
        </p:nvSpPr>
        <p:spPr>
          <a:xfrm>
            <a:off x="3941446" y="9687079"/>
            <a:ext cx="3294380" cy="226344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12700" marR="5080">
              <a:lnSpc>
                <a:spcPts val="1420"/>
              </a:lnSpc>
              <a:spcBef>
                <a:spcPts val="365"/>
              </a:spcBef>
            </a:pPr>
            <a:r>
              <a:rPr lang="de-DE" sz="1200" spc="-10" dirty="0" err="1">
                <a:solidFill>
                  <a:schemeClr val="bg1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s.bolatkyzy</a:t>
            </a:r>
            <a:r>
              <a:rPr lang="de-DE" sz="1200" spc="-10" dirty="0" err="1">
                <a:solidFill>
                  <a:schemeClr val="bg1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@satbayev.university</a:t>
            </a:r>
            <a:endParaRPr sz="1200" dirty="0">
              <a:solidFill>
                <a:schemeClr val="bg1"/>
              </a:solidFill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" name="object 4">
            <a:extLst>
              <a:ext uri="{FF2B5EF4-FFF2-40B4-BE49-F238E27FC236}">
                <a16:creationId xmlns:a16="http://schemas.microsoft.com/office/drawing/2014/main" id="{6309FC88-30B3-790F-2F1C-B3CD97D20BFD}"/>
              </a:ext>
            </a:extLst>
          </p:cNvPr>
          <p:cNvSpPr txBox="1"/>
          <p:nvPr/>
        </p:nvSpPr>
        <p:spPr>
          <a:xfrm>
            <a:off x="711504" y="10106976"/>
            <a:ext cx="6394146" cy="183640"/>
          </a:xfrm>
          <a:prstGeom prst="rect">
            <a:avLst/>
          </a:prstGeom>
        </p:spPr>
        <p:txBody>
          <a:bodyPr vert="horz" wrap="square" lIns="0" tIns="8255" rIns="0" bIns="0" rtlCol="0">
            <a:spAutoFit/>
          </a:bodyPr>
          <a:lstStyle/>
          <a:p>
            <a:pPr marL="12700" marR="5080">
              <a:lnSpc>
                <a:spcPct val="102099"/>
              </a:lnSpc>
              <a:spcBef>
                <a:spcPts val="65"/>
              </a:spcBef>
            </a:pPr>
            <a:r>
              <a:rPr lang="kk-KZ" sz="1200" b="1" i="1" spc="70">
                <a:solidFill>
                  <a:schemeClr val="bg1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Сайт</a:t>
            </a:r>
            <a:r>
              <a:rPr lang="ru-RU" sz="1200" b="1" i="1" spc="70">
                <a:solidFill>
                  <a:schemeClr val="bg1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мероприятия: </a:t>
            </a:r>
            <a:r>
              <a:rPr lang="de-DE" sz="1200" b="1" i="1" spc="70">
                <a:solidFill>
                  <a:schemeClr val="bg1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kazgerlogisticsforum.kz </a:t>
            </a:r>
            <a:r>
              <a:rPr lang="ru-RU" sz="1200" b="1" i="1" spc="70">
                <a:solidFill>
                  <a:schemeClr val="bg1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endParaRPr sz="1200">
              <a:solidFill>
                <a:schemeClr val="bg1"/>
              </a:solidFill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22" name="Рисунок 21" descr="Изображение выглядит как Графика, Шрифт, графический дизайн, снимок экрана&#10;&#10;Автоматически созданное описание">
            <a:extLst>
              <a:ext uri="{FF2B5EF4-FFF2-40B4-BE49-F238E27FC236}">
                <a16:creationId xmlns:a16="http://schemas.microsoft.com/office/drawing/2014/main" id="{1D6A952D-A16E-01DD-37DC-8BC325D6C8B3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595" y="310292"/>
            <a:ext cx="1197622" cy="564179"/>
          </a:xfrm>
          <a:prstGeom prst="rect">
            <a:avLst/>
          </a:prstGeom>
        </p:spPr>
      </p:pic>
      <p:pic>
        <p:nvPicPr>
          <p:cNvPr id="7" name="Picture 4" descr="Фотосурет сипаттамасы жоқ.">
            <a:extLst>
              <a:ext uri="{FF2B5EF4-FFF2-40B4-BE49-F238E27FC236}">
                <a16:creationId xmlns:a16="http://schemas.microsoft.com/office/drawing/2014/main" id="{E23DFBB0-6041-6588-6DE4-A0ED4293F7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7474" y="5753663"/>
            <a:ext cx="866955" cy="7729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81D4A18-3C44-DA16-C1D3-88A722B4BE25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1699" y="160331"/>
            <a:ext cx="2527794" cy="928692"/>
          </a:xfrm>
          <a:prstGeom prst="rect">
            <a:avLst/>
          </a:prstGeom>
        </p:spPr>
      </p:pic>
      <p:pic>
        <p:nvPicPr>
          <p:cNvPr id="17" name="Рисунок 2">
            <a:extLst>
              <a:ext uri="{FF2B5EF4-FFF2-40B4-BE49-F238E27FC236}">
                <a16:creationId xmlns:a16="http://schemas.microsoft.com/office/drawing/2014/main" id="{B79B64B9-B898-849D-3CCE-9FD3BD9439E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51440" y="5717075"/>
            <a:ext cx="2059868" cy="8239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85535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23848-0757-812A-2734-9801D2A46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4" descr="Satbayev University">
            <a:extLst>
              <a:ext uri="{FF2B5EF4-FFF2-40B4-BE49-F238E27FC236}">
                <a16:creationId xmlns:a16="http://schemas.microsoft.com/office/drawing/2014/main" id="{2D272ED2-978D-869A-8D0B-F50B193B63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88426" y="101418"/>
            <a:ext cx="1613204" cy="10239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object 2">
            <a:extLst>
              <a:ext uri="{FF2B5EF4-FFF2-40B4-BE49-F238E27FC236}">
                <a16:creationId xmlns:a16="http://schemas.microsoft.com/office/drawing/2014/main" id="{77E38BCD-22E9-1D8B-7CA7-E2A6ECCBD722}"/>
              </a:ext>
            </a:extLst>
          </p:cNvPr>
          <p:cNvSpPr txBox="1"/>
          <p:nvPr/>
        </p:nvSpPr>
        <p:spPr>
          <a:xfrm>
            <a:off x="576944" y="1359809"/>
            <a:ext cx="6839857" cy="9614170"/>
          </a:xfrm>
          <a:prstGeom prst="rect">
            <a:avLst/>
          </a:prstGeom>
        </p:spPr>
        <p:txBody>
          <a:bodyPr vert="horz" wrap="square" lIns="0" tIns="90170" rIns="0" bIns="0" rtlCol="0">
            <a:spAutoFit/>
          </a:bodyPr>
          <a:lstStyle/>
          <a:p>
            <a:pPr marL="12700" indent="349250" algn="just">
              <a:lnSpc>
                <a:spcPct val="100000"/>
              </a:lnSpc>
              <a:spcBef>
                <a:spcPts val="710"/>
              </a:spcBef>
            </a:pPr>
            <a:r>
              <a:rPr lang="ru-RU" sz="1200" b="1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Уважаемые</a:t>
            </a:r>
            <a:r>
              <a:rPr lang="ru-RU" sz="1200" b="1" spc="-2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ru-RU" sz="1200" b="1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дамы</a:t>
            </a:r>
            <a:r>
              <a:rPr lang="ru-RU" sz="1200" b="1" spc="-3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ru-RU" sz="1200" b="1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и</a:t>
            </a:r>
            <a:r>
              <a:rPr lang="ru-RU" sz="1200" b="1" spc="-15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ru-RU" sz="1200" b="1" spc="-1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господа!</a:t>
            </a:r>
          </a:p>
          <a:p>
            <a:pPr marL="12700" indent="349250" algn="just">
              <a:lnSpc>
                <a:spcPct val="100000"/>
              </a:lnSpc>
              <a:spcBef>
                <a:spcPts val="710"/>
              </a:spcBef>
            </a:pPr>
            <a:endParaRPr lang="ru-RU" sz="1200" noProof="0" dirty="0">
              <a:solidFill>
                <a:srgbClr val="002060"/>
              </a:solidFill>
              <a:latin typeface="Century Gothic" panose="020B0502020202020204" pitchFamily="34" charset="0"/>
              <a:cs typeface="Calibri"/>
            </a:endParaRPr>
          </a:p>
          <a:p>
            <a:pPr marL="12700" marR="391160" indent="349250" algn="just">
              <a:lnSpc>
                <a:spcPct val="102200"/>
              </a:lnSpc>
              <a:spcBef>
                <a:spcPts val="590"/>
              </a:spcBef>
            </a:pPr>
            <a:r>
              <a:rPr lang="ru-RU" sz="1200" noProof="0" dirty="0" err="1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Satbayev</a:t>
            </a:r>
            <a:r>
              <a:rPr lang="ru-RU" sz="120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University (Казахстан) совместно с </a:t>
            </a:r>
            <a:r>
              <a:rPr lang="ru-RU" sz="1200" noProof="0" dirty="0" err="1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Bundesvereinigung</a:t>
            </a:r>
            <a:r>
              <a:rPr lang="ru-RU" sz="120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ru-RU" sz="1200" noProof="0" dirty="0" err="1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Logistic</a:t>
            </a:r>
            <a:r>
              <a:rPr lang="ru-RU" sz="120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(BVL, Германия</a:t>
            </a:r>
            <a:r>
              <a:rPr lang="ru-RU" sz="12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) </a:t>
            </a:r>
            <a:r>
              <a:rPr lang="az-Cyrl-AZ" sz="12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и Германским обществом по международному сотрудничеству (</a:t>
            </a:r>
            <a:r>
              <a:rPr lang="de-DE" sz="12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Deutsche Gesellschaft für Internationale Zusammenarbeit GmbH, GIZ) </a:t>
            </a:r>
            <a:r>
              <a:rPr lang="ru-RU" sz="12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приглашает </a:t>
            </a:r>
            <a:r>
              <a:rPr lang="ru-RU" sz="120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Вас</a:t>
            </a:r>
            <a:r>
              <a:rPr lang="ru-RU" sz="1200" spc="-1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ru-RU" sz="120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принять</a:t>
            </a:r>
            <a:r>
              <a:rPr lang="ru-RU" sz="1200" spc="-5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ru-RU" sz="120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участие</a:t>
            </a:r>
            <a:r>
              <a:rPr lang="ru-RU" sz="1200" spc="-1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ru-RU" sz="120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в</a:t>
            </a:r>
            <a:r>
              <a:rPr lang="en-US" sz="120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ru-RU" sz="1200" b="1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Первом</a:t>
            </a:r>
            <a:r>
              <a:rPr lang="ru-RU" sz="1200" spc="-1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ru-RU" sz="1200" b="1" noProof="0" dirty="0">
                <a:solidFill>
                  <a:srgbClr val="002060"/>
                </a:solidFill>
                <a:latin typeface="Century Gothic" panose="020B0502020202020204" pitchFamily="34" charset="0"/>
              </a:rPr>
              <a:t>Казахстанско-Германском транспортно-логистическом форуме «Цифровизация, человеческий капитал, транзитные возможности»</a:t>
            </a:r>
            <a:r>
              <a:rPr lang="ru-RU" sz="1200" spc="-1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, </a:t>
            </a:r>
            <a:r>
              <a:rPr lang="ru-RU" sz="1200" noProof="0" dirty="0">
                <a:solidFill>
                  <a:srgbClr val="002060"/>
                </a:solidFill>
                <a:latin typeface="Century Gothic" panose="020B0502020202020204" pitchFamily="34" charset="0"/>
              </a:rPr>
              <a:t>который состоится 14 мая 2026 года в г. Алматы, Республика Казахстан,</a:t>
            </a:r>
            <a:r>
              <a:rPr lang="en-US" sz="1200" noProof="0" dirty="0">
                <a:solidFill>
                  <a:srgbClr val="002060"/>
                </a:solidFill>
                <a:latin typeface="Century Gothic" panose="020B0502020202020204" pitchFamily="34" charset="0"/>
              </a:rPr>
              <a:t> </a:t>
            </a:r>
            <a:r>
              <a:rPr lang="ru-RU" sz="1200" noProof="0" dirty="0">
                <a:solidFill>
                  <a:srgbClr val="002060"/>
                </a:solidFill>
                <a:latin typeface="Century Gothic" panose="020B0502020202020204" pitchFamily="34" charset="0"/>
              </a:rPr>
              <a:t>на базе </a:t>
            </a:r>
            <a:r>
              <a:rPr lang="ru-RU" sz="1200" noProof="0" dirty="0" err="1">
                <a:solidFill>
                  <a:srgbClr val="002060"/>
                </a:solidFill>
                <a:latin typeface="Century Gothic" panose="020B0502020202020204" pitchFamily="34" charset="0"/>
              </a:rPr>
              <a:t>Satbayev</a:t>
            </a:r>
            <a:r>
              <a:rPr lang="ru-RU" sz="1200" noProof="0" dirty="0">
                <a:solidFill>
                  <a:srgbClr val="002060"/>
                </a:solidFill>
                <a:latin typeface="Century Gothic" panose="020B0502020202020204" pitchFamily="34" charset="0"/>
              </a:rPr>
              <a:t> University по адресу: ул. Сатпаева, 22.</a:t>
            </a:r>
          </a:p>
          <a:p>
            <a:pPr marL="12700" marR="391160" indent="349250" algn="just">
              <a:lnSpc>
                <a:spcPct val="102200"/>
              </a:lnSpc>
              <a:spcBef>
                <a:spcPts val="590"/>
              </a:spcBef>
            </a:pPr>
            <a:r>
              <a:rPr lang="ru-RU" sz="1200" noProof="0" dirty="0">
                <a:solidFill>
                  <a:srgbClr val="002060"/>
                </a:solidFill>
                <a:latin typeface="Century Gothic" panose="020B0502020202020204" pitchFamily="34" charset="0"/>
              </a:rPr>
              <a:t>Форум объединит представителей министерств Республики Казахстан, высших учебных заведений, компаний транспортно-логистической отрасли, а также отраслевых экспертов Германии и представителей транспортно-логистических и индустриальных организаций стран Центральной Азии, включая Узбекистан, Кыргызстан и Азербайджан.</a:t>
            </a:r>
          </a:p>
          <a:p>
            <a:pPr marL="12700" marR="391160" indent="349250" algn="just">
              <a:lnSpc>
                <a:spcPct val="102200"/>
              </a:lnSpc>
              <a:spcBef>
                <a:spcPts val="590"/>
              </a:spcBef>
            </a:pPr>
            <a:r>
              <a:rPr lang="ru-RU" sz="1200" noProof="0" dirty="0">
                <a:solidFill>
                  <a:srgbClr val="002060"/>
                </a:solidFill>
                <a:latin typeface="Century Gothic" panose="020B0502020202020204" pitchFamily="34" charset="0"/>
              </a:rPr>
              <a:t>Мероприятие направлено на обсуждение ключевых тенденций и практических решений в области цифровизации транспортно-логистических систем, развития человеческого капитала и раскрытия транзитного потенциала Казахстана и Центральной Азии, а также на формирование устойчивых партнёрств между наукой, образованием и бизнесом.</a:t>
            </a:r>
          </a:p>
          <a:p>
            <a:pPr marL="12700" marR="391160" indent="349250" algn="just">
              <a:lnSpc>
                <a:spcPct val="102200"/>
              </a:lnSpc>
              <a:spcBef>
                <a:spcPts val="590"/>
              </a:spcBef>
            </a:pPr>
            <a:r>
              <a:rPr lang="ru-RU" sz="1200" spc="-1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Мероприятие состоит из трех частей: Пленарная сессия, В2В встречи и Вечерний прием.</a:t>
            </a:r>
          </a:p>
          <a:p>
            <a:pPr marL="12700" marR="391160" indent="349250" algn="just">
              <a:lnSpc>
                <a:spcPct val="102200"/>
              </a:lnSpc>
              <a:spcBef>
                <a:spcPts val="590"/>
              </a:spcBef>
            </a:pPr>
            <a:endParaRPr lang="ru-RU" sz="1200" spc="500" noProof="0" dirty="0">
              <a:solidFill>
                <a:srgbClr val="002060"/>
              </a:solidFill>
              <a:latin typeface="Century Gothic" panose="020B0502020202020204" pitchFamily="34" charset="0"/>
              <a:cs typeface="Calibri"/>
            </a:endParaRPr>
          </a:p>
          <a:p>
            <a:pPr marL="12700" marR="438784" indent="349250" algn="just">
              <a:lnSpc>
                <a:spcPts val="1700"/>
              </a:lnSpc>
              <a:spcBef>
                <a:spcPts val="155"/>
              </a:spcBef>
            </a:pPr>
            <a:r>
              <a:rPr lang="ru-RU" sz="120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Мы будем рады видеть Вас среди участников форума и надеемся на Ваше активное участие в развитии международного сотрудничества в сфере транспорта и логистики.</a:t>
            </a:r>
          </a:p>
          <a:p>
            <a:pPr marL="12700" marR="438784" indent="349250" algn="just">
              <a:lnSpc>
                <a:spcPts val="1700"/>
              </a:lnSpc>
              <a:spcBef>
                <a:spcPts val="155"/>
              </a:spcBef>
            </a:pPr>
            <a:endParaRPr lang="ru-RU" sz="1200" noProof="0" dirty="0">
              <a:solidFill>
                <a:srgbClr val="002060"/>
              </a:solidFill>
              <a:latin typeface="Century Gothic" panose="020B0502020202020204" pitchFamily="34" charset="0"/>
              <a:cs typeface="Calibri"/>
            </a:endParaRPr>
          </a:p>
          <a:p>
            <a:pPr marL="12700" marR="438784" indent="349250" algn="just">
              <a:lnSpc>
                <a:spcPts val="1700"/>
              </a:lnSpc>
              <a:spcBef>
                <a:spcPts val="155"/>
              </a:spcBef>
            </a:pPr>
            <a:r>
              <a:rPr lang="ru-RU" sz="120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Для получения дополнительной информации Вы можете обращаться по следующим контактам: </a:t>
            </a:r>
            <a:r>
              <a:rPr lang="de-DE" sz="1200" spc="-10" dirty="0" err="1">
                <a:solidFill>
                  <a:schemeClr val="accent1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s.bolatkyzy</a:t>
            </a:r>
            <a:r>
              <a:rPr lang="de-DE" sz="120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  <a:hlinkClick r:id="rId4"/>
              </a:rPr>
              <a:t>@satbayev.university</a:t>
            </a:r>
            <a:r>
              <a:rPr lang="ru-RU" sz="120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</a:p>
          <a:p>
            <a:pPr marL="12700" indent="349250" algn="just">
              <a:spcBef>
                <a:spcPts val="455"/>
              </a:spcBef>
            </a:pPr>
            <a:r>
              <a:rPr lang="ru-RU" sz="120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Ваши</a:t>
            </a:r>
            <a:r>
              <a:rPr lang="ru-RU" sz="1200" spc="-5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ru-RU" sz="120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вопросы</a:t>
            </a:r>
            <a:r>
              <a:rPr lang="ru-RU" sz="1200" spc="-5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ru-RU" sz="120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для</a:t>
            </a:r>
            <a:r>
              <a:rPr lang="ru-RU" sz="1200" spc="-15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ru-RU" sz="1200" spc="-1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открытой </a:t>
            </a:r>
            <a:r>
              <a:rPr lang="ru-RU" sz="120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дискуссии</a:t>
            </a:r>
            <a:r>
              <a:rPr lang="ru-RU" sz="1200" spc="-5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ru-RU" sz="120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Вы</a:t>
            </a:r>
            <a:r>
              <a:rPr lang="ru-RU" sz="1200" spc="-1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ru-RU" sz="120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можете</a:t>
            </a:r>
            <a:r>
              <a:rPr lang="ru-RU" sz="1200" spc="-5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ru-RU" sz="120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направить</a:t>
            </a:r>
            <a:r>
              <a:rPr lang="ru-RU" sz="1200" spc="-1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ru-RU" sz="120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нам заранее</a:t>
            </a:r>
          </a:p>
          <a:p>
            <a:pPr marL="12700" indent="349250" algn="just">
              <a:spcBef>
                <a:spcPts val="455"/>
              </a:spcBef>
            </a:pPr>
            <a:r>
              <a:rPr lang="ru-RU" sz="120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по адресу</a:t>
            </a:r>
            <a:r>
              <a:rPr lang="ru-RU" sz="1200" spc="5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ru-RU" sz="1200" u="sng" spc="-10" noProof="0" dirty="0">
                <a:solidFill>
                  <a:srgbClr val="002060"/>
                </a:solidFill>
                <a:uFill>
                  <a:solidFill>
                    <a:srgbClr val="0000FF"/>
                  </a:solidFill>
                </a:uFill>
                <a:latin typeface="Century Gothic" panose="020B0502020202020204" pitchFamily="34" charset="0"/>
                <a:cs typeface="Calibr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info@logistics-alliance-germany.de</a:t>
            </a:r>
            <a:r>
              <a:rPr lang="ru-RU" sz="1200" spc="-1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.</a:t>
            </a:r>
            <a:r>
              <a:rPr lang="ru-RU" sz="1200" spc="50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</a:p>
          <a:p>
            <a:pPr marL="12700" indent="349250" algn="just">
              <a:lnSpc>
                <a:spcPct val="100000"/>
              </a:lnSpc>
              <a:spcBef>
                <a:spcPts val="455"/>
              </a:spcBef>
            </a:pPr>
            <a:endParaRPr lang="ru-RU" sz="600" noProof="0" dirty="0">
              <a:solidFill>
                <a:srgbClr val="002060"/>
              </a:solidFill>
              <a:latin typeface="Century Gothic" panose="020B0502020202020204" pitchFamily="34" charset="0"/>
              <a:cs typeface="Calibri"/>
            </a:endParaRPr>
          </a:p>
          <a:p>
            <a:pPr marL="12700" indent="349250" algn="just">
              <a:lnSpc>
                <a:spcPct val="100000"/>
              </a:lnSpc>
              <a:spcBef>
                <a:spcPts val="455"/>
              </a:spcBef>
            </a:pPr>
            <a:r>
              <a:rPr lang="ru-RU" sz="1200" b="1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С</a:t>
            </a:r>
            <a:r>
              <a:rPr lang="ru-RU" sz="1200" b="1" spc="-5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ru-RU" sz="1200" b="1" spc="-1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уважением,</a:t>
            </a:r>
            <a:endParaRPr lang="ru-RU" sz="1200" b="1" noProof="0" dirty="0">
              <a:solidFill>
                <a:srgbClr val="002060"/>
              </a:solidFill>
              <a:latin typeface="Century Gothic" panose="020B0502020202020204" pitchFamily="34" charset="0"/>
              <a:cs typeface="Calibri"/>
            </a:endParaRPr>
          </a:p>
          <a:p>
            <a:pPr marL="12700" indent="349250" algn="just">
              <a:spcBef>
                <a:spcPts val="625"/>
              </a:spcBef>
            </a:pPr>
            <a:r>
              <a:rPr lang="ru-RU" sz="1200" b="1" spc="-10" noProof="0" dirty="0" err="1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Бегентаев</a:t>
            </a:r>
            <a:r>
              <a:rPr lang="ru-RU" sz="1200" b="1" spc="-1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Мейрам </a:t>
            </a:r>
            <a:r>
              <a:rPr lang="ru-RU" sz="1200" b="1" spc="-10" noProof="0" dirty="0" err="1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Мухаметрахимович</a:t>
            </a:r>
            <a:endParaRPr lang="ru-RU" sz="1200" b="1" spc="-10" noProof="0" dirty="0">
              <a:solidFill>
                <a:srgbClr val="002060"/>
              </a:solidFill>
              <a:latin typeface="Century Gothic" panose="020B0502020202020204" pitchFamily="34" charset="0"/>
              <a:cs typeface="Calibri"/>
            </a:endParaRPr>
          </a:p>
          <a:p>
            <a:pPr marL="12700" indent="349250" algn="just">
              <a:lnSpc>
                <a:spcPct val="100000"/>
              </a:lnSpc>
              <a:spcBef>
                <a:spcPts val="625"/>
              </a:spcBef>
            </a:pPr>
            <a:r>
              <a:rPr lang="ru-RU" sz="1200" b="1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Председатель Правления - </a:t>
            </a:r>
            <a:r>
              <a:rPr lang="ru-RU" sz="1200" b="1" spc="-2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Ректор </a:t>
            </a:r>
            <a:r>
              <a:rPr lang="ru-RU" sz="1200" b="1" spc="-20" noProof="0" dirty="0" err="1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Satbayev</a:t>
            </a:r>
            <a:r>
              <a:rPr lang="ru-RU" sz="1200" b="1" spc="-2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University</a:t>
            </a:r>
            <a:endParaRPr lang="ru-RU" sz="1200" b="1" i="1" spc="-20" dirty="0">
              <a:solidFill>
                <a:srgbClr val="002060"/>
              </a:solidFill>
              <a:latin typeface="Century Gothic" panose="020B0502020202020204" pitchFamily="34" charset="0"/>
              <a:cs typeface="Calibri"/>
            </a:endParaRPr>
          </a:p>
          <a:p>
            <a:pPr marL="12700" indent="349250" algn="just">
              <a:spcBef>
                <a:spcPts val="710"/>
              </a:spcBef>
            </a:pPr>
            <a:endParaRPr lang="ru-RU" sz="200" b="1" spc="-10" noProof="0" dirty="0">
              <a:solidFill>
                <a:srgbClr val="002060"/>
              </a:solidFill>
              <a:uFill>
                <a:solidFill>
                  <a:srgbClr val="39A0D2"/>
                </a:solidFill>
              </a:uFill>
              <a:latin typeface="Century Gothic" panose="020B0502020202020204" pitchFamily="34" charset="0"/>
              <a:cs typeface="Calibri"/>
            </a:endParaRPr>
          </a:p>
          <a:p>
            <a:pPr marL="12700" indent="349250" algn="just">
              <a:spcBef>
                <a:spcPts val="710"/>
              </a:spcBef>
            </a:pPr>
            <a:r>
              <a:rPr lang="en-US" sz="1200" b="1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Century Gothic" panose="020B0502020202020204" pitchFamily="34" charset="0"/>
                <a:cs typeface="Calibri"/>
              </a:rPr>
              <a:t>Mirco Nowak</a:t>
            </a:r>
            <a:r>
              <a:rPr lang="en-US" sz="1200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Century Gothic" panose="020B0502020202020204" pitchFamily="34" charset="0"/>
                <a:cs typeface="Calibri"/>
              </a:rPr>
              <a:t>, </a:t>
            </a:r>
          </a:p>
          <a:p>
            <a:pPr marL="12700" indent="349250" algn="just">
              <a:spcBef>
                <a:spcPts val="710"/>
              </a:spcBef>
            </a:pPr>
            <a:r>
              <a:rPr lang="ru-RU" sz="1200" b="1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Century Gothic" panose="020B0502020202020204" pitchFamily="34" charset="0"/>
                <a:cs typeface="Calibri"/>
              </a:rPr>
              <a:t>Генеральный директор, LUNO Group, </a:t>
            </a:r>
          </a:p>
          <a:p>
            <a:pPr marL="12700" indent="349250" algn="just">
              <a:spcBef>
                <a:spcPts val="710"/>
              </a:spcBef>
            </a:pPr>
            <a:r>
              <a:rPr lang="ru-RU" sz="1200" b="1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Century Gothic" panose="020B0502020202020204" pitchFamily="34" charset="0"/>
                <a:cs typeface="Calibri"/>
              </a:rPr>
              <a:t>Председатель Евразийского отделения </a:t>
            </a:r>
            <a:r>
              <a:rPr lang="en-US" sz="1200" b="1" spc="-10" noProof="0" dirty="0" err="1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Century Gothic" panose="020B0502020202020204" pitchFamily="34" charset="0"/>
                <a:cs typeface="Calibri"/>
              </a:rPr>
              <a:t>Bundesvereinigung</a:t>
            </a:r>
            <a:r>
              <a:rPr lang="en-US" sz="1200" b="1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Century Gothic" panose="020B0502020202020204" pitchFamily="34" charset="0"/>
                <a:cs typeface="Calibri"/>
              </a:rPr>
              <a:t> Logistik (BVL), </a:t>
            </a:r>
            <a:r>
              <a:rPr lang="ru-RU" sz="1200" b="1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Century Gothic" panose="020B0502020202020204" pitchFamily="34" charset="0"/>
                <a:cs typeface="Calibri"/>
              </a:rPr>
              <a:t>Германия</a:t>
            </a:r>
            <a:endParaRPr lang="de-DE" sz="1200" b="1" spc="-10" noProof="0" dirty="0">
              <a:solidFill>
                <a:srgbClr val="002060"/>
              </a:solidFill>
              <a:uFill>
                <a:solidFill>
                  <a:srgbClr val="39A0D2"/>
                </a:solidFill>
              </a:uFill>
              <a:latin typeface="Century Gothic" panose="020B0502020202020204" pitchFamily="34" charset="0"/>
              <a:cs typeface="Calibri"/>
            </a:endParaRPr>
          </a:p>
          <a:p>
            <a:pPr marL="12700" indent="349250" algn="just">
              <a:spcBef>
                <a:spcPts val="710"/>
              </a:spcBef>
            </a:pPr>
            <a:endParaRPr lang="de-DE" sz="200" b="1" spc="-10" noProof="0" dirty="0">
              <a:solidFill>
                <a:srgbClr val="002060"/>
              </a:solidFill>
              <a:uFill>
                <a:solidFill>
                  <a:srgbClr val="39A0D2"/>
                </a:solidFill>
              </a:uFill>
              <a:latin typeface="Century Gothic" panose="020B0502020202020204" pitchFamily="34" charset="0"/>
              <a:cs typeface="Calibri"/>
            </a:endParaRPr>
          </a:p>
          <a:p>
            <a:pPr marL="12700" indent="349250" algn="just">
              <a:spcBef>
                <a:spcPts val="710"/>
              </a:spcBef>
            </a:pPr>
            <a:r>
              <a:rPr lang="de-DE" sz="1200" b="1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Judith Blank</a:t>
            </a:r>
            <a:r>
              <a:rPr lang="ru-RU" sz="1200" b="1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, </a:t>
            </a:r>
            <a:endParaRPr lang="de-DE" sz="1200" b="1" dirty="0">
              <a:solidFill>
                <a:srgbClr val="002060"/>
              </a:solidFill>
              <a:latin typeface="Century Gothic" panose="020B0502020202020204" pitchFamily="34" charset="0"/>
              <a:cs typeface="Calibri"/>
            </a:endParaRPr>
          </a:p>
          <a:p>
            <a:pPr marL="12700" indent="349250" algn="just">
              <a:spcBef>
                <a:spcPts val="710"/>
              </a:spcBef>
            </a:pPr>
            <a:r>
              <a:rPr lang="ru-RU" sz="1200" b="1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Руководитель проекта, Региональная программа содействия торговле в </a:t>
            </a:r>
            <a:endParaRPr lang="de-DE" sz="1200" b="1" dirty="0">
              <a:solidFill>
                <a:srgbClr val="002060"/>
              </a:solidFill>
              <a:latin typeface="Century Gothic" panose="020B0502020202020204" pitchFamily="34" charset="0"/>
              <a:cs typeface="Calibri"/>
            </a:endParaRPr>
          </a:p>
          <a:p>
            <a:pPr marL="12700" indent="349250" algn="just">
              <a:spcBef>
                <a:spcPts val="710"/>
              </a:spcBef>
            </a:pPr>
            <a:r>
              <a:rPr lang="ru-RU" sz="1200" b="1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Центральной Азии/Программа развития потенциала TCTC, GIZ Центральная Азия</a:t>
            </a:r>
          </a:p>
          <a:p>
            <a:pPr marL="12700" indent="349250" algn="just">
              <a:spcBef>
                <a:spcPts val="710"/>
              </a:spcBef>
            </a:pPr>
            <a:endParaRPr lang="ru-RU" sz="200" spc="-20" noProof="0" dirty="0">
              <a:solidFill>
                <a:srgbClr val="002060"/>
              </a:solidFill>
              <a:latin typeface="Century Gothic" panose="020B0502020202020204" pitchFamily="34" charset="0"/>
              <a:cs typeface="Calibri"/>
            </a:endParaRPr>
          </a:p>
        </p:txBody>
      </p:sp>
      <p:pic>
        <p:nvPicPr>
          <p:cNvPr id="5" name="Рисунок 4" descr="Изображение выглядит как Графика, Шрифт, графический дизайн, снимок экрана&#10;&#10;Автоматически созданное описание">
            <a:extLst>
              <a:ext uri="{FF2B5EF4-FFF2-40B4-BE49-F238E27FC236}">
                <a16:creationId xmlns:a16="http://schemas.microsoft.com/office/drawing/2014/main" id="{0767B7AB-2458-5A62-3299-AF72C8974BE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595" y="310292"/>
            <a:ext cx="1197622" cy="564179"/>
          </a:xfrm>
          <a:prstGeom prst="rect">
            <a:avLst/>
          </a:prstGeom>
        </p:spPr>
      </p:pic>
      <p:pic>
        <p:nvPicPr>
          <p:cNvPr id="4" name="Picture 14">
            <a:extLst>
              <a:ext uri="{FF2B5EF4-FFF2-40B4-BE49-F238E27FC236}">
                <a16:creationId xmlns:a16="http://schemas.microsoft.com/office/drawing/2014/main" id="{B7084795-A430-5D6D-B787-A1147DD6174E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1699" y="160331"/>
            <a:ext cx="2527794" cy="928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31523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0123FB-7E8B-F2F9-94F8-CC62843E5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4" descr="Satbayev University">
            <a:extLst>
              <a:ext uri="{FF2B5EF4-FFF2-40B4-BE49-F238E27FC236}">
                <a16:creationId xmlns:a16="http://schemas.microsoft.com/office/drawing/2014/main" id="{A97A388E-ADCE-9664-5F9E-4EB68CBE36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88426" y="101418"/>
            <a:ext cx="1613204" cy="10239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object 2">
            <a:extLst>
              <a:ext uri="{FF2B5EF4-FFF2-40B4-BE49-F238E27FC236}">
                <a16:creationId xmlns:a16="http://schemas.microsoft.com/office/drawing/2014/main" id="{94262080-6EF4-0247-BFB7-67A295BE1743}"/>
              </a:ext>
            </a:extLst>
          </p:cNvPr>
          <p:cNvSpPr txBox="1"/>
          <p:nvPr/>
        </p:nvSpPr>
        <p:spPr>
          <a:xfrm>
            <a:off x="595086" y="1202505"/>
            <a:ext cx="6502400" cy="9041129"/>
          </a:xfrm>
          <a:prstGeom prst="rect">
            <a:avLst/>
          </a:prstGeom>
        </p:spPr>
        <p:txBody>
          <a:bodyPr vert="horz" wrap="square" lIns="0" tIns="9017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625"/>
              </a:spcBef>
            </a:pPr>
            <a:r>
              <a:rPr lang="ru-RU" sz="1100" u="sng" spc="-1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Century Gothic" panose="020B0502020202020204" pitchFamily="34" charset="0"/>
                <a:cs typeface="Calibri"/>
              </a:rPr>
              <a:t>Программа</a:t>
            </a:r>
            <a:endParaRPr lang="ru-RU" sz="1100" dirty="0">
              <a:solidFill>
                <a:srgbClr val="002060"/>
              </a:solidFill>
              <a:latin typeface="Century Gothic" panose="020B0502020202020204" pitchFamily="34" charset="0"/>
              <a:cs typeface="Calibri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1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Century Gothic" panose="020B0502020202020204" pitchFamily="34" charset="0"/>
              </a:rPr>
              <a:t>Первый Казахстанско-Германский транспортно-логистический форум</a:t>
            </a:r>
            <a:br>
              <a:rPr kumimoji="0" lang="ru-RU" altLang="ru-RU" sz="11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Century Gothic" panose="020B0502020202020204" pitchFamily="34" charset="0"/>
              </a:rPr>
            </a:br>
            <a:r>
              <a:rPr kumimoji="0" lang="ru-RU" altLang="ru-RU" sz="11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Century Gothic" panose="020B0502020202020204" pitchFamily="34" charset="0"/>
              </a:rPr>
              <a:t>«Цифровизация, человеческий капитал, транзитные возможности»</a:t>
            </a:r>
            <a:endParaRPr kumimoji="0" lang="ru-RU" altLang="ru-RU" sz="1100" b="0" i="0" u="none" strike="noStrike" cap="none" normalizeH="0" baseline="0" dirty="0">
              <a:ln>
                <a:noFill/>
              </a:ln>
              <a:solidFill>
                <a:srgbClr val="002060"/>
              </a:solidFill>
              <a:effectLst/>
              <a:latin typeface="Century Gothic" panose="020B0502020202020204" pitchFamily="34" charset="0"/>
            </a:endParaRPr>
          </a:p>
          <a:p>
            <a:pPr marL="26034" algn="just">
              <a:lnSpc>
                <a:spcPct val="100000"/>
              </a:lnSpc>
              <a:spcBef>
                <a:spcPts val="645"/>
              </a:spcBef>
            </a:pPr>
            <a:endParaRPr lang="ru-RU" sz="1100" dirty="0">
              <a:solidFill>
                <a:srgbClr val="002060"/>
              </a:solidFill>
              <a:latin typeface="Century Gothic" panose="020B0502020202020204" pitchFamily="34" charset="0"/>
              <a:cs typeface="Calibri"/>
            </a:endParaRPr>
          </a:p>
          <a:p>
            <a:pPr marL="26034" algn="just">
              <a:lnSpc>
                <a:spcPct val="100000"/>
              </a:lnSpc>
              <a:spcBef>
                <a:spcPts val="645"/>
              </a:spcBef>
            </a:pP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10:30 – 11:00</a:t>
            </a:r>
            <a:r>
              <a:rPr lang="ru-RU" sz="1100" spc="5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ru-RU" sz="1100" b="1" spc="-1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Регистрация</a:t>
            </a:r>
            <a:r>
              <a:rPr lang="ru-RU" sz="1100" b="1" spc="5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ru-RU" sz="1100" b="1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/</a:t>
            </a:r>
            <a:r>
              <a:rPr lang="ru-RU" sz="1100" b="1" spc="5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ru-RU" sz="1100" b="1" spc="-1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Кофе-</a:t>
            </a:r>
            <a:r>
              <a:rPr lang="ru-RU" sz="1100" b="1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брейк</a:t>
            </a:r>
            <a:r>
              <a:rPr lang="ru-RU" sz="1100" b="1" spc="5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endParaRPr lang="ru-RU" sz="1100" dirty="0">
              <a:solidFill>
                <a:srgbClr val="002060"/>
              </a:solidFill>
              <a:latin typeface="Century Gothic" panose="020B0502020202020204" pitchFamily="34" charset="0"/>
              <a:cs typeface="Calibri"/>
            </a:endParaRPr>
          </a:p>
          <a:p>
            <a:pPr marL="26034" algn="just">
              <a:lnSpc>
                <a:spcPct val="100000"/>
              </a:lnSpc>
              <a:spcBef>
                <a:spcPts val="820"/>
              </a:spcBef>
            </a:pP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11:00 - </a:t>
            </a:r>
            <a:r>
              <a:rPr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1</a:t>
            </a: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1</a:t>
            </a:r>
            <a:r>
              <a:rPr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:</a:t>
            </a: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20</a:t>
            </a:r>
            <a:r>
              <a:rPr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sz="1100" b="1" spc="-10" dirty="0" err="1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Приветственная</a:t>
            </a:r>
            <a:r>
              <a:rPr sz="1100" b="1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sz="1100" b="1" spc="-20" dirty="0" err="1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часть</a:t>
            </a:r>
            <a:endParaRPr kumimoji="0" lang="ru-RU" altLang="ru-RU" sz="1100" b="0" i="0" u="none" strike="noStrike" cap="none" spc="-10" normalizeH="0" baseline="0" dirty="0">
              <a:ln>
                <a:noFill/>
              </a:ln>
              <a:solidFill>
                <a:srgbClr val="002060"/>
              </a:solidFill>
              <a:effectLst/>
              <a:latin typeface="Century Gothic" panose="020B0502020202020204" pitchFamily="34" charset="0"/>
              <a:cs typeface="Calibri"/>
            </a:endParaRPr>
          </a:p>
          <a:p>
            <a:pPr marL="355600" algn="just">
              <a:lnSpc>
                <a:spcPct val="100000"/>
              </a:lnSpc>
              <a:spcBef>
                <a:spcPts val="820"/>
              </a:spcBef>
              <a:tabLst>
                <a:tab pos="449263" algn="l"/>
              </a:tabLst>
            </a:pPr>
            <a:r>
              <a:rPr kumimoji="0" lang="ru-RU" altLang="ru-RU" sz="11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Century Gothic" panose="020B0502020202020204" pitchFamily="34" charset="0"/>
              </a:rPr>
              <a:t>Вице-министр транспорта Республики Казахстан</a:t>
            </a:r>
          </a:p>
          <a:p>
            <a:pPr marL="355600" algn="just" rtl="0">
              <a:spcBef>
                <a:spcPts val="15"/>
              </a:spcBef>
            </a:pPr>
            <a:r>
              <a:rPr kumimoji="0" lang="ru-RU" altLang="ru-RU" sz="11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Century Gothic" panose="020B0502020202020204" pitchFamily="34" charset="0"/>
              </a:rPr>
              <a:t>Посол / Генеральный консул Федеративной Республики Германия в Казахстане</a:t>
            </a:r>
          </a:p>
          <a:p>
            <a:pPr marL="355600" algn="just">
              <a:spcBef>
                <a:spcPts val="15"/>
              </a:spcBef>
            </a:pPr>
            <a:r>
              <a:rPr lang="ru-RU" sz="1100" b="1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Г-н </a:t>
            </a:r>
            <a:r>
              <a:rPr lang="ru-RU" sz="1100" b="1" dirty="0" err="1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Бегентаев</a:t>
            </a:r>
            <a:r>
              <a:rPr lang="ru-RU" sz="1100" b="1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М.М., </a:t>
            </a: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Ректор </a:t>
            </a:r>
            <a:r>
              <a:rPr lang="en-US" sz="1100" dirty="0" err="1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Satbayev</a:t>
            </a:r>
            <a:r>
              <a:rPr lang="en-US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University </a:t>
            </a:r>
            <a:endParaRPr lang="ru-RU" sz="1100" dirty="0">
              <a:solidFill>
                <a:srgbClr val="002060"/>
              </a:solidFill>
              <a:latin typeface="Century Gothic" panose="020B0502020202020204" pitchFamily="34" charset="0"/>
              <a:cs typeface="Calibri"/>
            </a:endParaRPr>
          </a:p>
          <a:p>
            <a:pPr marL="355600" marR="382270" algn="just" rtl="0">
              <a:lnSpc>
                <a:spcPct val="102200"/>
              </a:lnSpc>
              <a:spcBef>
                <a:spcPts val="145"/>
              </a:spcBef>
              <a:tabLst>
                <a:tab pos="558165" algn="l"/>
              </a:tabLst>
            </a:pPr>
            <a:r>
              <a:rPr kumimoji="0" lang="ru-RU" altLang="ru-RU" sz="11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Century Gothic" panose="020B0502020202020204" pitchFamily="34" charset="0"/>
              </a:rPr>
              <a:t>Г-н Йоахим Фриц, </a:t>
            </a:r>
            <a:r>
              <a:rPr kumimoji="0" lang="ru-RU" altLang="ru-RU" sz="110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Century Gothic" panose="020B0502020202020204" pitchFamily="34" charset="0"/>
              </a:rPr>
              <a:t>региональный директор GIZ по Центральной Азии</a:t>
            </a:r>
            <a:r>
              <a:rPr kumimoji="0" lang="de-DE" altLang="ru-RU" sz="110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Century Gothic" panose="020B0502020202020204" pitchFamily="34" charset="0"/>
              </a:rPr>
              <a:t> (</a:t>
            </a:r>
            <a:r>
              <a:rPr kumimoji="0" lang="de-DE" altLang="ru-RU" sz="1100" i="0" u="none" strike="noStrike" cap="none" normalizeH="0" baseline="0" dirty="0" err="1">
                <a:ln>
                  <a:noFill/>
                </a:ln>
                <a:solidFill>
                  <a:srgbClr val="002060"/>
                </a:solidFill>
                <a:effectLst/>
                <a:latin typeface="Century Gothic" panose="020B0502020202020204" pitchFamily="34" charset="0"/>
              </a:rPr>
              <a:t>tbc</a:t>
            </a:r>
            <a:r>
              <a:rPr kumimoji="0" lang="de-DE" altLang="ru-RU" sz="110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Century Gothic" panose="020B0502020202020204" pitchFamily="34" charset="0"/>
              </a:rPr>
              <a:t>)</a:t>
            </a:r>
            <a:endParaRPr sz="1100" dirty="0">
              <a:solidFill>
                <a:srgbClr val="002060"/>
              </a:solidFill>
              <a:latin typeface="Century Gothic" panose="020B0502020202020204" pitchFamily="34" charset="0"/>
              <a:cs typeface="Calibri"/>
            </a:endParaRPr>
          </a:p>
          <a:p>
            <a:pPr marL="26034" algn="just">
              <a:lnSpc>
                <a:spcPct val="100000"/>
              </a:lnSpc>
              <a:spcBef>
                <a:spcPts val="625"/>
              </a:spcBef>
            </a:pP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11:20 – 11:50 </a:t>
            </a:r>
            <a:r>
              <a:rPr lang="ru-RU" sz="1100" b="1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Импульсы</a:t>
            </a: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</a:p>
          <a:p>
            <a:pPr marL="26034" algn="just">
              <a:lnSpc>
                <a:spcPct val="100000"/>
              </a:lnSpc>
              <a:spcBef>
                <a:spcPts val="625"/>
              </a:spcBef>
            </a:pPr>
            <a:r>
              <a:rPr lang="ru-RU" sz="1100" b="1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Модератор: г-н Марат М. Идрисов, </a:t>
            </a: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Казахстанский институт развития промышленности</a:t>
            </a:r>
          </a:p>
          <a:p>
            <a:pPr marL="26034" algn="just">
              <a:lnSpc>
                <a:spcPct val="100000"/>
              </a:lnSpc>
              <a:spcBef>
                <a:spcPts val="625"/>
              </a:spcBef>
            </a:pPr>
            <a:r>
              <a:rPr lang="ru-RU" sz="1100" b="1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Спикеры:</a:t>
            </a:r>
          </a:p>
          <a:p>
            <a:pPr marL="358775" algn="just">
              <a:lnSpc>
                <a:spcPct val="100000"/>
              </a:lnSpc>
              <a:spcBef>
                <a:spcPts val="625"/>
              </a:spcBef>
            </a:pPr>
            <a:r>
              <a:rPr lang="ru-RU" sz="1100" b="1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г-жа Гульмира С. Муханова, </a:t>
            </a: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Кандидат технических наук, доцент, профессор Школы транспортной инженерии и логистики им. М. </a:t>
            </a:r>
            <a:r>
              <a:rPr lang="ru-RU" sz="1100" dirty="0" err="1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Тынышпаева</a:t>
            </a:r>
            <a:endParaRPr lang="ru-RU" sz="1100" dirty="0">
              <a:solidFill>
                <a:srgbClr val="002060"/>
              </a:solidFill>
              <a:latin typeface="Century Gothic" panose="020B0502020202020204" pitchFamily="34" charset="0"/>
              <a:cs typeface="Calibri"/>
            </a:endParaRPr>
          </a:p>
          <a:p>
            <a:pPr marL="358775" algn="just">
              <a:lnSpc>
                <a:spcPct val="100000"/>
              </a:lnSpc>
              <a:spcBef>
                <a:spcPts val="625"/>
              </a:spcBef>
            </a:pPr>
            <a:r>
              <a:rPr lang="ru-RU" sz="1100" b="1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г-жа Джудит Бланк, </a:t>
            </a: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Руководитель проекта, Региональная программа содействия торговле в Центральной Азии/Программа развития потенциала TCTC, GIZ Центральная Азия</a:t>
            </a:r>
          </a:p>
          <a:p>
            <a:pPr marL="358775" algn="just">
              <a:lnSpc>
                <a:spcPct val="100000"/>
              </a:lnSpc>
              <a:spcBef>
                <a:spcPts val="625"/>
              </a:spcBef>
            </a:pPr>
            <a:r>
              <a:rPr lang="ru-RU" sz="1100" b="1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Г-н Владимир </a:t>
            </a:r>
            <a:r>
              <a:rPr lang="ru-RU" sz="1100" b="1" dirty="0" err="1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Туреханов</a:t>
            </a:r>
            <a:r>
              <a:rPr lang="ru-RU" sz="1100" b="1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, </a:t>
            </a: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руководитель Казахстанской ассоциации автоматизации и робототехники (KAAR)</a:t>
            </a:r>
          </a:p>
          <a:p>
            <a:pPr marL="26034" algn="just">
              <a:lnSpc>
                <a:spcPct val="100000"/>
              </a:lnSpc>
              <a:spcBef>
                <a:spcPts val="625"/>
              </a:spcBef>
            </a:pP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11:50 – 13:00 </a:t>
            </a:r>
            <a:r>
              <a:rPr lang="ru-RU" sz="1100" b="1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Панельная дискуссия </a:t>
            </a:r>
            <a:r>
              <a:rPr lang="en-US" sz="1100" b="1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“</a:t>
            </a:r>
            <a:r>
              <a:rPr lang="ru-RU" sz="1100" b="1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Средний коридор</a:t>
            </a:r>
            <a:r>
              <a:rPr lang="en-US" sz="1100" b="1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”</a:t>
            </a:r>
            <a:r>
              <a:rPr lang="ru-RU" sz="1100" b="1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endParaRPr lang="en-US" sz="1100" b="1" dirty="0">
              <a:solidFill>
                <a:srgbClr val="002060"/>
              </a:solidFill>
              <a:latin typeface="Century Gothic" panose="020B0502020202020204" pitchFamily="34" charset="0"/>
              <a:cs typeface="Calibri"/>
            </a:endParaRPr>
          </a:p>
          <a:p>
            <a:pPr marL="26034" algn="just">
              <a:lnSpc>
                <a:spcPct val="100000"/>
              </a:lnSpc>
              <a:spcBef>
                <a:spcPts val="625"/>
              </a:spcBef>
            </a:pPr>
            <a:r>
              <a:rPr lang="ru-RU" sz="1100" b="1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Модератор: г-н Мирко Новак, </a:t>
            </a: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генеральный директор LUNO Group; Председатель Евразийского отделения </a:t>
            </a:r>
            <a:r>
              <a:rPr lang="ru-RU" sz="1100" dirty="0" err="1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Bundesvereinigung</a:t>
            </a: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ru-RU" sz="1100" dirty="0" err="1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Logistik</a:t>
            </a: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(BVL), Германия</a:t>
            </a:r>
          </a:p>
          <a:p>
            <a:pPr marL="26034" algn="just">
              <a:lnSpc>
                <a:spcPct val="100000"/>
              </a:lnSpc>
              <a:spcBef>
                <a:spcPts val="625"/>
              </a:spcBef>
            </a:pPr>
            <a:r>
              <a:rPr lang="ru-RU" sz="1100" b="1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Спикеры:</a:t>
            </a:r>
          </a:p>
          <a:p>
            <a:pPr marL="358775" algn="just">
              <a:lnSpc>
                <a:spcPct val="100000"/>
              </a:lnSpc>
              <a:spcBef>
                <a:spcPts val="625"/>
              </a:spcBef>
            </a:pP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Представитель Ассоциации «</a:t>
            </a:r>
            <a:r>
              <a:rPr lang="ru-RU" sz="1100" dirty="0" err="1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КазЛогистик</a:t>
            </a: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»</a:t>
            </a:r>
          </a:p>
          <a:p>
            <a:pPr marL="358775" algn="just">
              <a:lnSpc>
                <a:spcPct val="100000"/>
              </a:lnSpc>
              <a:spcBef>
                <a:spcPts val="625"/>
              </a:spcBef>
            </a:pP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Представители казахстанских и немецких компаний и учреждений (Казахстан Темир Жолы, ​​</a:t>
            </a:r>
            <a:r>
              <a:rPr lang="ru-RU" sz="1100" dirty="0" err="1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Eastcomtrans</a:t>
            </a: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, </a:t>
            </a:r>
            <a:r>
              <a:rPr lang="ru-RU" sz="1100" dirty="0" err="1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AsstrA</a:t>
            </a: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, </a:t>
            </a:r>
            <a:r>
              <a:rPr lang="ru-RU" sz="1100" dirty="0" err="1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Ge</a:t>
            </a:r>
            <a:r>
              <a:rPr lang="de-DE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b</a:t>
            </a:r>
            <a:r>
              <a:rPr lang="ru-RU" sz="1100" dirty="0" err="1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rueder</a:t>
            </a: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ru-RU" sz="1100" dirty="0" err="1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Weiss</a:t>
            </a: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и </a:t>
            </a:r>
            <a:r>
              <a:rPr lang="ru-RU" sz="1100" dirty="0" err="1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др</a:t>
            </a:r>
            <a:endParaRPr lang="ru-RU" sz="1100" dirty="0">
              <a:solidFill>
                <a:srgbClr val="002060"/>
              </a:solidFill>
              <a:latin typeface="Century Gothic" panose="020B0502020202020204" pitchFamily="34" charset="0"/>
              <a:cs typeface="Calibri"/>
            </a:endParaRPr>
          </a:p>
          <a:p>
            <a:pPr marL="26034" algn="just">
              <a:spcBef>
                <a:spcPts val="625"/>
              </a:spcBef>
            </a:pP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13:00 – 14:30 </a:t>
            </a:r>
            <a:r>
              <a:rPr lang="ru-RU" sz="1100" b="1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Обеденный перерыв</a:t>
            </a:r>
          </a:p>
          <a:p>
            <a:pPr algn="just"/>
            <a:endParaRPr lang="ru-RU" sz="1100" dirty="0">
              <a:latin typeface="Century Gothic" panose="020B0502020202020204" pitchFamily="34" charset="0"/>
            </a:endParaRPr>
          </a:p>
          <a:p>
            <a:pPr marL="26034" algn="just">
              <a:spcBef>
                <a:spcPts val="625"/>
              </a:spcBef>
            </a:pP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14:30 – 17:00 </a:t>
            </a:r>
            <a:r>
              <a:rPr lang="ru-RU" sz="1100" b="1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B2B-встречи</a:t>
            </a:r>
          </a:p>
          <a:p>
            <a:pPr marL="26034" algn="just">
              <a:spcBef>
                <a:spcPts val="625"/>
              </a:spcBef>
            </a:pP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Серия целевых деловых встреч, ориентированных на поиск потенциальных партнёров и обсуждение совместных научных, образовательных и бизнес-проектов. Для удобства участников будет функционировать официальный сайт форума с информацией об участниках и системой бронирования встреч</a:t>
            </a:r>
            <a:r>
              <a:rPr lang="ru-RU" sz="1100" dirty="0">
                <a:latin typeface="Century Gothic" panose="020B0502020202020204" pitchFamily="34" charset="0"/>
              </a:rPr>
              <a:t>.</a:t>
            </a:r>
          </a:p>
          <a:p>
            <a:pPr marL="26034" algn="just">
              <a:lnSpc>
                <a:spcPct val="100000"/>
              </a:lnSpc>
              <a:spcBef>
                <a:spcPts val="625"/>
              </a:spcBef>
            </a:pPr>
            <a:endParaRPr lang="ru-RU" sz="1100" dirty="0">
              <a:solidFill>
                <a:srgbClr val="002060"/>
              </a:solidFill>
              <a:latin typeface="Century Gothic" panose="020B0502020202020204" pitchFamily="34" charset="0"/>
              <a:cs typeface="Calibri"/>
            </a:endParaRPr>
          </a:p>
          <a:p>
            <a:pPr marL="26034" algn="just">
              <a:lnSpc>
                <a:spcPct val="100000"/>
              </a:lnSpc>
              <a:spcBef>
                <a:spcPts val="625"/>
              </a:spcBef>
            </a:pPr>
            <a:r>
              <a:rPr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1</a:t>
            </a: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7</a:t>
            </a:r>
            <a:r>
              <a:rPr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:</a:t>
            </a: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0</a:t>
            </a:r>
            <a:r>
              <a:rPr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0</a:t>
            </a:r>
            <a:r>
              <a:rPr sz="1100" spc="5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sz="1100" b="1" spc="-10" dirty="0" err="1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Завершение</a:t>
            </a:r>
            <a:r>
              <a:rPr sz="1100" b="1" spc="25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sz="1100" b="1" spc="-10" dirty="0" err="1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Форума</a:t>
            </a:r>
            <a:endParaRPr sz="1100" dirty="0">
              <a:solidFill>
                <a:srgbClr val="002060"/>
              </a:solidFill>
              <a:latin typeface="Century Gothic" panose="020B0502020202020204" pitchFamily="34" charset="0"/>
              <a:cs typeface="Calibri"/>
            </a:endParaRPr>
          </a:p>
          <a:p>
            <a:pPr marL="26034" algn="just">
              <a:lnSpc>
                <a:spcPct val="100000"/>
              </a:lnSpc>
              <a:spcBef>
                <a:spcPts val="600"/>
              </a:spcBef>
            </a:pPr>
            <a:endParaRPr lang="ru-RU" sz="1100" b="1" dirty="0">
              <a:solidFill>
                <a:srgbClr val="002060"/>
              </a:solidFill>
              <a:latin typeface="Century Gothic" panose="020B0502020202020204" pitchFamily="34" charset="0"/>
              <a:cs typeface="Calibri"/>
            </a:endParaRPr>
          </a:p>
          <a:p>
            <a:pPr marL="26034" algn="just">
              <a:spcBef>
                <a:spcPts val="600"/>
              </a:spcBef>
            </a:pPr>
            <a:r>
              <a:rPr sz="1100" b="1" dirty="0" err="1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Вечерний</a:t>
            </a:r>
            <a:r>
              <a:rPr sz="1100" b="1" spc="-3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sz="1100" b="1" spc="-2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прие</a:t>
            </a:r>
            <a:r>
              <a:rPr lang="en-US" sz="1100" spc="-10" noProof="0">
                <a:solidFill>
                  <a:srgbClr val="002060"/>
                </a:solidFill>
                <a:highlight>
                  <a:srgbClr val="FFFF00"/>
                </a:highlight>
                <a:uFill>
                  <a:solidFill>
                    <a:srgbClr val="39A0D2"/>
                  </a:solidFill>
                </a:uFill>
                <a:latin typeface="Century Gothic" panose="020B0502020202020204" pitchFamily="34" charset="0"/>
                <a:cs typeface="Calibri"/>
              </a:rPr>
              <a:t>)</a:t>
            </a:r>
            <a:endParaRPr lang="en-US" sz="1100" spc="-10" noProof="0" dirty="0">
              <a:solidFill>
                <a:srgbClr val="002060"/>
              </a:solidFill>
              <a:highlight>
                <a:srgbClr val="FFFF00"/>
              </a:highlight>
              <a:uFill>
                <a:solidFill>
                  <a:srgbClr val="39A0D2"/>
                </a:solidFill>
              </a:uFill>
              <a:latin typeface="Century Gothic" panose="020B0502020202020204" pitchFamily="34" charset="0"/>
              <a:cs typeface="Calibri"/>
            </a:endParaRPr>
          </a:p>
          <a:p>
            <a:pPr marL="26034" algn="just">
              <a:spcBef>
                <a:spcPts val="600"/>
              </a:spcBef>
            </a:pPr>
            <a:r>
              <a:rPr lang="ru-RU" sz="1100" spc="-2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18:00 </a:t>
            </a:r>
            <a:r>
              <a:rPr sz="1100" b="1" spc="-20" dirty="0" err="1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Нетворкинг</a:t>
            </a:r>
            <a:r>
              <a:rPr sz="1100" b="1" spc="-2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, </a:t>
            </a:r>
            <a:r>
              <a:rPr sz="1100" b="1" spc="-20" dirty="0" err="1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вечерний</a:t>
            </a:r>
            <a:r>
              <a:rPr sz="1100" b="1" spc="-2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sz="1100" b="1" spc="-20" dirty="0" err="1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фуршет</a:t>
            </a:r>
            <a:endParaRPr sz="1100" b="1" spc="-20" dirty="0">
              <a:solidFill>
                <a:srgbClr val="002060"/>
              </a:solidFill>
              <a:latin typeface="Century Gothic" panose="020B0502020202020204" pitchFamily="34" charset="0"/>
              <a:cs typeface="Calibri"/>
            </a:endParaRPr>
          </a:p>
          <a:p>
            <a:pPr marL="26034" algn="just">
              <a:lnSpc>
                <a:spcPct val="100000"/>
              </a:lnSpc>
              <a:spcBef>
                <a:spcPts val="615"/>
              </a:spcBef>
            </a:pP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21</a:t>
            </a:r>
            <a:r>
              <a:rPr lang="ru-RU" sz="1100" spc="2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:00 </a:t>
            </a:r>
            <a:r>
              <a:rPr sz="1100" b="1" spc="-10" dirty="0" err="1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Завершение</a:t>
            </a:r>
            <a:r>
              <a:rPr sz="1100" b="1" spc="25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sz="1100" b="1" spc="-10" dirty="0" err="1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мероприятия</a:t>
            </a:r>
            <a:endParaRPr sz="1100" dirty="0">
              <a:solidFill>
                <a:srgbClr val="002060"/>
              </a:solidFill>
              <a:latin typeface="Century Gothic" panose="020B0502020202020204" pitchFamily="34" charset="0"/>
              <a:cs typeface="Calibri"/>
            </a:endParaRPr>
          </a:p>
          <a:p>
            <a:pPr marL="26034" marR="1444625" algn="just" rtl="0">
              <a:lnSpc>
                <a:spcPct val="184400"/>
              </a:lnSpc>
              <a:spcBef>
                <a:spcPts val="10"/>
              </a:spcBef>
            </a:pPr>
            <a:r>
              <a:rPr kumimoji="0" lang="ru-RU" altLang="ru-RU" sz="11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Century Gothic" panose="020B0502020202020204" pitchFamily="34" charset="0"/>
              </a:rPr>
              <a:t>Дресс-код: </a:t>
            </a:r>
            <a:r>
              <a:rPr kumimoji="0" lang="en-US" altLang="ru-RU" sz="11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Century Gothic" panose="020B0502020202020204" pitchFamily="34" charset="0"/>
              </a:rPr>
              <a:t>Business Casual</a:t>
            </a:r>
            <a:endParaRPr lang="ru-RU" sz="1100" b="1" spc="-10" dirty="0">
              <a:solidFill>
                <a:srgbClr val="002060"/>
              </a:solidFill>
              <a:latin typeface="Century Gothic" panose="020B0502020202020204" pitchFamily="34" charset="0"/>
              <a:cs typeface="Calibri"/>
            </a:endParaRPr>
          </a:p>
        </p:txBody>
      </p:sp>
      <p:pic>
        <p:nvPicPr>
          <p:cNvPr id="5" name="Рисунок 4" descr="Изображение выглядит как Графика, Шрифт, графический дизайн, снимок экрана&#10;&#10;Автоматически созданное описание">
            <a:extLst>
              <a:ext uri="{FF2B5EF4-FFF2-40B4-BE49-F238E27FC236}">
                <a16:creationId xmlns:a16="http://schemas.microsoft.com/office/drawing/2014/main" id="{8DA373CF-6041-CFFD-BBBE-E5567F23987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595" y="310292"/>
            <a:ext cx="1197622" cy="564179"/>
          </a:xfrm>
          <a:prstGeom prst="rect">
            <a:avLst/>
          </a:prstGeom>
        </p:spPr>
      </p:pic>
      <p:pic>
        <p:nvPicPr>
          <p:cNvPr id="4" name="Picture 14">
            <a:extLst>
              <a:ext uri="{FF2B5EF4-FFF2-40B4-BE49-F238E27FC236}">
                <a16:creationId xmlns:a16="http://schemas.microsoft.com/office/drawing/2014/main" id="{3B544CD0-EB0C-1EE6-672E-21EF56E96AD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1699" y="160331"/>
            <a:ext cx="2527794" cy="928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87253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4840DA7A1AA00843BF7BE267E1CB408D" ma:contentTypeVersion="16" ma:contentTypeDescription="Ein neues Dokument erstellen." ma:contentTypeScope="" ma:versionID="cf8e11fa954ad01a02db4d0e36146d6b">
  <xsd:schema xmlns:xsd="http://www.w3.org/2001/XMLSchema" xmlns:xs="http://www.w3.org/2001/XMLSchema" xmlns:p="http://schemas.microsoft.com/office/2006/metadata/properties" xmlns:ns2="dd447142-1aa6-4a72-a007-63df8aaaa9f8" xmlns:ns3="c945b90e-fc88-49af-b28e-2201e397b9a1" targetNamespace="http://schemas.microsoft.com/office/2006/metadata/properties" ma:root="true" ma:fieldsID="1462049e7e9ba608de639a380a24340d" ns2:_="" ns3:_="">
    <xsd:import namespace="dd447142-1aa6-4a72-a007-63df8aaaa9f8"/>
    <xsd:import namespace="c945b90e-fc88-49af-b28e-2201e397b9a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d447142-1aa6-4a72-a007-63df8aaaa9f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8" nillable="true" ma:taxonomy="true" ma:internalName="lcf76f155ced4ddcb4097134ff3c332f" ma:taxonomyFieldName="MediaServiceImageTags" ma:displayName="Bildmarkierungen" ma:readOnly="false" ma:fieldId="{5cf76f15-5ced-4ddc-b409-7134ff3c332f}" ma:taxonomyMulti="true" ma:sspId="0aed264e-563a-469a-8ebe-271e849ec10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945b90e-fc88-49af-b28e-2201e397b9a1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12ee92ea-e074-4350-ac3b-5cf132dea3f3}" ma:internalName="TaxCatchAll" ma:showField="CatchAllData" ma:web="c945b90e-fc88-49af-b28e-2201e397b9a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c945b90e-fc88-49af-b28e-2201e397b9a1" xsi:nil="true"/>
    <lcf76f155ced4ddcb4097134ff3c332f xmlns="dd447142-1aa6-4a72-a007-63df8aaaa9f8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25356EC-F188-4420-B47E-503E430DAC3F}">
  <ds:schemaRefs>
    <ds:schemaRef ds:uri="c945b90e-fc88-49af-b28e-2201e397b9a1"/>
    <ds:schemaRef ds:uri="dd447142-1aa6-4a72-a007-63df8aaaa9f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E55AB60D-2716-48DE-AB04-F482F3AD5D1B}">
  <ds:schemaRefs>
    <ds:schemaRef ds:uri="http://schemas.microsoft.com/office/2006/documentManagement/types"/>
    <ds:schemaRef ds:uri="http://schemas.microsoft.com/office/infopath/2007/PartnerControls"/>
    <ds:schemaRef ds:uri="http://www.w3.org/XML/1998/namespace"/>
    <ds:schemaRef ds:uri="http://purl.org/dc/elements/1.1/"/>
    <ds:schemaRef ds:uri="http://purl.org/dc/terms/"/>
    <ds:schemaRef ds:uri="dd447142-1aa6-4a72-a007-63df8aaaa9f8"/>
    <ds:schemaRef ds:uri="http://schemas.microsoft.com/office/2006/metadata/properties"/>
    <ds:schemaRef ds:uri="http://schemas.openxmlformats.org/package/2006/metadata/core-properties"/>
    <ds:schemaRef ds:uri="c945b90e-fc88-49af-b28e-2201e397b9a1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B241A017-8C39-425C-ACA6-F70EA2C5E54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Words>679</Words>
  <Application>Microsoft Office PowerPoint</Application>
  <PresentationFormat>Произвольный</PresentationFormat>
  <Paragraphs>84</Paragraphs>
  <Slides>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</vt:i4>
      </vt:variant>
    </vt:vector>
  </HeadingPairs>
  <TitlesOfParts>
    <vt:vector size="6" baseType="lpstr">
      <vt:lpstr>Calibri</vt:lpstr>
      <vt:lpstr>Century Gothic</vt:lpstr>
      <vt:lpstr>Office Theme</vt:lpstr>
      <vt:lpstr>Официальное приглашение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Официальное приглашение</dc:title>
  <dc:creator>Jens Klauenberg - LNC Berlin</dc:creator>
  <cp:lastModifiedBy>Zhazira Tymbayeva</cp:lastModifiedBy>
  <cp:revision>4</cp:revision>
  <dcterms:created xsi:type="dcterms:W3CDTF">2026-01-29T10:56:48Z</dcterms:created>
  <dcterms:modified xsi:type="dcterms:W3CDTF">2026-04-01T15:01:32Z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2021-04-07T00:00:00Z</vt:filetime>
  </property>
  <property fmtid="{D5CDD505-2E9C-101B-9397-08002B2CF9AE}" pid="3" name="Creator">
    <vt:lpwstr>Microsoft® Word 2016</vt:lpwstr>
  </property>
  <property fmtid="{D5CDD505-2E9C-101B-9397-08002B2CF9AE}" pid="4" name="LastSaved">
    <vt:filetime>2026-01-29T00:00:00Z</vt:filetime>
  </property>
  <property fmtid="{D5CDD505-2E9C-101B-9397-08002B2CF9AE}" pid="5" name="Producer">
    <vt:lpwstr>pdf-lib (https://github.com/Hopding/pdf-lib)</vt:lpwstr>
  </property>
  <property fmtid="{D5CDD505-2E9C-101B-9397-08002B2CF9AE}" pid="6" name="ContentTypeId">
    <vt:lpwstr>0x0101004840DA7A1AA00843BF7BE267E1CB408D</vt:lpwstr>
  </property>
  <property fmtid="{D5CDD505-2E9C-101B-9397-08002B2CF9AE}" pid="7" name="MediaServiceImageTags">
    <vt:lpwstr/>
  </property>
</Properties>
</file>