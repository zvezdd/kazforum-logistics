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handoutMasterIdLst>
    <p:handoutMasterId r:id="rId8"/>
  </p:handoutMasterIdLst>
  <p:sldIdLst>
    <p:sldId id="261" r:id="rId5"/>
    <p:sldId id="263" r:id="rId6"/>
    <p:sldId id="264" r:id="rId7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868"/>
    <a:srgbClr val="587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78F4C-65C3-4A7D-9BE8-9873A78A9957}" v="12" dt="2026-03-31T13:21:18.910"/>
    <p1510:client id="{84A5BA13-2135-14CD-9F3A-AE01FF67B5BB}" v="6" dt="2026-03-31T09:04:37.70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597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D668943-4721-E03A-B651-2E7DD0966F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6317B1A-D43F-1984-BDBF-5385F5A45B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7838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91B6F-BBFA-438A-9286-1FC62C3499A0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908F3B-113D-5130-7B64-3F90E07864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1932-5B8F-ADF6-5779-F6A7C5051C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7838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FE5BE-F78D-49D0-8BEC-05E37B800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371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125" y="9429673"/>
            <a:ext cx="1090929" cy="24695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2350" y="9413798"/>
            <a:ext cx="570229" cy="28511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5900" y="9434753"/>
            <a:ext cx="1082522" cy="23749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0810" y="9430943"/>
            <a:ext cx="922286" cy="2286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66425" y="9366226"/>
            <a:ext cx="1073606" cy="34543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5739256"/>
            <a:ext cx="7564120" cy="111125"/>
          </a:xfrm>
          <a:custGeom>
            <a:avLst/>
            <a:gdLst/>
            <a:ahLst/>
            <a:cxnLst/>
            <a:rect l="l" t="t" r="r" b="b"/>
            <a:pathLst>
              <a:path w="7564120" h="111125">
                <a:moveTo>
                  <a:pt x="0" y="110744"/>
                </a:moveTo>
                <a:lnTo>
                  <a:pt x="7563611" y="110744"/>
                </a:lnTo>
                <a:lnTo>
                  <a:pt x="7563611" y="0"/>
                </a:lnTo>
                <a:lnTo>
                  <a:pt x="0" y="0"/>
                </a:lnTo>
                <a:lnTo>
                  <a:pt x="0" y="110744"/>
                </a:lnTo>
                <a:close/>
              </a:path>
            </a:pathLst>
          </a:custGeom>
          <a:solidFill>
            <a:srgbClr val="DBDF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5850000"/>
            <a:ext cx="7564120" cy="3043555"/>
          </a:xfrm>
          <a:custGeom>
            <a:avLst/>
            <a:gdLst/>
            <a:ahLst/>
            <a:cxnLst/>
            <a:rect l="l" t="t" r="r" b="b"/>
            <a:pathLst>
              <a:path w="7564120" h="3043554">
                <a:moveTo>
                  <a:pt x="7563611" y="0"/>
                </a:moveTo>
                <a:lnTo>
                  <a:pt x="0" y="0"/>
                </a:lnTo>
                <a:lnTo>
                  <a:pt x="0" y="3043554"/>
                </a:lnTo>
                <a:lnTo>
                  <a:pt x="7563611" y="3043554"/>
                </a:lnTo>
                <a:lnTo>
                  <a:pt x="7563611" y="0"/>
                </a:lnTo>
                <a:close/>
              </a:path>
            </a:pathLst>
          </a:custGeom>
          <a:solidFill>
            <a:srgbClr val="39A0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8892158"/>
            <a:ext cx="7564120" cy="114935"/>
          </a:xfrm>
          <a:custGeom>
            <a:avLst/>
            <a:gdLst/>
            <a:ahLst/>
            <a:cxnLst/>
            <a:rect l="l" t="t" r="r" b="b"/>
            <a:pathLst>
              <a:path w="7564120" h="114934">
                <a:moveTo>
                  <a:pt x="7563611" y="0"/>
                </a:moveTo>
                <a:lnTo>
                  <a:pt x="0" y="0"/>
                </a:lnTo>
                <a:lnTo>
                  <a:pt x="0" y="114935"/>
                </a:lnTo>
                <a:lnTo>
                  <a:pt x="7563611" y="114935"/>
                </a:lnTo>
                <a:lnTo>
                  <a:pt x="7563611" y="0"/>
                </a:lnTo>
                <a:close/>
              </a:path>
            </a:pathLst>
          </a:custGeom>
          <a:solidFill>
            <a:srgbClr val="DB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4120" cy="136525"/>
          </a:xfrm>
          <a:custGeom>
            <a:avLst/>
            <a:gdLst/>
            <a:ahLst/>
            <a:cxnLst/>
            <a:rect l="l" t="t" r="r" b="b"/>
            <a:pathLst>
              <a:path w="7564120" h="136525">
                <a:moveTo>
                  <a:pt x="0" y="136525"/>
                </a:moveTo>
                <a:lnTo>
                  <a:pt x="7563611" y="136525"/>
                </a:lnTo>
                <a:lnTo>
                  <a:pt x="7563611" y="0"/>
                </a:lnTo>
                <a:lnTo>
                  <a:pt x="0" y="0"/>
                </a:lnTo>
                <a:lnTo>
                  <a:pt x="0" y="136525"/>
                </a:lnTo>
                <a:close/>
              </a:path>
            </a:pathLst>
          </a:custGeom>
          <a:solidFill>
            <a:srgbClr val="39A0D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8244" y="340600"/>
            <a:ext cx="3041904" cy="4570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6220" y="1177797"/>
            <a:ext cx="545274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682628"/>
            <a:ext cx="6584315" cy="320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mailto:s.bolatkyzy@satbayev.university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hyperlink" Target="mailto:z.tymbayeva@satbayev.universit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.bolatkyzy@satbayev.university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hyperlink" Target="mailto:info@logistics-alliance-germany.de" TargetMode="External"/><Relationship Id="rId4" Type="http://schemas.openxmlformats.org/officeDocument/2006/relationships/hyperlink" Target="mailto:z.tymbayeva@satbayev.university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4024B51-8402-6004-5576-138B095F0DD3}"/>
              </a:ext>
            </a:extLst>
          </p:cNvPr>
          <p:cNvSpPr/>
          <p:nvPr/>
        </p:nvSpPr>
        <p:spPr>
          <a:xfrm>
            <a:off x="0" y="7442200"/>
            <a:ext cx="7569200" cy="3054350"/>
          </a:xfrm>
          <a:prstGeom prst="rect">
            <a:avLst/>
          </a:prstGeom>
          <a:solidFill>
            <a:srgbClr val="0228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Picture 4" descr="Satbayev University">
            <a:extLst>
              <a:ext uri="{FF2B5EF4-FFF2-40B4-BE49-F238E27FC236}">
                <a16:creationId xmlns:a16="http://schemas.microsoft.com/office/drawing/2014/main" id="{4F8CC585-69D3-7F01-D1B1-DD078B7CE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040" y="72664"/>
            <a:ext cx="1613204" cy="102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32B8C001-D791-6783-EEA3-262B1420D6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23498" y="1336787"/>
            <a:ext cx="50532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1"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Официальное</a:t>
            </a:r>
            <a:r>
              <a:rPr sz="2400" b="1" spc="-114"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2400" b="1" spc="-10"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приглашение</a:t>
            </a: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C3DDA2D5-5AC6-5A7F-E75E-E4CD1F5B1C8E}"/>
              </a:ext>
            </a:extLst>
          </p:cNvPr>
          <p:cNvSpPr txBox="1"/>
          <p:nvPr/>
        </p:nvSpPr>
        <p:spPr>
          <a:xfrm>
            <a:off x="660400" y="1848425"/>
            <a:ext cx="6584315" cy="3375283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96215" algn="ctr">
              <a:lnSpc>
                <a:spcPct val="100000"/>
              </a:lnSpc>
            </a:pPr>
            <a:r>
              <a:rPr lang="ru-RU" b="1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Первый Казахстанско-Германский </a:t>
            </a:r>
          </a:p>
          <a:p>
            <a:pPr marL="196215" algn="ctr">
              <a:lnSpc>
                <a:spcPct val="100000"/>
              </a:lnSpc>
            </a:pPr>
            <a:r>
              <a:rPr lang="ru-RU" b="1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транспортно-логистический форум </a:t>
            </a:r>
          </a:p>
          <a:p>
            <a:pPr marL="196215" algn="ctr">
              <a:lnSpc>
                <a:spcPct val="100000"/>
              </a:lnSpc>
            </a:pPr>
            <a:endParaRPr lang="ru-RU" b="1"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96215" algn="ctr">
              <a:lnSpc>
                <a:spcPct val="100000"/>
              </a:lnSpc>
            </a:pPr>
            <a:r>
              <a:rPr lang="ru-RU" b="1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«Цифровизация, человеческий потенциал, транзитные возможности»</a:t>
            </a:r>
            <a:endParaRPr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93675" algn="ctr">
              <a:lnSpc>
                <a:spcPct val="100000"/>
              </a:lnSpc>
              <a:spcBef>
                <a:spcPts val="900"/>
              </a:spcBef>
            </a:pPr>
            <a:r>
              <a:rPr lang="ru-RU"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Четверг</a:t>
            </a:r>
            <a:r>
              <a:rPr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r>
              <a:rPr sz="1200" spc="-35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ru-RU"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4 мая 2026</a:t>
            </a:r>
            <a:r>
              <a:rPr sz="1200" spc="-4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200" spc="-2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года</a:t>
            </a:r>
            <a:endParaRPr sz="1200"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93675" algn="ctr">
              <a:lnSpc>
                <a:spcPct val="100000"/>
              </a:lnSpc>
              <a:spcBef>
                <a:spcPts val="875"/>
              </a:spcBef>
            </a:pPr>
            <a:r>
              <a:rPr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ru-RU"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1:00</a:t>
            </a:r>
            <a:r>
              <a:rPr sz="1200" spc="-4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sz="1200" spc="-3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ru-RU"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7</a:t>
            </a:r>
            <a:r>
              <a:rPr sz="12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:00</a:t>
            </a:r>
            <a:r>
              <a:rPr sz="1200" spc="-35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lang="ru-RU" sz="1200" spc="-35"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ru-RU" sz="1100"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kk-KZ" sz="11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С</a:t>
            </a:r>
            <a:r>
              <a:rPr sz="1100" err="1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инхронный</a:t>
            </a:r>
            <a:r>
              <a:rPr sz="1100" spc="-4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1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перевод</a:t>
            </a:r>
            <a:r>
              <a:rPr sz="1100" spc="-35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1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с</a:t>
            </a:r>
            <a:r>
              <a:rPr sz="1100" spc="-3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100" err="1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немецкого</a:t>
            </a:r>
            <a:r>
              <a:rPr lang="kk-KZ" sz="11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1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↔</a:t>
            </a:r>
            <a:r>
              <a:rPr sz="1100" spc="-5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100" err="1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на</a:t>
            </a:r>
            <a:r>
              <a:rPr lang="ru-RU" sz="11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казахский/</a:t>
            </a:r>
            <a:r>
              <a:rPr sz="1100" err="1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русски</a:t>
            </a:r>
            <a:r>
              <a:rPr lang="ru-RU" sz="11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й </a:t>
            </a:r>
            <a:r>
              <a:rPr sz="1100" spc="-10" err="1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языки</a:t>
            </a:r>
            <a:r>
              <a:rPr sz="1100" spc="-1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sz="1100"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0645" algn="ctr">
              <a:lnSpc>
                <a:spcPct val="100000"/>
              </a:lnSpc>
            </a:pPr>
            <a:r>
              <a:rPr sz="1400" u="sng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В</a:t>
            </a:r>
            <a:r>
              <a:rPr sz="1400" u="sng" spc="-2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400" u="sng" spc="-1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завершении</a:t>
            </a:r>
            <a:r>
              <a:rPr sz="1400" u="sng" spc="-25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400" u="sng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форума</a:t>
            </a:r>
            <a:r>
              <a:rPr sz="1400" u="sng" spc="-15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400" u="sng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sz="1400" u="sng" spc="-2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400" u="sng" spc="-1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вечерний</a:t>
            </a:r>
            <a:r>
              <a:rPr sz="1400" u="sng" spc="-25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400" u="sng" spc="-1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прием</a:t>
            </a:r>
            <a:endParaRPr sz="1400" u="sng"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400"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>
              <a:lnSpc>
                <a:spcPct val="100000"/>
              </a:lnSpc>
            </a:pPr>
            <a:r>
              <a:rPr sz="1400" err="1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Форум</a:t>
            </a:r>
            <a:r>
              <a:rPr sz="1400" spc="-1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kk-KZ" sz="14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органиизован</a:t>
            </a:r>
            <a:r>
              <a:rPr sz="1400" spc="-2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40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в</a:t>
            </a:r>
            <a:r>
              <a:rPr sz="1400" spc="-1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сотрудничестве</a:t>
            </a:r>
            <a:r>
              <a:rPr sz="1400" spc="-3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400" spc="-50">
                <a:solidFill>
                  <a:srgbClr val="002060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с</a:t>
            </a:r>
            <a:endParaRPr sz="1400">
              <a:solidFill>
                <a:srgbClr val="002060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C344BBE-2F68-19AA-01B2-777B70519181}"/>
              </a:ext>
            </a:extLst>
          </p:cNvPr>
          <p:cNvSpPr txBox="1"/>
          <p:nvPr/>
        </p:nvSpPr>
        <p:spPr>
          <a:xfrm>
            <a:off x="701979" y="9026679"/>
            <a:ext cx="885825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5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Контакты:</a:t>
            </a:r>
            <a:endParaRPr sz="1200"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EE2E2F0-CF6B-1035-336A-9D9B699D7578}"/>
              </a:ext>
            </a:extLst>
          </p:cNvPr>
          <p:cNvSpPr txBox="1"/>
          <p:nvPr/>
        </p:nvSpPr>
        <p:spPr>
          <a:xfrm>
            <a:off x="1782445" y="8988579"/>
            <a:ext cx="5067935" cy="226344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365"/>
              </a:spcBef>
            </a:pPr>
            <a:r>
              <a:rPr lang="de-DE" sz="1200" spc="-10" dirty="0" err="1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s.bolatkyzy</a:t>
            </a:r>
            <a:r>
              <a:rPr lang="de-DE" sz="1200" spc="-10" dirty="0" err="1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@satbayev.university</a:t>
            </a:r>
            <a:r>
              <a:rPr lang="en-US" sz="1200" spc="-10" dirty="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; </a:t>
            </a:r>
            <a:r>
              <a:rPr lang="ru-RU" sz="1200" b="0" i="0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+7-772-725-7718</a:t>
            </a:r>
            <a:endParaRPr sz="1200" dirty="0">
              <a:solidFill>
                <a:schemeClr val="bg1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194EBCC0-0A1A-4134-C703-BD858BD8B92A}"/>
              </a:ext>
            </a:extLst>
          </p:cNvPr>
          <p:cNvSpPr txBox="1"/>
          <p:nvPr/>
        </p:nvSpPr>
        <p:spPr>
          <a:xfrm>
            <a:off x="4089653" y="7565290"/>
            <a:ext cx="3108071" cy="1304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k-KZ" sz="1200" b="1" spc="-1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Адрес проведения:</a:t>
            </a:r>
            <a:endParaRPr sz="1200"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 marR="461009">
              <a:lnSpc>
                <a:spcPct val="101400"/>
              </a:lnSpc>
              <a:spcBef>
                <a:spcPts val="10"/>
              </a:spcBef>
            </a:pPr>
            <a:r>
              <a:rPr lang="ru-RU" sz="120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Satbayev</a:t>
            </a:r>
            <a:r>
              <a:rPr lang="ru-RU"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University</a:t>
            </a:r>
          </a:p>
          <a:p>
            <a:pPr marL="12700" marR="461009">
              <a:lnSpc>
                <a:spcPct val="101400"/>
              </a:lnSpc>
              <a:spcBef>
                <a:spcPts val="10"/>
              </a:spcBef>
            </a:pPr>
            <a:r>
              <a:rPr lang="ru-RU" sz="120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Аудидориум</a:t>
            </a:r>
            <a:r>
              <a:rPr lang="ru-RU"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 343</a:t>
            </a:r>
            <a:r>
              <a:rPr lang="en-US"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Актовый зал им. К. </a:t>
            </a:r>
            <a:r>
              <a:rPr lang="ru-RU" sz="120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Турысова</a:t>
            </a:r>
            <a:endParaRPr lang="ru-RU" sz="1200">
              <a:solidFill>
                <a:srgbClr val="FFFFFF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 marR="461009">
              <a:lnSpc>
                <a:spcPct val="101400"/>
              </a:lnSpc>
              <a:spcBef>
                <a:spcPts val="10"/>
              </a:spcBef>
            </a:pPr>
            <a:r>
              <a:rPr lang="ru-RU"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ул. Сатпаева, 22</a:t>
            </a:r>
          </a:p>
          <a:p>
            <a:pPr marL="12700" marR="461009">
              <a:lnSpc>
                <a:spcPct val="101400"/>
              </a:lnSpc>
              <a:spcBef>
                <a:spcPts val="10"/>
              </a:spcBef>
            </a:pPr>
            <a:r>
              <a:rPr lang="ru-RU"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г. Алматы, Казахстан</a:t>
            </a:r>
          </a:p>
          <a:p>
            <a:pPr marL="12700" marR="461009">
              <a:lnSpc>
                <a:spcPct val="101400"/>
              </a:lnSpc>
              <a:spcBef>
                <a:spcPts val="10"/>
              </a:spcBef>
            </a:pPr>
            <a:endParaRPr sz="1200"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460C1B4A-591F-4943-549C-7FC876AF47C7}"/>
              </a:ext>
            </a:extLst>
          </p:cNvPr>
          <p:cNvSpPr txBox="1"/>
          <p:nvPr/>
        </p:nvSpPr>
        <p:spPr>
          <a:xfrm>
            <a:off x="701979" y="7565290"/>
            <a:ext cx="2926715" cy="11727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200" spc="-1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Регистрация</a:t>
            </a:r>
            <a:endParaRPr sz="1200"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 marR="5080">
              <a:spcBef>
                <a:spcPts val="120"/>
              </a:spcBef>
            </a:pPr>
            <a:r>
              <a:rPr sz="1200" spc="-1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Приветственная</a:t>
            </a:r>
            <a:r>
              <a:rPr sz="1200" spc="6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200" spc="-2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часть</a:t>
            </a:r>
            <a:r>
              <a:rPr lang="ru-RU" sz="1200" spc="5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12700" marR="5080">
              <a:spcBef>
                <a:spcPts val="120"/>
              </a:spcBef>
            </a:pPr>
            <a:r>
              <a:rPr lang="ru-RU" sz="1200" spc="5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П</a:t>
            </a:r>
            <a:r>
              <a:rPr lang="ru-RU" sz="1200" spc="-1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ле</a:t>
            </a:r>
            <a:r>
              <a:rPr sz="1200" spc="-1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нарное</a:t>
            </a:r>
            <a:r>
              <a:rPr sz="1200" spc="-1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20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заседание</a:t>
            </a:r>
            <a:r>
              <a:rPr sz="1200" spc="-25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200" spc="-35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lang="ru-RU" sz="1200" spc="-35">
              <a:solidFill>
                <a:srgbClr val="FFFFFF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 marR="5080">
              <a:spcBef>
                <a:spcPts val="120"/>
              </a:spcBef>
            </a:pPr>
            <a:r>
              <a:rPr lang="ru-RU"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О</a:t>
            </a:r>
            <a:r>
              <a:rPr sz="120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ткрытая</a:t>
            </a:r>
            <a:r>
              <a:rPr sz="1200" spc="-3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200" err="1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дискуссия</a:t>
            </a:r>
            <a:endParaRPr lang="ru-RU" sz="1200">
              <a:solidFill>
                <a:srgbClr val="FFFFFF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 marR="5080">
              <a:spcBef>
                <a:spcPts val="120"/>
              </a:spcBef>
            </a:pPr>
            <a:r>
              <a:rPr lang="en-US"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B2B </a:t>
            </a:r>
            <a:r>
              <a:rPr lang="kk-KZ"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встречи</a:t>
            </a:r>
            <a:endParaRPr sz="1200"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/>
            <a:r>
              <a:rPr sz="120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Вечерний</a:t>
            </a:r>
            <a:r>
              <a:rPr sz="1200" spc="-5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sz="1200" spc="-1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прием</a:t>
            </a:r>
            <a:endParaRPr sz="1200"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F6684F4E-8A99-DAD1-179C-666985A3C6B4}"/>
              </a:ext>
            </a:extLst>
          </p:cNvPr>
          <p:cNvSpPr txBox="1"/>
          <p:nvPr/>
        </p:nvSpPr>
        <p:spPr>
          <a:xfrm>
            <a:off x="701979" y="9554526"/>
            <a:ext cx="3198509" cy="3720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65"/>
              </a:spcBef>
            </a:pPr>
            <a:r>
              <a:rPr lang="kk-KZ" sz="1200" b="1" i="1" spc="7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Заявки для участие в форуме и В2В встречах</a:t>
            </a:r>
            <a:r>
              <a:rPr lang="ru-RU" sz="1200" b="1" i="1" spc="7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принимаются по </a:t>
            </a:r>
            <a:r>
              <a:rPr lang="en-US" sz="1200" b="1" i="1" spc="7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email:</a:t>
            </a:r>
            <a:endParaRPr sz="1200">
              <a:solidFill>
                <a:schemeClr val="bg1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A2AC19F2-BECF-9274-3908-E3669F00D9A4}"/>
              </a:ext>
            </a:extLst>
          </p:cNvPr>
          <p:cNvSpPr txBox="1"/>
          <p:nvPr/>
        </p:nvSpPr>
        <p:spPr>
          <a:xfrm>
            <a:off x="3941446" y="9687079"/>
            <a:ext cx="3294380" cy="226344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365"/>
              </a:spcBef>
            </a:pPr>
            <a:r>
              <a:rPr lang="de-DE" sz="1200" spc="-10" dirty="0" err="1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s.bolatkyzy</a:t>
            </a:r>
            <a:r>
              <a:rPr lang="de-DE" sz="1200" spc="-10" dirty="0" err="1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@satbayev.university</a:t>
            </a:r>
            <a:endParaRPr sz="1200" dirty="0">
              <a:solidFill>
                <a:schemeClr val="bg1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6309FC88-30B3-790F-2F1C-B3CD97D20BFD}"/>
              </a:ext>
            </a:extLst>
          </p:cNvPr>
          <p:cNvSpPr txBox="1"/>
          <p:nvPr/>
        </p:nvSpPr>
        <p:spPr>
          <a:xfrm>
            <a:off x="711504" y="10106976"/>
            <a:ext cx="6394146" cy="1836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65"/>
              </a:spcBef>
            </a:pPr>
            <a:r>
              <a:rPr lang="kk-KZ" sz="1200" b="1" i="1" spc="7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Сайт</a:t>
            </a:r>
            <a:r>
              <a:rPr lang="ru-RU" sz="1200" b="1" i="1" spc="7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мероприятия: </a:t>
            </a:r>
            <a:r>
              <a:rPr lang="de-DE" sz="1200" b="1" i="1" spc="7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kazgerlogisticsforum.kz </a:t>
            </a:r>
            <a:r>
              <a:rPr lang="ru-RU" sz="1200" b="1" i="1" spc="7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sz="1200">
              <a:solidFill>
                <a:schemeClr val="bg1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2" name="Рисунок 21" descr="Изображение выглядит как Графика, Шрифт, графический дизайн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1D6A952D-A16E-01DD-37DC-8BC325D6C8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95" y="310292"/>
            <a:ext cx="1197622" cy="564179"/>
          </a:xfrm>
          <a:prstGeom prst="rect">
            <a:avLst/>
          </a:prstGeom>
        </p:spPr>
      </p:pic>
      <p:pic>
        <p:nvPicPr>
          <p:cNvPr id="7" name="Picture 4" descr="Фотосурет сипаттамасы жоқ.">
            <a:extLst>
              <a:ext uri="{FF2B5EF4-FFF2-40B4-BE49-F238E27FC236}">
                <a16:creationId xmlns:a16="http://schemas.microsoft.com/office/drawing/2014/main" id="{E23DFBB0-6041-6588-6DE4-A0ED4293F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474" y="5753663"/>
            <a:ext cx="866955" cy="77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1D4A18-3C44-DA16-C1D3-88A722B4BE2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699" y="160331"/>
            <a:ext cx="2527794" cy="928692"/>
          </a:xfrm>
          <a:prstGeom prst="rect">
            <a:avLst/>
          </a:prstGeom>
        </p:spPr>
      </p:pic>
      <p:pic>
        <p:nvPicPr>
          <p:cNvPr id="17" name="Рисунок 2">
            <a:extLst>
              <a:ext uri="{FF2B5EF4-FFF2-40B4-BE49-F238E27FC236}">
                <a16:creationId xmlns:a16="http://schemas.microsoft.com/office/drawing/2014/main" id="{B79B64B9-B898-849D-3CCE-9FD3BD9439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1440" y="5717075"/>
            <a:ext cx="2059868" cy="82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5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3848-0757-812A-2734-9801D2A4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Satbayev University">
            <a:extLst>
              <a:ext uri="{FF2B5EF4-FFF2-40B4-BE49-F238E27FC236}">
                <a16:creationId xmlns:a16="http://schemas.microsoft.com/office/drawing/2014/main" id="{2D272ED2-978D-869A-8D0B-F50B193B6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426" y="101418"/>
            <a:ext cx="1613204" cy="102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7E38BCD-22E9-1D8B-7CA7-E2A6ECCBD722}"/>
              </a:ext>
            </a:extLst>
          </p:cNvPr>
          <p:cNvSpPr txBox="1"/>
          <p:nvPr/>
        </p:nvSpPr>
        <p:spPr>
          <a:xfrm>
            <a:off x="576944" y="1359809"/>
            <a:ext cx="6839857" cy="961417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indent="349250" algn="just">
              <a:lnSpc>
                <a:spcPct val="100000"/>
              </a:lnSpc>
              <a:spcBef>
                <a:spcPts val="710"/>
              </a:spcBef>
            </a:pPr>
            <a:r>
              <a:rPr lang="ru-RU" sz="1200" b="1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Уважаемые</a:t>
            </a:r>
            <a:r>
              <a:rPr lang="ru-RU" sz="1200" b="1" spc="-2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b="1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дамы</a:t>
            </a:r>
            <a:r>
              <a:rPr lang="ru-RU" sz="1200" b="1" spc="-3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b="1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и</a:t>
            </a:r>
            <a:r>
              <a:rPr lang="ru-RU" sz="1200" b="1" spc="-15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b="1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господа!</a:t>
            </a:r>
          </a:p>
          <a:p>
            <a:pPr marL="12700" indent="349250" algn="just">
              <a:lnSpc>
                <a:spcPct val="100000"/>
              </a:lnSpc>
              <a:spcBef>
                <a:spcPts val="710"/>
              </a:spcBef>
            </a:pPr>
            <a:endParaRPr lang="ru-RU" sz="1200" noProof="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12700" marR="391160" indent="349250" algn="just">
              <a:lnSpc>
                <a:spcPct val="102200"/>
              </a:lnSpc>
              <a:spcBef>
                <a:spcPts val="590"/>
              </a:spcBef>
            </a:pPr>
            <a:r>
              <a:rPr lang="ru-RU" sz="1200" noProof="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Satbayev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University (Казахстан) совместно с </a:t>
            </a:r>
            <a:r>
              <a:rPr lang="ru-RU" sz="1200" noProof="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Bundesvereinigung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Logistic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(BVL, Германия</a:t>
            </a:r>
            <a:r>
              <a:rPr lang="ru-RU" sz="12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) </a:t>
            </a:r>
            <a:r>
              <a:rPr lang="az-Cyrl-AZ" sz="12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и Германским обществом по международному сотрудничеству (</a:t>
            </a:r>
            <a:r>
              <a:rPr lang="de-DE" sz="12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Deutsche Gesellschaft für Internationale Zusammenarbeit GmbH, GIZ) </a:t>
            </a:r>
            <a:r>
              <a:rPr lang="ru-RU" sz="12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приглашает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Вас</a:t>
            </a:r>
            <a:r>
              <a:rPr lang="ru-RU" sz="1200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принять</a:t>
            </a:r>
            <a:r>
              <a:rPr lang="ru-RU" sz="1200" spc="-5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участие</a:t>
            </a:r>
            <a:r>
              <a:rPr lang="ru-RU" sz="1200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в</a:t>
            </a:r>
            <a:r>
              <a:rPr lang="en-US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b="1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Первом</a:t>
            </a:r>
            <a:r>
              <a:rPr lang="ru-RU" sz="1200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b="1" noProof="0" dirty="0">
                <a:solidFill>
                  <a:srgbClr val="002060"/>
                </a:solidFill>
                <a:latin typeface="Century Gothic" panose="020B0502020202020204" pitchFamily="34" charset="0"/>
              </a:rPr>
              <a:t>Казахстанско-Германском транспортно-логистическом форуме «Цифровизация, человеческий капитал, транзитные возможности»</a:t>
            </a:r>
            <a:r>
              <a:rPr lang="ru-RU" sz="1200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,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</a:rPr>
              <a:t>который состоится 14 мая 2026 года в г. Алматы, Республика Казахстан,</a:t>
            </a:r>
            <a:r>
              <a:rPr lang="en-US" sz="1200" noProof="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</a:rPr>
              <a:t>на базе </a:t>
            </a:r>
            <a:r>
              <a:rPr lang="ru-RU" sz="1200" noProof="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Satbayev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</a:rPr>
              <a:t> University по адресу: ул. Сатпаева, 22.</a:t>
            </a:r>
          </a:p>
          <a:p>
            <a:pPr marL="12700" marR="391160" indent="349250" algn="just">
              <a:lnSpc>
                <a:spcPct val="102200"/>
              </a:lnSpc>
              <a:spcBef>
                <a:spcPts val="590"/>
              </a:spcBef>
            </a:pP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</a:rPr>
              <a:t>Форум объединит представителей министерств Республики Казахстан, высших учебных заведений, компаний транспортно-логистической отрасли, а также отраслевых экспертов Германии и представителей транспортно-логистических и индустриальных организаций стран Центральной Азии, включая Узбекистан, Кыргызстан и Азербайджан.</a:t>
            </a:r>
          </a:p>
          <a:p>
            <a:pPr marL="12700" marR="391160" indent="349250" algn="just">
              <a:lnSpc>
                <a:spcPct val="102200"/>
              </a:lnSpc>
              <a:spcBef>
                <a:spcPts val="590"/>
              </a:spcBef>
            </a:pP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</a:rPr>
              <a:t>Мероприятие направлено на обсуждение ключевых тенденций и практических решений в области цифровизации транспортно-логистических систем, развития человеческого капитала и раскрытия транзитного потенциала Казахстана и Центральной Азии, а также на формирование устойчивых партнёрств между наукой, образованием и бизнесом.</a:t>
            </a:r>
          </a:p>
          <a:p>
            <a:pPr marL="12700" marR="391160" indent="349250" algn="just">
              <a:lnSpc>
                <a:spcPct val="102200"/>
              </a:lnSpc>
              <a:spcBef>
                <a:spcPts val="590"/>
              </a:spcBef>
            </a:pPr>
            <a:r>
              <a:rPr lang="ru-RU" sz="1200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Мероприятие состоит из трех частей: Пленарная сессия, В2В встречи и Вечерний прием.</a:t>
            </a:r>
          </a:p>
          <a:p>
            <a:pPr marL="12700" marR="391160" indent="349250" algn="just">
              <a:lnSpc>
                <a:spcPct val="102200"/>
              </a:lnSpc>
              <a:spcBef>
                <a:spcPts val="590"/>
              </a:spcBef>
            </a:pPr>
            <a:endParaRPr lang="ru-RU" sz="1200" spc="500" noProof="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12700" marR="438784" indent="349250" algn="just">
              <a:lnSpc>
                <a:spcPts val="1700"/>
              </a:lnSpc>
              <a:spcBef>
                <a:spcPts val="155"/>
              </a:spcBef>
            </a:pP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Мы будем рады видеть Вас среди участников форума и надеемся на Ваше активное участие в развитии международного сотрудничества в сфере транспорта и логистики.</a:t>
            </a:r>
          </a:p>
          <a:p>
            <a:pPr marL="12700" marR="438784" indent="349250" algn="just">
              <a:lnSpc>
                <a:spcPts val="1700"/>
              </a:lnSpc>
              <a:spcBef>
                <a:spcPts val="155"/>
              </a:spcBef>
            </a:pPr>
            <a:endParaRPr lang="ru-RU" sz="1200" noProof="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12700" marR="438784" indent="349250" algn="just">
              <a:lnSpc>
                <a:spcPts val="1700"/>
              </a:lnSpc>
              <a:spcBef>
                <a:spcPts val="155"/>
              </a:spcBef>
            </a:pP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Для получения дополнительной информации Вы можете обращаться по следующим контактам: </a:t>
            </a:r>
            <a:r>
              <a:rPr lang="de-DE" sz="1200" spc="-10" dirty="0" err="1">
                <a:solidFill>
                  <a:schemeClr val="accent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s.bolatkyzy</a:t>
            </a:r>
            <a:r>
              <a:rPr lang="de-DE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  <a:hlinkClick r:id="rId4"/>
              </a:rPr>
              <a:t>@satbayev.university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</a:p>
          <a:p>
            <a:pPr marL="12700" indent="349250" algn="just">
              <a:spcBef>
                <a:spcPts val="455"/>
              </a:spcBef>
            </a:pP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Ваши</a:t>
            </a:r>
            <a:r>
              <a:rPr lang="ru-RU" sz="1200" spc="-5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вопросы</a:t>
            </a:r>
            <a:r>
              <a:rPr lang="ru-RU" sz="1200" spc="-5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для</a:t>
            </a:r>
            <a:r>
              <a:rPr lang="ru-RU" sz="1200" spc="-15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открытой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дискуссии</a:t>
            </a:r>
            <a:r>
              <a:rPr lang="ru-RU" sz="1200" spc="-5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Вы</a:t>
            </a:r>
            <a:r>
              <a:rPr lang="ru-RU" sz="1200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можете</a:t>
            </a:r>
            <a:r>
              <a:rPr lang="ru-RU" sz="1200" spc="-5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направить</a:t>
            </a:r>
            <a:r>
              <a:rPr lang="ru-RU" sz="1200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нам заранее</a:t>
            </a:r>
          </a:p>
          <a:p>
            <a:pPr marL="12700" indent="349250" algn="just">
              <a:spcBef>
                <a:spcPts val="455"/>
              </a:spcBef>
            </a:pPr>
            <a:r>
              <a:rPr lang="ru-RU" sz="12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по адресу</a:t>
            </a:r>
            <a:r>
              <a:rPr lang="ru-RU" sz="1200" spc="5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u="sng" spc="-10" noProof="0" dirty="0">
                <a:solidFill>
                  <a:srgbClr val="002060"/>
                </a:solidFill>
                <a:uFill>
                  <a:solidFill>
                    <a:srgbClr val="0000FF"/>
                  </a:solidFill>
                </a:uFill>
                <a:latin typeface="Century Gothic" panose="020B0502020202020204" pitchFamily="34" charset="0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info@logistics-alliance-germany.de</a:t>
            </a:r>
            <a:r>
              <a:rPr lang="ru-RU" sz="1200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ru-RU" sz="1200" spc="50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</a:p>
          <a:p>
            <a:pPr marL="12700" indent="349250" algn="just">
              <a:lnSpc>
                <a:spcPct val="100000"/>
              </a:lnSpc>
              <a:spcBef>
                <a:spcPts val="455"/>
              </a:spcBef>
            </a:pPr>
            <a:endParaRPr lang="ru-RU" sz="600" noProof="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12700" indent="349250" algn="just">
              <a:lnSpc>
                <a:spcPct val="100000"/>
              </a:lnSpc>
              <a:spcBef>
                <a:spcPts val="455"/>
              </a:spcBef>
            </a:pPr>
            <a:r>
              <a:rPr lang="ru-RU" sz="1200" b="1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С</a:t>
            </a:r>
            <a:r>
              <a:rPr lang="ru-RU" sz="1200" b="1" spc="-5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200" b="1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уважением,</a:t>
            </a:r>
            <a:endParaRPr lang="ru-RU" sz="1200" b="1" noProof="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12700" indent="349250" algn="just">
              <a:spcBef>
                <a:spcPts val="625"/>
              </a:spcBef>
            </a:pPr>
            <a:r>
              <a:rPr lang="ru-RU" sz="1200" b="1" spc="-10" noProof="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Бегентаев</a:t>
            </a:r>
            <a:r>
              <a:rPr lang="ru-RU" sz="1200" b="1" spc="-1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Мейрам </a:t>
            </a:r>
            <a:r>
              <a:rPr lang="ru-RU" sz="1200" b="1" spc="-10" noProof="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Мухаметрахимович</a:t>
            </a:r>
            <a:endParaRPr lang="ru-RU" sz="1200" b="1" spc="-10" noProof="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12700" indent="349250" algn="just">
              <a:lnSpc>
                <a:spcPct val="100000"/>
              </a:lnSpc>
              <a:spcBef>
                <a:spcPts val="625"/>
              </a:spcBef>
            </a:pPr>
            <a:r>
              <a:rPr lang="ru-RU" sz="1200" b="1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Председатель Правления - </a:t>
            </a:r>
            <a:r>
              <a:rPr lang="ru-RU" sz="1200" b="1" spc="-2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Ректор </a:t>
            </a:r>
            <a:r>
              <a:rPr lang="ru-RU" sz="1200" b="1" spc="-20" noProof="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Satbayev</a:t>
            </a:r>
            <a:r>
              <a:rPr lang="ru-RU" sz="1200" b="1" spc="-20" noProof="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University</a:t>
            </a:r>
            <a:endParaRPr lang="ru-RU" sz="1200" b="1" i="1" spc="-2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12700" indent="349250" algn="just">
              <a:spcBef>
                <a:spcPts val="710"/>
              </a:spcBef>
            </a:pPr>
            <a:endParaRPr lang="ru-RU" sz="200" b="1" spc="-10" noProof="0" dirty="0">
              <a:solidFill>
                <a:srgbClr val="002060"/>
              </a:solidFill>
              <a:uFill>
                <a:solidFill>
                  <a:srgbClr val="39A0D2"/>
                </a:solidFill>
              </a:uFill>
              <a:latin typeface="Century Gothic" panose="020B0502020202020204" pitchFamily="34" charset="0"/>
              <a:cs typeface="Calibri"/>
            </a:endParaRPr>
          </a:p>
          <a:p>
            <a:pPr marL="12700" indent="349250" algn="just">
              <a:spcBef>
                <a:spcPts val="710"/>
              </a:spcBef>
            </a:pPr>
            <a:r>
              <a:rPr lang="en-US" sz="1200" b="1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Century Gothic" panose="020B0502020202020204" pitchFamily="34" charset="0"/>
                <a:cs typeface="Calibri"/>
              </a:rPr>
              <a:t>Mirco Nowak</a:t>
            </a:r>
            <a:r>
              <a:rPr lang="en-US" sz="1200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Century Gothic" panose="020B0502020202020204" pitchFamily="34" charset="0"/>
                <a:cs typeface="Calibri"/>
              </a:rPr>
              <a:t>, </a:t>
            </a:r>
          </a:p>
          <a:p>
            <a:pPr marL="12700" indent="349250" algn="just">
              <a:spcBef>
                <a:spcPts val="710"/>
              </a:spcBef>
            </a:pPr>
            <a:r>
              <a:rPr lang="ru-RU" sz="1200" b="1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Century Gothic" panose="020B0502020202020204" pitchFamily="34" charset="0"/>
                <a:cs typeface="Calibri"/>
              </a:rPr>
              <a:t>Генеральный директор, LUNO Group, </a:t>
            </a:r>
          </a:p>
          <a:p>
            <a:pPr marL="12700" indent="349250" algn="just">
              <a:spcBef>
                <a:spcPts val="710"/>
              </a:spcBef>
            </a:pPr>
            <a:r>
              <a:rPr lang="ru-RU" sz="1200" b="1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Century Gothic" panose="020B0502020202020204" pitchFamily="34" charset="0"/>
                <a:cs typeface="Calibri"/>
              </a:rPr>
              <a:t>Председатель Евразийского отделения </a:t>
            </a:r>
            <a:r>
              <a:rPr lang="en-US" sz="1200" b="1" spc="-10" noProof="0" dirty="0" err="1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Century Gothic" panose="020B0502020202020204" pitchFamily="34" charset="0"/>
                <a:cs typeface="Calibri"/>
              </a:rPr>
              <a:t>Bundesvereinigung</a:t>
            </a:r>
            <a:r>
              <a:rPr lang="en-US" sz="1200" b="1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Century Gothic" panose="020B0502020202020204" pitchFamily="34" charset="0"/>
                <a:cs typeface="Calibri"/>
              </a:rPr>
              <a:t> Logistik (BVL), </a:t>
            </a:r>
            <a:r>
              <a:rPr lang="ru-RU" sz="1200" b="1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Century Gothic" panose="020B0502020202020204" pitchFamily="34" charset="0"/>
                <a:cs typeface="Calibri"/>
              </a:rPr>
              <a:t>Германия</a:t>
            </a:r>
            <a:endParaRPr lang="de-DE" sz="1200" b="1" spc="-10" noProof="0" dirty="0">
              <a:solidFill>
                <a:srgbClr val="002060"/>
              </a:solidFill>
              <a:uFill>
                <a:solidFill>
                  <a:srgbClr val="39A0D2"/>
                </a:solidFill>
              </a:uFill>
              <a:latin typeface="Century Gothic" panose="020B0502020202020204" pitchFamily="34" charset="0"/>
              <a:cs typeface="Calibri"/>
            </a:endParaRPr>
          </a:p>
          <a:p>
            <a:pPr marL="12700" indent="349250" algn="just">
              <a:spcBef>
                <a:spcPts val="710"/>
              </a:spcBef>
            </a:pPr>
            <a:endParaRPr lang="de-DE" sz="200" b="1" spc="-10" noProof="0" dirty="0">
              <a:solidFill>
                <a:srgbClr val="002060"/>
              </a:solidFill>
              <a:uFill>
                <a:solidFill>
                  <a:srgbClr val="39A0D2"/>
                </a:solidFill>
              </a:uFill>
              <a:latin typeface="Century Gothic" panose="020B0502020202020204" pitchFamily="34" charset="0"/>
              <a:cs typeface="Calibri"/>
            </a:endParaRPr>
          </a:p>
          <a:p>
            <a:pPr marL="12700" indent="349250" algn="just">
              <a:spcBef>
                <a:spcPts val="710"/>
              </a:spcBef>
            </a:pPr>
            <a:r>
              <a:rPr lang="de-DE" sz="12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Judith Blank</a:t>
            </a:r>
            <a:r>
              <a:rPr lang="ru-RU" sz="12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, </a:t>
            </a:r>
            <a:endParaRPr lang="de-DE" sz="1200" b="1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12700" indent="349250" algn="just">
              <a:spcBef>
                <a:spcPts val="710"/>
              </a:spcBef>
            </a:pPr>
            <a:r>
              <a:rPr lang="ru-RU" sz="12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Руководитель проекта, Региональная программа содействия торговле в </a:t>
            </a:r>
            <a:endParaRPr lang="de-DE" sz="1200" b="1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12700" indent="349250" algn="just">
              <a:spcBef>
                <a:spcPts val="710"/>
              </a:spcBef>
            </a:pPr>
            <a:r>
              <a:rPr lang="ru-RU" sz="12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Центральной Азии/Программа развития потенциала TCTC, GIZ Центральная Азия</a:t>
            </a:r>
          </a:p>
          <a:p>
            <a:pPr marL="12700" indent="349250" algn="just">
              <a:spcBef>
                <a:spcPts val="710"/>
              </a:spcBef>
            </a:pPr>
            <a:endParaRPr lang="ru-RU" sz="200" spc="-20" noProof="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</p:txBody>
      </p:sp>
      <p:pic>
        <p:nvPicPr>
          <p:cNvPr id="5" name="Рисунок 4" descr="Изображение выглядит как Графика, Шрифт, графический дизайн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0767B7AB-2458-5A62-3299-AF72C8974B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95" y="310292"/>
            <a:ext cx="1197622" cy="564179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B7084795-A430-5D6D-B787-A1147DD6174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699" y="160331"/>
            <a:ext cx="2527794" cy="92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52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23FB-7E8B-F2F9-94F8-CC62843E5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Satbayev University">
            <a:extLst>
              <a:ext uri="{FF2B5EF4-FFF2-40B4-BE49-F238E27FC236}">
                <a16:creationId xmlns:a16="http://schemas.microsoft.com/office/drawing/2014/main" id="{A97A388E-ADCE-9664-5F9E-4EB68CBE3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426" y="101418"/>
            <a:ext cx="1613204" cy="102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4262080-6EF4-0247-BFB7-67A295BE1743}"/>
              </a:ext>
            </a:extLst>
          </p:cNvPr>
          <p:cNvSpPr txBox="1"/>
          <p:nvPr/>
        </p:nvSpPr>
        <p:spPr>
          <a:xfrm>
            <a:off x="595086" y="1202505"/>
            <a:ext cx="6502400" cy="9041129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lang="ru-RU" sz="1100" u="sng" spc="-1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Century Gothic" panose="020B0502020202020204" pitchFamily="34" charset="0"/>
                <a:cs typeface="Calibri"/>
              </a:rPr>
              <a:t>Программа</a:t>
            </a:r>
            <a:endParaRPr lang="ru-RU"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Первый Казахстанско-Германский транспортно-логистический форум</a:t>
            </a:r>
            <a:b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</a:b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«Цифровизация, человеческий капитал, транзитные возможности»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  <a:p>
            <a:pPr marL="26034" algn="just">
              <a:lnSpc>
                <a:spcPct val="100000"/>
              </a:lnSpc>
              <a:spcBef>
                <a:spcPts val="645"/>
              </a:spcBef>
            </a:pPr>
            <a:endParaRPr lang="ru-RU"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algn="just">
              <a:lnSpc>
                <a:spcPct val="100000"/>
              </a:lnSpc>
              <a:spcBef>
                <a:spcPts val="645"/>
              </a:spcBef>
            </a:pP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10:30 – 11:00</a:t>
            </a:r>
            <a:r>
              <a:rPr lang="ru-RU" sz="1100" spc="5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100" b="1" spc="-1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Регистрация</a:t>
            </a:r>
            <a:r>
              <a:rPr lang="ru-RU" sz="1100" b="1" spc="5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/</a:t>
            </a:r>
            <a:r>
              <a:rPr lang="ru-RU" sz="1100" b="1" spc="5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100" b="1" spc="-1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Кофе-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брейк</a:t>
            </a:r>
            <a:r>
              <a:rPr lang="ru-RU" sz="1100" b="1" spc="5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endParaRPr lang="ru-RU"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algn="just">
              <a:lnSpc>
                <a:spcPct val="100000"/>
              </a:lnSpc>
              <a:spcBef>
                <a:spcPts val="820"/>
              </a:spcBef>
            </a:pP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11:00 - </a:t>
            </a:r>
            <a:r>
              <a:rPr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</a:t>
            </a:r>
            <a:r>
              <a:rPr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: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20</a:t>
            </a:r>
            <a:r>
              <a:rPr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sz="1100" b="1" spc="-1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Приветственная</a:t>
            </a:r>
            <a:r>
              <a:rPr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sz="1100" b="1" spc="-2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часть</a:t>
            </a:r>
            <a:endParaRPr kumimoji="0" lang="ru-RU" altLang="ru-RU" sz="1100" b="0" i="0" u="none" strike="noStrike" cap="none" spc="-10" normalizeH="0" baseline="0" dirty="0">
              <a:ln>
                <a:noFill/>
              </a:ln>
              <a:solidFill>
                <a:srgbClr val="002060"/>
              </a:solidFill>
              <a:effectLst/>
              <a:latin typeface="Century Gothic" panose="020B0502020202020204" pitchFamily="34" charset="0"/>
              <a:cs typeface="Calibri"/>
            </a:endParaRPr>
          </a:p>
          <a:p>
            <a:pPr marL="355600" algn="just">
              <a:lnSpc>
                <a:spcPct val="100000"/>
              </a:lnSpc>
              <a:spcBef>
                <a:spcPts val="820"/>
              </a:spcBef>
              <a:tabLst>
                <a:tab pos="449263" algn="l"/>
              </a:tabLst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Вице-министр транспорта Республики Казахстан</a:t>
            </a:r>
          </a:p>
          <a:p>
            <a:pPr marL="355600" algn="just" rtl="0">
              <a:spcBef>
                <a:spcPts val="15"/>
              </a:spcBef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Посол / Генеральный консул Федеративной Республики Германия в Казахстане</a:t>
            </a:r>
          </a:p>
          <a:p>
            <a:pPr marL="355600" algn="just">
              <a:spcBef>
                <a:spcPts val="15"/>
              </a:spcBef>
            </a:pP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Г-н </a:t>
            </a:r>
            <a:r>
              <a:rPr lang="ru-RU" sz="1100" b="1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Бегентаев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М.М., 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Ректор </a:t>
            </a:r>
            <a:r>
              <a:rPr lang="en-US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Satbayev</a:t>
            </a:r>
            <a:r>
              <a:rPr lang="en-US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University </a:t>
            </a:r>
            <a:endParaRPr lang="ru-RU"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355600" marR="382270" algn="just" rtl="0">
              <a:lnSpc>
                <a:spcPct val="102200"/>
              </a:lnSpc>
              <a:spcBef>
                <a:spcPts val="145"/>
              </a:spcBef>
              <a:tabLst>
                <a:tab pos="558165" algn="l"/>
              </a:tabLst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Г-н Йоахим Фриц, </a:t>
            </a:r>
            <a:r>
              <a:rPr kumimoji="0" lang="ru-RU" altLang="ru-RU" sz="11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региональный директор GIZ по Центральной Азии</a:t>
            </a:r>
            <a:r>
              <a:rPr kumimoji="0" lang="de-DE" altLang="ru-RU" sz="11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kumimoji="0" lang="de-DE" altLang="ru-RU" sz="110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tbc</a:t>
            </a:r>
            <a:r>
              <a:rPr kumimoji="0" lang="de-DE" altLang="ru-RU" sz="11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)</a:t>
            </a:r>
            <a:endParaRPr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algn="just">
              <a:lnSpc>
                <a:spcPct val="100000"/>
              </a:lnSpc>
              <a:spcBef>
                <a:spcPts val="625"/>
              </a:spcBef>
            </a:pP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11:20 – 11:50 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Импульсы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</a:p>
          <a:p>
            <a:pPr marL="26034" algn="just">
              <a:lnSpc>
                <a:spcPct val="100000"/>
              </a:lnSpc>
              <a:spcBef>
                <a:spcPts val="625"/>
              </a:spcBef>
            </a:pP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Модератор: г-н Марат М. Идрисов, 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Казахстанский институт развития промышленности</a:t>
            </a:r>
          </a:p>
          <a:p>
            <a:pPr marL="26034" algn="just">
              <a:lnSpc>
                <a:spcPct val="100000"/>
              </a:lnSpc>
              <a:spcBef>
                <a:spcPts val="625"/>
              </a:spcBef>
            </a:pP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Спикеры:</a:t>
            </a:r>
          </a:p>
          <a:p>
            <a:pPr marL="358775" algn="just">
              <a:lnSpc>
                <a:spcPct val="100000"/>
              </a:lnSpc>
              <a:spcBef>
                <a:spcPts val="625"/>
              </a:spcBef>
            </a:pP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г-жа Гульмира С. Муханова, 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Кандидат технических наук, доцент, профессор Школы транспортной инженерии и логистики им. М. 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Тынышпаева</a:t>
            </a:r>
            <a:endParaRPr lang="ru-RU"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358775" algn="just">
              <a:lnSpc>
                <a:spcPct val="100000"/>
              </a:lnSpc>
              <a:spcBef>
                <a:spcPts val="625"/>
              </a:spcBef>
            </a:pP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г-жа Джудит Бланк, 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Руководитель проекта, Региональная программа содействия торговле в Центральной Азии/Программа развития потенциала TCTC, GIZ Центральная Азия</a:t>
            </a:r>
          </a:p>
          <a:p>
            <a:pPr marL="358775" algn="just">
              <a:lnSpc>
                <a:spcPct val="100000"/>
              </a:lnSpc>
              <a:spcBef>
                <a:spcPts val="625"/>
              </a:spcBef>
            </a:pP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Г-н Владимир </a:t>
            </a:r>
            <a:r>
              <a:rPr lang="ru-RU" sz="1100" b="1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Туреханов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, 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руководитель Казахстанской ассоциации автоматизации и робототехники (KAAR)</a:t>
            </a:r>
          </a:p>
          <a:p>
            <a:pPr marL="26034" algn="just">
              <a:lnSpc>
                <a:spcPct val="100000"/>
              </a:lnSpc>
              <a:spcBef>
                <a:spcPts val="625"/>
              </a:spcBef>
            </a:pP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11:50 – 13:00 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Панельная дискуссия </a:t>
            </a:r>
            <a:r>
              <a:rPr lang="en-US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“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Средний коридор</a:t>
            </a:r>
            <a:r>
              <a:rPr lang="en-US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”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endParaRPr lang="en-US" sz="1100" b="1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algn="just">
              <a:lnSpc>
                <a:spcPct val="100000"/>
              </a:lnSpc>
              <a:spcBef>
                <a:spcPts val="625"/>
              </a:spcBef>
            </a:pP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Модератор: г-н Мирко Новак, 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генеральный директор LUNO Group; Председатель Евразийского отделения 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Bundesvereinigung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Logistik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(BVL), Германия</a:t>
            </a:r>
          </a:p>
          <a:p>
            <a:pPr marL="26034" algn="just">
              <a:lnSpc>
                <a:spcPct val="100000"/>
              </a:lnSpc>
              <a:spcBef>
                <a:spcPts val="625"/>
              </a:spcBef>
            </a:pP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Спикеры:</a:t>
            </a:r>
          </a:p>
          <a:p>
            <a:pPr marL="358775" algn="just">
              <a:lnSpc>
                <a:spcPct val="100000"/>
              </a:lnSpc>
              <a:spcBef>
                <a:spcPts val="625"/>
              </a:spcBef>
            </a:pPr>
            <a:r>
              <a:rPr lang="ru-RU" sz="110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Представитель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Союз транспортников Казахстана "</a:t>
            </a:r>
            <a:r>
              <a:rPr lang="de-DE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KAZLOGISTICS«</a:t>
            </a:r>
            <a:endParaRPr lang="ru-RU"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358775" algn="just">
              <a:lnSpc>
                <a:spcPct val="100000"/>
              </a:lnSpc>
              <a:spcBef>
                <a:spcPts val="625"/>
              </a:spcBef>
            </a:pP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Представители казахстанских и немецких компаний и учреждений (Казахстан Темир Жолы, ​​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Eastcomtrans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, 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AsstrA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, 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Ge</a:t>
            </a:r>
            <a:r>
              <a:rPr lang="de-DE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b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rueder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Weiss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и </a:t>
            </a:r>
            <a:r>
              <a:rPr lang="ru-RU" sz="110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др</a:t>
            </a:r>
            <a:endParaRPr lang="ru-RU"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algn="just">
              <a:spcBef>
                <a:spcPts val="625"/>
              </a:spcBef>
            </a:pP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13:00 – 14:30 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Обеденный перерыв</a:t>
            </a:r>
          </a:p>
          <a:p>
            <a:pPr algn="just"/>
            <a:endParaRPr lang="ru-RU" sz="1100" dirty="0">
              <a:latin typeface="Century Gothic" panose="020B0502020202020204" pitchFamily="34" charset="0"/>
            </a:endParaRPr>
          </a:p>
          <a:p>
            <a:pPr marL="26034" algn="just">
              <a:spcBef>
                <a:spcPts val="625"/>
              </a:spcBef>
            </a:pP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14:30 – 17:00 </a:t>
            </a:r>
            <a:r>
              <a:rPr lang="ru-RU" sz="1100" b="1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B2B-встречи</a:t>
            </a:r>
          </a:p>
          <a:p>
            <a:pPr marL="26034" algn="just">
              <a:spcBef>
                <a:spcPts val="625"/>
              </a:spcBef>
            </a:pP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Серия целевых деловых встреч, ориентированных на поиск потенциальных партнёров и обсуждение совместных научных, образовательных и бизнес-проектов. Для удобства участников будет функционировать официальный сайт форума с информацией об участниках и системой бронирования встреч</a:t>
            </a:r>
            <a:r>
              <a:rPr lang="ru-RU" sz="1100" dirty="0">
                <a:latin typeface="Century Gothic" panose="020B0502020202020204" pitchFamily="34" charset="0"/>
              </a:rPr>
              <a:t>.</a:t>
            </a:r>
          </a:p>
          <a:p>
            <a:pPr marL="26034" algn="just">
              <a:lnSpc>
                <a:spcPct val="100000"/>
              </a:lnSpc>
              <a:spcBef>
                <a:spcPts val="625"/>
              </a:spcBef>
            </a:pPr>
            <a:endParaRPr lang="ru-RU"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algn="just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7</a:t>
            </a:r>
            <a:r>
              <a:rPr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:</a:t>
            </a: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0</a:t>
            </a:r>
            <a:r>
              <a:rPr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0</a:t>
            </a:r>
            <a:r>
              <a:rPr sz="1100" spc="5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sz="1100" b="1" spc="-1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Завершение</a:t>
            </a:r>
            <a:r>
              <a:rPr sz="1100" b="1" spc="25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sz="1100" b="1" spc="-1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Форума</a:t>
            </a:r>
            <a:endParaRPr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algn="just">
              <a:lnSpc>
                <a:spcPct val="100000"/>
              </a:lnSpc>
              <a:spcBef>
                <a:spcPts val="600"/>
              </a:spcBef>
            </a:pPr>
            <a:endParaRPr lang="ru-RU" sz="1100" b="1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algn="just">
              <a:spcBef>
                <a:spcPts val="600"/>
              </a:spcBef>
            </a:pPr>
            <a:r>
              <a:rPr sz="1100" b="1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Вечерний</a:t>
            </a:r>
            <a:r>
              <a:rPr sz="1100" b="1" spc="-3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sz="1100" b="1" spc="-2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прие</a:t>
            </a:r>
            <a:r>
              <a:rPr lang="en-US" sz="1100" spc="-10" noProof="0" dirty="0">
                <a:solidFill>
                  <a:srgbClr val="002060"/>
                </a:solidFill>
                <a:highlight>
                  <a:srgbClr val="FFFF00"/>
                </a:highlight>
                <a:uFill>
                  <a:solidFill>
                    <a:srgbClr val="39A0D2"/>
                  </a:solidFill>
                </a:uFill>
                <a:latin typeface="Century Gothic" panose="020B0502020202020204" pitchFamily="34" charset="0"/>
                <a:cs typeface="Calibri"/>
              </a:rPr>
              <a:t>)</a:t>
            </a:r>
          </a:p>
          <a:p>
            <a:pPr marL="26034" algn="just">
              <a:spcBef>
                <a:spcPts val="600"/>
              </a:spcBef>
            </a:pPr>
            <a:r>
              <a:rPr lang="ru-RU" sz="1100" spc="-2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18:00 </a:t>
            </a:r>
            <a:r>
              <a:rPr sz="1100" b="1" spc="-2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Нетворкинг</a:t>
            </a:r>
            <a:r>
              <a:rPr sz="1100" b="1" spc="-2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, </a:t>
            </a:r>
            <a:r>
              <a:rPr sz="1100" b="1" spc="-2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вечерний</a:t>
            </a:r>
            <a:r>
              <a:rPr sz="1100" b="1" spc="-2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sz="1100" b="1" spc="-2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фуршет</a:t>
            </a:r>
            <a:endParaRPr sz="1100" b="1" spc="-2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algn="just">
              <a:lnSpc>
                <a:spcPct val="100000"/>
              </a:lnSpc>
              <a:spcBef>
                <a:spcPts val="615"/>
              </a:spcBef>
            </a:pPr>
            <a:r>
              <a:rPr lang="ru-RU" sz="110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21</a:t>
            </a:r>
            <a:r>
              <a:rPr lang="ru-RU" sz="1100" spc="20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:00 </a:t>
            </a:r>
            <a:r>
              <a:rPr sz="1100" b="1" spc="-1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Завершение</a:t>
            </a:r>
            <a:r>
              <a:rPr sz="1100" b="1" spc="25" dirty="0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 </a:t>
            </a:r>
            <a:r>
              <a:rPr sz="1100" b="1" spc="-10" dirty="0" err="1">
                <a:solidFill>
                  <a:srgbClr val="002060"/>
                </a:solidFill>
                <a:latin typeface="Century Gothic" panose="020B0502020202020204" pitchFamily="34" charset="0"/>
                <a:cs typeface="Calibri"/>
              </a:rPr>
              <a:t>мероприятия</a:t>
            </a:r>
            <a:endParaRPr sz="110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  <a:p>
            <a:pPr marL="26034" marR="1444625" algn="just" rtl="0">
              <a:lnSpc>
                <a:spcPct val="184400"/>
              </a:lnSpc>
              <a:spcBef>
                <a:spcPts val="10"/>
              </a:spcBef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Дресс-код: </a:t>
            </a:r>
            <a:r>
              <a:rPr kumimoji="0" lang="en-US" altLang="ru-RU" sz="11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Business Casual</a:t>
            </a:r>
            <a:endParaRPr lang="ru-RU" sz="1100" b="1" spc="-10" dirty="0">
              <a:solidFill>
                <a:srgbClr val="002060"/>
              </a:solidFill>
              <a:latin typeface="Century Gothic" panose="020B0502020202020204" pitchFamily="34" charset="0"/>
              <a:cs typeface="Calibri"/>
            </a:endParaRPr>
          </a:p>
        </p:txBody>
      </p:sp>
      <p:pic>
        <p:nvPicPr>
          <p:cNvPr id="5" name="Рисунок 4" descr="Изображение выглядит как Графика, Шрифт, графический дизайн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8DA373CF-6041-CFFD-BBBE-E5567F2398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95" y="310292"/>
            <a:ext cx="1197622" cy="564179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3B544CD0-EB0C-1EE6-672E-21EF56E96A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699" y="160331"/>
            <a:ext cx="2527794" cy="92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25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45b90e-fc88-49af-b28e-2201e397b9a1" xsi:nil="true"/>
    <lcf76f155ced4ddcb4097134ff3c332f xmlns="dd447142-1aa6-4a72-a007-63df8aaaa9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840DA7A1AA00843BF7BE267E1CB408D" ma:contentTypeVersion="16" ma:contentTypeDescription="Ein neues Dokument erstellen." ma:contentTypeScope="" ma:versionID="cf8e11fa954ad01a02db4d0e36146d6b">
  <xsd:schema xmlns:xsd="http://www.w3.org/2001/XMLSchema" xmlns:xs="http://www.w3.org/2001/XMLSchema" xmlns:p="http://schemas.microsoft.com/office/2006/metadata/properties" xmlns:ns2="dd447142-1aa6-4a72-a007-63df8aaaa9f8" xmlns:ns3="c945b90e-fc88-49af-b28e-2201e397b9a1" targetNamespace="http://schemas.microsoft.com/office/2006/metadata/properties" ma:root="true" ma:fieldsID="1462049e7e9ba608de639a380a24340d" ns2:_="" ns3:_="">
    <xsd:import namespace="dd447142-1aa6-4a72-a007-63df8aaaa9f8"/>
    <xsd:import namespace="c945b90e-fc88-49af-b28e-2201e397b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447142-1aa6-4a72-a007-63df8aaaa9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0aed264e-563a-469a-8ebe-271e849ec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5b90e-fc88-49af-b28e-2201e397b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2ee92ea-e074-4350-ac3b-5cf132dea3f3}" ma:internalName="TaxCatchAll" ma:showField="CatchAllData" ma:web="c945b90e-fc88-49af-b28e-2201e397b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41A017-8C39-425C-ACA6-F70EA2C5E5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5AB60D-2716-48DE-AB04-F482F3AD5D1B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purl.org/dc/terms/"/>
    <ds:schemaRef ds:uri="dd447142-1aa6-4a72-a007-63df8aaaa9f8"/>
    <ds:schemaRef ds:uri="http://schemas.microsoft.com/office/2006/metadata/properties"/>
    <ds:schemaRef ds:uri="http://schemas.openxmlformats.org/package/2006/metadata/core-properties"/>
    <ds:schemaRef ds:uri="c945b90e-fc88-49af-b28e-2201e397b9a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25356EC-F188-4420-B47E-503E430DAC3F}">
  <ds:schemaRefs>
    <ds:schemaRef ds:uri="c945b90e-fc88-49af-b28e-2201e397b9a1"/>
    <ds:schemaRef ds:uri="dd447142-1aa6-4a72-a007-63df8aaaa9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682</Words>
  <Application>Microsoft Office PowerPoint</Application>
  <PresentationFormat>Произвольный</PresentationFormat>
  <Paragraphs>84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Calibri</vt:lpstr>
      <vt:lpstr>Century Gothic</vt:lpstr>
      <vt:lpstr>Office Theme</vt:lpstr>
      <vt:lpstr>Официальное приглашение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Официальное приглашение</dc:title>
  <dc:creator>Jens Klauenberg - LNC Berlin</dc:creator>
  <cp:lastModifiedBy>Zhazira Tymbayeva</cp:lastModifiedBy>
  <cp:revision>5</cp:revision>
  <dcterms:created xsi:type="dcterms:W3CDTF">2026-01-29T10:56:48Z</dcterms:created>
  <dcterms:modified xsi:type="dcterms:W3CDTF">2026-04-23T07:53:59Z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2021-04-07T00:00:00Z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2026-01-29T00:00:00Z</vt:filetime>
  </property>
  <property fmtid="{D5CDD505-2E9C-101B-9397-08002B2CF9AE}" pid="5" name="Producer">
    <vt:lpwstr>pdf-lib (https://github.com/Hopding/pdf-lib)</vt:lpwstr>
  </property>
  <property fmtid="{D5CDD505-2E9C-101B-9397-08002B2CF9AE}" pid="6" name="ContentTypeId">
    <vt:lpwstr>0x0101004840DA7A1AA00843BF7BE267E1CB408D</vt:lpwstr>
  </property>
  <property fmtid="{D5CDD505-2E9C-101B-9397-08002B2CF9AE}" pid="7" name="MediaServiceImageTags">
    <vt:lpwstr/>
  </property>
</Properties>
</file>